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em 30 segundos e direto para o S2. O subtítulo é a tese; deixar que trabalhe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Enunciar desde já: não são três tópicos, são três faces de um único deslocamento, a passagem de um exame que pergunta e escuta para um exame que propõe e observa. Depois que as traduções assentam, os domínios quase se ensinam sozinhos.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ao pré-escolar colhe, na melhor das hipóteses, a palavra que ele aprendeu a dar quando o adulto faz cara de preocupado. Forçar a separação forma/conteúdo desde o primeiro exemplo: são eixos independentes. Há brincar bem organizado e tematicamente aterrível, e brincar formalmente pobre e afetivamente sereno; o significado clínico dos dois é oposto. Exercício de sala: pedir que descrevam qualquer brincar em dois tempos, primeiro só a organização, depois só 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afetividade precoce não reside dentro da criança: constitui-se no espaço entre ela e quem cuida. Examinar a criança isolada é examinar uma abstração. Tropeço: querer tirar o cuidador da sala para examinar a criança “limpa”, destruindo o instrumento. Exemplo de sala: duas crianças igualmente retraídas, um cuidador que acompanha e comenta, outro no celular; a criança é “a mesma” na descrição isolada e a díade conta duas histórias opostas.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um comportamento sem saber onde ele deveria estar naquela idade é ler sem gabarito. Todo domínio da aula vai abrir pela norma da idade antes de listar alteração; construir no residente o reflexo das duas perguntas: esperado para que idade? E que tipo de desvio é este: quantitativo, dissociação, regressão ou inflexibilidade?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da Parte I: verificar o deslocamento propondo um caso, nunca perguntando se entenderam. Descrever uma cena curta (criança, cuidador, brinquedo, separação, frustração pequena) e pedir que digam o que OBSERVARIAM. Se a primeira reação for formular perguntas para a criança, a moldura não assentou.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a mesma criança nos dois exames é o argumento final do livro tornado visível: a régua da idade se move, os domínios trocam de peso, o que era norma vira achado e o que era achado vira história. Não anunciar ainda o que o exame dos 9 anos encontra.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aqui não é a da súmula adulta: é o peso de ensino e a ordem em que os dados de fato chegam. No pré-escolar, o que se vê antes de qualquer pergunta já entregou meio exame.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esperado primeiro: criança vestida e arrumada por outrem, eutrófica, com as marcas normais de quem cai brincando nas proeminências ósseas. Esse é o pano de fundo contra o qual tudo se lê. O erro de transporte aqui é dos mais silenciosos e injustos: julgamento de classe travestido de achado clínico.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da descrição topográfica neutra é proteção, da criança e do médico: “equimose arredondada de 2 cm na face interna do braço esquerdo” é defensável e aciona o cuidado devido; “sinais de agressão” salta a inferência e fragiliza-se juridicamente. A suspeita deflagra percurso próprio que não pertence a este 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criança congelada pede a pergunta sobre o que ela aprendeu a temer. Terceiro padrão de olhar: o monitoramento ansioso contínuo (checa o cuidador antes de existir, pedindo licença) contra o referenciamento saudável, episódico e ligado ao ambíguo. Camada 6 a 12: a criança já compartilha parte do enquadre; aparecem vergonha, desafio, colaboração ansiosa; e o que muda quando o cuidador sai da sala é, por si, um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Inversão de sinal que o treino adulto erra: no adulto, cooperação e simpatia são boas notícias; na criança pequena, a sociabilidade indiscriminada não é saúde. E a reação à situação não é preâmbulo a tolerar até a criança “colaborar”: o modo como ela se acalma, ou não se acalma, e com que ajuda, já é o exame começando.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Tropeço mais caro do domínio, e um dos mais caros do livro: chamar de hiperatividade (e encaminhar como TDAH ou autismo) o nível de atividade normativo do pré-escolar, ou estereotipia isolada do desenvolvimento. Crianças têm estereotipias, e isso, sozinho, não é transtorno algum. Este é o ponto da aula em que mais se protege criança de diagnóstico apressado; gastar tempo aqui. Observar também coordenação global e fina; e não ter preguiça da fronteira neurológica.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única para o contraste: a criança que sacode as mãos nos picos de empolgação, padrão idêntico, e para quando chamada (estereotipia); e a que pisca e repuxa o rosto em salvas, piora quando a mãe menciona a escola, e descreve “uma coceira por dentro antes” (tique). Errar essa distinção é errar a porta de entrada. A estereotipia como protomovimento: resíduo ou rascunho de um sentido; isolada, não é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Ensinar cedo: a criança que não regula não faz mais nada bem, e o exame inteiro se lê à luz disso. O olhar como instrumento: no pré-escolar, para onde o olhar se dirige é, em boa aproximação, para onde a atenção se dirige; distinguir do uso comunicativo do olhar, que pertence à díade.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Tropeço: ler a distratibilidade normativa como déficit. A criança pequena atende ao que interessa e se dispersa do resto; o achado é não sustentar nem no que interessa. O horário da consulta entra no registro: o que se mediu às 18h mediu também o dia inteiro que veio antes. Camada 6 a 12: a atenção torna-se estruturável; instrução de múltiplos passos, dígitos com norma por idade, orientação pelas âncoras da 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Anunciar a técnica: exibir, congelar, perguntar, reexibir. Clipe de acervo público, 60 a 90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Congelar em três pontos: o gatilho, o pico, o retorno com corregulação. Perguntar à turma o que registrariam em cada ponto.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o bloco: a linha de prontuário que o clipe gera. Ponte de tração para o Bloco 2: a mesma curva, olhada agora pelo ângulo do afeto e do consolo.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afeto se modula sobre a regulação que o Bloco 1 examinou; por isso 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esperado: o pré-escolar é normativamente lábil, transita do choro ao riso em minutos; isso é regulação em construção. O que nunca é normativo, em idade nenhuma: o afeto embotado, a gama restrita, a face que não varia. No pré-escolar, embotamento é alerta de primeira grandeza (negligência relacional grave, violência, trauma precoce), nunca “criança quieta”.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Hipertímico, hipotímico, eutímico: os mesmos descritores da aula de afetividade do adulto; lembrar a turma da ancoragem. Dissociação ideoafetiva: quando a incongruência se dá entre a expressão não verbal e o relato; colhe-se sem nenhuma palavra da criança, examinável desde muito cedo. Não confundir com a dissociação entre linhas de desenvolvimento da moldura: lá, linhas que se descolam; aqui, expressão e relato que se contradizem. Tropeço da amostragem: “afeto preservado” sustentado por um sorriso. O afeto é curva, não foto; e o momento da consulta em que foi colhido faz parte do achado (a criança de aquecimento lento, a que entra expansiva e se esgota).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Curva da frustração: latência até a desorganização, intensidade do pico e, o mais informativo, a curva de retorno (quanto tempo, com quanta ajuda). A inconsolabilidade no próprio colo é dos achados mais graves do 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de ouro do domínio: no pré-escolar o humor se observa e se infere, não se pergunta; no escolar a pergunta entra, mas nunca sozinha. O residente que só procura tristeza perde a depressão irritável.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domínio é a segunda tradução tornada exame, e não é “mais um campo”: é uma lente que atravessa os outros. Retomar os quatro planos com endereço na consulta: sintonia no brincar conjunto, contingência na resposta ao sinal miúdo, corregulação na frustração, reparação no desencontro.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consulta oferece as provas naturalmente: o telefone que chama o cuidador, a frustração, o machucado. O observado bem descrito sustenta toda a preocupação clínica sem tomar emprestada uma taxonomia que o setting não valida. E o cuidador é instrumento a usar: pedir que chame, que entre no brincar, que console; a diferença entre a díade espontânea e a convocada é informação.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 sala que instala o conceito: a criança que leva a mão do adulto até o pote de biscoito (gesto instrumental eficiente) e que, na mesma consulta, vê algo extraordinário pela janela e não se volta para ninguém. Nada falta ao gesto como ferramenta; falta o gesto como ponte. É dissociação no sentido da Parte I: uma linha descolada das outras. Vigilância e encaminhamento, não diagnóstico; e atraso de fala também motiva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Clipe de acervo público, 20 a 40 segundos: apontar protodeclarativo com checagem do rosto; se possível, contraste com o apontar para pedir.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clipe tiver os dois apontares, congelar em cada um e pedir a distinção à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frase que hierarquiza sem tranquilizar: mais grave que a fala que atrasa é o apontar que nunca mostra. Encaminhar sem esperar amadurecer.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amizade recíproca sustentada vale mais, clinicamente, que dez nomeações vazias; e a discrepância entre o relato da criança e o das fontes é, aqui como no afeto, um achado em si. Cada dado com sua fonte: a criança conta das amizades, a escola informa a posição no grupo, os pais relatam os convites.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centro intelectual do exame. A ordem tem razão de contaminação: o que se colhe aqui depende do que os blocos anteriores estabeleceram.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criança de quatro anos cujo brincar é exclusivamente sensório-motor apresenta, nessa forma, um achado do peso que teria a concretude extrema no discurso de um adulto. O que muda é o idioma; a gramática do exame é a mesma.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Clipe de acervo público, 20 a 40 segundos: um objeto usado como outro, de preferência com fala dirigida ao brinquedo.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Curto: o clipe prova o degrau simbólico da escada do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Ponte: a forma está vista; falta o conteúdo, e é nele que mora o achado mais grave do 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pesa não é a presença do tema (agressão, perigo, abandono, cuidado), é a possibilidade ou não de elaboração: o enredo que evolui contra a cena que se repete. Exigir do examinador a mesma serenidade que os conteúdos sombrios do adulto exigem.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kit importa: brinquedos que pedem projeção (miniaturas de gente, bonecos neutros, animais, blocos, casa, carrinhos simples). O eletrônico de luzes e sons brinca pela criança e devolve roteiro pronto: diante dele toda criança parece igual e o exame morre.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a prevenir: concluir que o domínio recua porque o brincar recua. Ele muda de forma, e cada forma nova é uma janela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Eixos observáveis do pré-escolar: comunicação pré-verbal que sustenta ou não a fala (gesto, apontar, olhar, alternância de turnos que existe antes de qualquer palavra), prosódia (a monotonia ou a entonação cantada e descolada do conteúdo é achado fino), inteligibilidade e estrutura para a 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compreensão não faz barulho, e por isso o residente a esquece. Pedir sem apontar, sem olhar para o objeto, sem o contexto entregar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criança de fala atrasada que compensa com gesto, olhar e turno conversa inteira sem palavras: função preservada é o melhor sinal do domínio. O inventário de vocabulário inverte a preocupação: alarma-se com a segunda e libera a primeira.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escolar entram os eixos adultos (quantidade, velocidade, latência, volume, prosódia) e o curso do pensamento torna-se acessível pelo discurso, com a régua da idade na mão. A narrativa é para o escolar o que o brincar simbólico é para o pré-escolar: a estrutura do pensamento posta para fora.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régua adulta aplicada a criança de oito anos fabrica déficit onde há desenvolvimento. A criança com déficit atencional executa o primeiro passo da instrução tripla e perde o resto: instrumento ecológico e barato.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Encenar o erro em cadeia: provérbio na criança de nove anos, interpretação literal, “concretismo” no exame, e as associações que a palavra puxa no adulto. Está errado desde o instrumento. A frase que corrige: concretismo aos nove anos não é sinal, é a idade; sinal seria o contrário. E o pensamento mágico decai ao longo da idade escolar sem data marcada: o amigo imaginário no começo da faixa continua sendo desenvolvimento.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risco não existe como capítulo próprio no exame adulto; aqui precisa existir, e o porquê aparece no domínio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domínio onde mais se erra para os dois lados: alucinação registrada onde há imaginação, e o sinal raro e grave ignorado porque “criança inventa coisa”.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desloca do benigno para a preocupação é o séquito: sofrimento, comando (sobretudo contra a criança ou alguém), convicção inabalável em idade que já deveria relativizar, multimodalidade, deterioração do funcionamento. Pesa-se pelo contexto e pelo cortejo, nunca sozinha. E o custo do erro: “alucinação” num prontuário infantil é palavra que ninguém mais apaga.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pulo “criança não tem eu formado” é duplamente errado: o eu está em formação e é exatamente a formação que se examina. A pergunta do domínio: o eu desta criança está onde a idade o colocaria? Terceira pessoa típica aos dois, achado se persiste anos além.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“Eu sou burro, todo mundo sabe” registrado textual vale um parágrafo; parafraseado (“apresenta baixa autoestima”) vale quase nada, porque a paráfrase joga fora a globalidade, o “todo mundo”, a naturalidade da sentença. Neste domínio, as aspas são o instrumento.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“Porque eu bato nos meus amigos”, “porque minha mãe quis”, “não sei”: o leque gradua melhor que qualquer formulação abstrata.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Desmontar os dois medos do residente: plantar a ideia (empiricamente falso) e não saber o que fazer com a resposta (problema de fluxo, não de exame; a conduta é outra aula). O exame tem uma obrigação: perguntar e registrar.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as duas frases prontas, a do negativo e a do positivo minucioso: o campo de risco é o único em que a frase pronta não é preguiça; é a garantia de que nada foi esquecido às vinte horas de uma sexta-feira.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da Parte II: dos treze domínios, quantos dependeram de perguntar algo à criança? No pré-escolar, quase nenhum. E os que dependem da pergunta no escolar dependem todos da mesma disciplina: pergunta calibrada pela idade, relato cruzado com o observado, fonte registrada. A moldura da inteligência: janelas de desenvolvimento e privação que a estimulação tardia recupera às vezes por inteiro, às vezes em parte; ler o desempenho baixo perguntando primeiro pela história.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parte mais curta do livro e a que separa o prontuário que descreve uma criança do que empilha campos. Sintetizar se aprende escrevendo sob crítica, e a crítica é 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síntese fecha o exame; a hipótese fecha a avaliação. A síntese alimenta a hipótese, mas termina antes: aponta direção sem cravar rótulo.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Abaixo do organizador, os secundários: reais, registrados, lidos à luz dele. Exemplos de ruído normativo que sai: a ansiedade de separação esperada, o nível de atividade da idade, a ecolalia dos dois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erro não é usar o gradiente, é usá-lo desafinado: o “é compatível com” sustentado por um único observável, ou o “descreve-se” tímido diante de um padrão robusto. Dizer exatamente o quanto se sabe, nem mais, nem menos.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incerteza escrita fortalece: a ressalva de amostra (“exame colhido às 18h, criança sem sesta; reavaliar”), o domínio não avaliável dito com o porquê, as fontes que divergem registradas como dado. O exame é um filme do qual cada consulta é um fotograma, e a síntese que sabe disso escreve o fotograma e encomenda o seguinte. O “compatível com o esperado” do exemplo está lastreado, não carimbado.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clímax didático: a teoria inteira virando texto de prontuário. A anotação é onde os seis passos aparecem trabalhando.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da cena: a mãe responde aos chamados dele, comenta o brincar, guarda o celular sem ser pedida. Perguntar à turma, antes do prontuário: o que vocês já colheram só nesta cena? Entrada, exploração, díade, frustração e consolo já estão na mesa.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TEXTO INTEGRAL (ler no roteiro ou aqui): Recebi Bento e a mãe às 9h30; a mãe informa noite de sono habitual. Bento entrou à frente dela e deteve-se brevemente à entrada, varrendo a sala com o olhar numa pausa de estudo, com olhar ativo sobre os brinquedos. Dirigiu-se então aos carrinhos por iniciativa própria, sem checar a mãe para isso. Menino eutrófico, aparentando a idade que tem, roupa limpa e adequada ao calor da manhã, sem lesões visíveis nas áreas expostas. Moveu-se muito durante toda a consulta, quase sempre com direção: da caixa aos carrinhos, dos carrinhos aos blocos, com propósito reconhecível em cada deslocamento, embora raramente permanecesse mais de três ou quatro minutos numa mesma atividade, inclusive nas que visivelmente o interessavam. Coordenação global e fina sem particularidades. Não observei movimentos repetitivos em nenhum momento, nem nos picos de empolgação. O brincar alcançou o simbólico: montou uma cena de posto de gasolina com blocos e carrinhos, com papéis (“você é o moço do posto”) e duas ou três ações encadeadas, e me incluiu na cena, cedendo e tomando turnos. As cenas, porém, foram curtas: desfaziam-se não por conflito, mas por migração do interesse, e ele não retornou a nenhuma delas. Quando propus, de dentro da cena, que o carro quebrado fosse ao mecânico, aceitou e transformou a proposta (“não, ele vai voar pro mecânico”), flexível e com invenção própria. Os temas foram neutros e variados; nada se repetiu, nada estagnou. O afeto foi amplo e vivo a consulta inteira: alegria franca no brincar, entusiasmo que me alcançava, e a graça que ofereci dentro da cena foi recebida e devolvida ampliada; aborrecimento claro e proporcional nas duas frustrações. Na primeira, uma peça que não encaixou, protestou vocalmente, largou a peça e voltou a ela sozinho depois de um minuto, tentando de outro jeito, sem se desorganizar. Na segunda, ao anúncio do fim da consulta, chorou com força; buscou o colo da mãe por iniciativa própria e reorganizou-se nele em cerca de três minutos. O colo funcionou. Durante toda a consulta, Bento checou a mãe nos momentos esperados e ela respondeu ao que ele trazia, comentando o brincar dele com ajuste fino. Num momento em que ela se distraiu e ele a chamou sem resposta, ele insistiu, ela se voltou e retomou: o desencontro foi notado e refeito por iniciativa dos dois. A fala é inteligível, com frases completas para a idade e prosódia rica; encenou vozes diferentes para os personagens. Compreendeu pedidos sem apoio gestual, incluindo um de dois passos; num pedido de três passos, executou os dois primeiros e perdeu o terceiro. Usou o apontar tanto para pedir quanto para me mostrar. Vígil e em alerta tranquilo do início ao fim. Impressão: um pré-escolar de recursos íntegros, com simbólico de enredo e flexibilidade, díade responsiva com reparação espontânea, afeto amplo e congruente, consolabilidade plena e comunicação com função preservada, em torno de um único eixo que destoa: a sustentação. Perfil de sustentação curta para a idade, hoje sem prejuízo visível e amortecido por tudo que está preservado: uma variação a observar, mais do que um desvio estabelecido. As birras que motivaram a consulta apareceram aqui como frustração proporcional, com curva de retorno eficaz mediada pela mãe. Exame colhido em manhã favorável; a sustentação curta deve ser reavaliada em outras amostras e cruzada com o relato da escola, que é o que a próxima consulta precisa trazer.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Súmula completa no livro. Pontos da anotação a falar: a síntese RESPONDE à queixa da mãe (as birras renomeadas como o que o exame mostrou que são) em vez de adotá-la; os recursos íntegros não foram listados, foram postos em função (amortecedores); e o passo seis passa: cada frase da impressão aponta para um observável do corpo. Reparar no que a síntese não tem: nenhuma frase da rubrica adulta, e nenhuma falta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de tração. Não antecipar os achados: deixar a consulta dos 9 anos acontecer no slide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Notar com a turma o que a cena já entrega: a entrada atrás da mãe (aos 4 entrou na frente), o horário (16h, dia de aula, entra na leitura), as unhas roídas, a inquietação periférica. O prontuário longitudinal vai usar o exame dos 4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TEXTO INTEGRAL (resumido nos pontos que faltam ao slide): Recebi Bento e a mãe às 16h de um dia de aula; ele veio direto da escola, e o horário entra na leitura do que segue. Entrou atrás da mãe, cumprimentou-me em voz baixa e sem sustentar o olhar, e sentou-se antes de ser convidado, como quem conhece o roteiro de consultórios. Menino em bom estado geral, uniforme escolar amarrotado do dia, unhas roídas até o leito. Permaneceu sentado a consulta inteira, mas não parado: remexeu as mãos, balançou a perna, numa inquietação periférica contínua que aumentava visivelmente quando o assunto era a escola e diminuía quando falamos de videogame. Colaborou do início ao fim, com uma disposição que tinha algo de resignado, exceto nos cinco minutos em que me contou do jogo que joga: ali a voz subiu, o corpo acordou e o relato ganhou cor. A narrativa pedida teve começo, meio e fim, com referências que se sustentavam e autorresgate dos desvios. Numa instrução casual de três passos ao fim da consulta, executou o primeiro, parou e perguntou “o que era mesmo?”. Orientado para escola, série, professora e turno; errou o dia do mês, sem valor na idade. O afeto foi eutímico e reativo na maior parte, com dois desvios consistentes: a cor apagava quando a escola entrava, e acendia no videogame. Diante da pergunta direta sobre tristeza, disse “não sei... normal”, com a expressão dizendo menos que isso; registro a distância entre o relatado e o observado. A mãe relata irritabilidade crescente há meses e abandono progressivo do futebol, que ele confirmou a sós com um dado a mais: “os meninos não me chamam”. Sobre os colegas: nomeou “um monte” de amigos em aberto; chamaria dois para um aniversário; “esse ano ninguém ainda” o chamou. O relatório da escola descreve isolamento no recreio e conflitos quando contrariado. A assimetria entre a lista aberta e os convites reais entra no exame como dado. Sem atitude alucinatória; à pergunta aberta e tardia, negou com naturalidade. Vígil, alerta e estável. Impressão: um circuito que os domínios mostram cada um por um ângulo: a sustentação que já era curta aos quatro aparece agora como inquietação contínua, instrução que se perde e tarefas que não terminam, com prejuízo que aos quatro não havia; sobre esse chão de fracasso repetido ergueu-se uma autodesvalorização global, acompanhada de sinais afetivos consistentes entre fontes; soma-se ideação de morte passiva, sem plano, intenção, tentativa ou autolesão, reativa aos momentos de fracasso e desconhecida dos adultos até hoje. A leitura que o conjunto sugere: um perfil atencional de longa data cujo custo acumulado é compatível com sintomas depressivos em instalação, com o autoconceito como dobradiça. O relato preservado do videogame, a narrativa coesa e a busca ativa de ajuda pesam como recursos. Exame colhido às 16h após dia inteiro de aula; ler a inquietação e o rendimento com essa ressalva. A próxima consulta precisa: reavaliar a ideação (agora com a mãe ciente, conforme combinado com Bento), aprofundar a linha do humor com a escola como terceira fonte, e revisitar a discrepância entre relato e observado no afeto.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da fala textual como espécime (“sou burro mesmo, todo mundo termina e eu não” carrega a globalidade e a comparação com pares que nenhuma paráfrase carregaria), do falso concretismo evitado por escrito (a súmula registra que as respostas concretas NÃO são achado), e da linha dos quatro anos entrando de propósito: o prontuário longitudinal é o luxo da psiquiatria infantil, e se escreve bem hoje para o colega que lerá daqui a cinco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prática convivem: a consulta de seguimento vive de súmula com impressão breve; a avaliação inicial, o caso complexo e o achado novo pedem o narrativo, que pode vir com a súmula como índice (como os Bentos mostraram).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que amarra o ensino inteiro: nenhum ensino termina em “o que perguntar” sem terminar em “o que escrever”. O teste final de cada slide desta aula foi: ele termina numa frase que o residente escreveria?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Entregar junto com os primeiros exames que o residente redigir, e usar como crivo de correção.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Espelho da abertura: retomar o S2 de memória. A frase-título é a que o livro deixa; vale fechar a fala com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apontar os apêndices. Perguntas sobre lactente, montagem da consulta ou criança que bate: saltar direto para o apêndice correspondente.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Dizer na porta, como o livro faz: o leitor merece saber o alcance do instrumento que recebeu.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última linha é a que vale levar: “ainda não esperado” em vez de “ausente” muda o prontuário do lactente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Prevenir o mal-entendido antes de mostrar a ordem: é uma ordem de propostas, não uma sequência rígida.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dupla tarefa que define o examinador infantil: ouvir um e ler o outro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proposição como rotina normaliza para a criança e para o cuidador o que uma proposição solene transformaria em alarme.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criança que chega “porque bate” é das apresentações mais frequentes. O que segue é anatomia observável; a leitura do que a agressão significa pertence à formulação, que vem depois e se alimenta exatamente desta descrição.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generalização da Parte I trabalha aqui com força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não substitui os capítulos: é o índice de trabalho deles. A terceira coluna de cada linha do livro (o par de registro) está nos slides dos domínios.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Fim. O checklist de autoavaliação (S70) e este mapa são os dois materiais de mão do residente.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Satélite de apoio: usar quando um conceito da moldura travar. A analogia abre a porta; voltar sempre à definição e ao exemplo clínico do slide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só uma analogia couber na fala, que seja a da reparação, pelo mesmo motivo do slide principal: é o plano mais discriminante.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da pragmática é a que mais rende em aula: desmonta na hora o “fala super bem” do inventário de vocabulário. Ecolalia entra na mesma chave: frase emprestada PARA alguém é comunicação; frase rodando para ninguém é outra coisa.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Fim do apêndice 5. Estes quatro slides existem para socorro em sala; no roteiro de estudo, cada analogia aparece colada à definição completa correspondente.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914400"/>
            <a:ext cx="1920240" cy="1920240"/>
          </a:xfrm>
          <a:prstGeom prst="ellipse">
            <a:avLst/>
          </a:prstGeom>
          <a:solidFill>
            <a:srgbClr val="56365F"/>
          </a:solidFill>
          <a:ln w="114300">
            <a:solidFill>
              <a:srgbClr val="ECB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1463040"/>
            <a:ext cx="384048" cy="384048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9710928" y="2057400"/>
            <a:ext cx="1325880" cy="45720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exame psíquico da criança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DDC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pré-escola e na escola · 0 a 5 e 6 a 12 anos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356616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490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mesmo mapa, em outra língua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5394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Diego Alves Rosa · psiquiatria da infância e adolescência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Psiquiatria Prática · curso de residentes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MOLDURA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Vocês já sabem examinar o adulto; o que falha diante da criança não é o conhecimento, é o transporte.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9572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33172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hábitos que funcionam perfeitamente no adulto falham inteiros na criança. Não são erros de conhecimento, são erros de transporte.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331012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4612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residente sabe a semiologia; aplica ao paciente errado, do jeito errado, porque ninguém mostrou que o instrumento muda aos quatro anos.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422452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16052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desta primeira parte: desinstalar os três hábitos e instalar três traduções. Sem elas, o laudo descreve uma criança que não existe.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4681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traduções: o brincar no lugar do discurso, a díade no lugar do indivíduo, a idade no lugar da norma.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I, abertura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MOLDURA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Primeira tradução: o brincar é o discurso da criança, e se lê em dois eixos separados, forma e conteúdo.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53949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BRINCAR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organização: o nível (sensório-motor, funcional, simbólico), a sequência, a sustentação do enredo, a flexibilidade.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análogo do curso e da estrutura do pensamento.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240280"/>
            <a:ext cx="53949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DO BRINCAR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criança põe na cena: os temas que retornam, a agressão, o cuidado, o perigo, a reparação.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análogo do conteúdo do pensamento.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074920"/>
            <a:ext cx="82296" cy="7772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2122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TROPEÇO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o brincar como rapport e esperar “o exame de verdade”. No adulto você escuta o relato; na criança você lê o brincar, e ler exige a mesma disciplina que escutar.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I, Tradução 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MOLDURA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Segunda tradução: não existe criança examinável isolada; o que existe, e o que se examina, é o par.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266090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SINTONIA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estados dos dois se acompanham; o mais visível e o menos discriminante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2424" y="2194560"/>
            <a:ext cx="266090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57016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ao sinal específico da criança, na hora, com o ajuste certo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2194560"/>
            <a:ext cx="266090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CORREGULAÇÃO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criança perde o controle, o cuidador entra como regulador externo e o estado se reorganiza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79992" y="2194560"/>
            <a:ext cx="2660904" cy="2331720"/>
          </a:xfrm>
          <a:prstGeom prst="roundRect">
            <a:avLst>
              <a:gd name="adj" fmla="val 2745"/>
            </a:avLst>
          </a:prstGeom>
          <a:solidFill>
            <a:srgbClr val="DDC9E3"/>
          </a:solidFill>
          <a:ln w="22225">
            <a:solidFill>
              <a:srgbClr val="E96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44584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REPARAÇÃO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44584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desencontro notado e refeito: o dado mais discriminante de todos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017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tempo só der para uma coisa, observe a reparação: a díade que se desencontra e não repara mostra mais que uma hora de sintonia aparente.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I, Tradução 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MOLDURA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Terceira tradução: a régua anda com a idade, e o desvio pesa pela qualidade, não só pela quantidade.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0428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40280"/>
            <a:ext cx="9829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de si na terceira pessoa é típico aos dois anos e sinal aos seis; a ecolalia é etapa normal até perto dos três; o amigo imaginário é saúde aos quatro.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05840" y="3145536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DISSOCIAÇÃO entre linhas: uma linha descolada das outras (linguagem no tempo, apontar que nunca mostra) diz mais que qualquer atraso global.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05840" y="3986784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922776"/>
            <a:ext cx="9829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REGRESSÃO: perder o que já se tinha nunca é banal; não se acomoda, investiga-se.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05840" y="4828032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4764024"/>
            <a:ext cx="9829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INFLEXIBILIDADE: o comportamento que seria normativo vira achado quando é o único disponível, invariável, imune ao contexto.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623560"/>
            <a:ext cx="82296" cy="7772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76986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TROPEÇO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caro dos três: quem não sabe onde está a norma da idade tanto inventa doença onde há desenvolvimento quanto ignora doença achando que é desenvolvimento.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I, Tradução 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MOLDURA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exame do adulto pergunta e escuta; o da criança propõe e observa, e o examinador vira instrumento de medida.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não é acesso mais direto ao interior: é acesso mediado por inferência, mais falível. “Descrever antes de interpretar” é a resposta técnica a essa falibilidade.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05840" y="32644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004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ressonância que a criança desperta em você é dado do exame: o embotamento muitas vezes se anuncia primeiro no vazio que o examinador sente.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05840" y="41788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1148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frustração pequena e deliberada é um dos instrumentos mais úteis: nela o arco da ação e a regulação emocional ficam legíveis ao mesmo tempo.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4223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criança, o exame psíquico é o que se observa, não o que se ouve. E observar é interpretar sob disciplina, nunca colher um dado pronto.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I, o que a moldura muda no gesto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MOLDURA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examinar o mesmo menino duas vezes, aos 4 e aos 9 anos, e escrever os dois prontuários juntos.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2286000"/>
            <a:ext cx="1188720" cy="1188720"/>
          </a:xfrm>
          <a:prstGeom prst="ellipse">
            <a:avLst/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4871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606040" y="24505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e 2 meses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 em que o paciente não fala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2286000"/>
            <a:ext cx="1188720" cy="1188720"/>
          </a:xfrm>
          <a:prstGeom prst="ellipse">
            <a:avLst/>
          </a:prstGeom>
          <a:solidFill>
            <a:srgbClr val="E96030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4871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01000" y="24505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e 7 meses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100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 em que o paciente começa a responder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062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atravessa a aula em cenas de consultório. O produto de cada metade é um prontuário escrito por extenso, nos dois formatos que a aula ensina: o narrativo (o como) e a súmula (o quê). A aula termina na fronteira puberal: o adolescente é a próxima aula.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IV (o dispositivo) e Parte V (os dois formatos)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4754880" cy="402336"/>
          </a:xfrm>
          <a:prstGeom prst="roundRect">
            <a:avLst>
              <a:gd name="adj" fmla="val 18182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ENTRADA, MOVIMENTO E REGULAÇÃO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10972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ordem dos domínios é a ordem em que os dados chegam: a criança entrega meio exame antes do primeiro brinquedo.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· atitude e reação à situação · psicomotricidade · autorregulação e atenção.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domínio abre pela norma da idade, desce à camada 0 a 5 e fecha pelo que muda dos 6 aos 12.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aparência do pré-escolar fala de dois ao mesmo tempo: da criança e do sistema que cuida dela.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4884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SOBRE A CRIANÇA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nutricional, idade aparente contra a cronológica, traços dismórficos que compõem padrão, perímetro cefálico.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SOBRE O CUIDADO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higiene, roupa adequada ao clima e ao tamanho, pele, lesões e sua topografia. E nos dois polos: o descuido e o impecável demais, que impede a criança de ser criança.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709160"/>
            <a:ext cx="82296" cy="7772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5546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TROPEÇO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 aparência como se medisse a criança: no pré-escolar ela mede sobretudo o sistema de cuidado, muitas vezes um sistema esgotado pela pobreza. Descuido não é diagnóstico da criança; é uma pergunta sobre o ambiente.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5715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6 a 12: a criança passa a participar da própria aparência, e o desalinho pode agora falar dela (embotamento, retraimento, preocupação excessiva).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Lesão se descreve por cor, forma, tamanho e lugar; a conclusão forense não pertence a este campo.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48840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NORMATIVA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proeminências ósseas expostas às quedas naturais: canelas, joelhos, testa.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QUE LEVANTA SUSPEITA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atípica (dorso, face interna das coxas, pavilhão auricular, região genital), padrão que reproduz objeto, incompatibilidade com a história.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4315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4114800" cy="1554480"/>
          </a:xfrm>
          <a:prstGeom prst="roundRect">
            <a:avLst>
              <a:gd name="adj" fmla="val 4118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727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020056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“Criança descuidada, com sinais de negligência.”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4617720"/>
            <a:ext cx="67665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4727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5020056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“Cabelo sem pentear, unhas com sujidade incrustada, casaco dois números menor para o frio de hoje; equimose arroxeada de 2 cm na canela direita, compatível com queda.”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criança não compartilha o enquadre: examina-se a reação à situação nova, e os olhos decidem o que a imobilidade é.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359359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 inspeciona com segurança: curiosidade de base segura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2240280"/>
            <a:ext cx="359359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INIBIDA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07992" y="283464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imóvel mas ATIVA: o olhar varre, estuda o terreno, degela sozinha em minutos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01584" y="2240280"/>
            <a:ext cx="3593592" cy="2286000"/>
          </a:xfrm>
          <a:prstGeom prst="roundRect">
            <a:avLst>
              <a:gd name="adj" fmla="val 2800"/>
            </a:avLst>
          </a:prstGeom>
          <a:solidFill>
            <a:srgbClr val="DDC9E3"/>
          </a:solidFill>
          <a:ln w="22225">
            <a:solidFill>
              <a:srgbClr val="E96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84464" y="283464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imóvel e SUSPENSA: olhar fixo, vazio ou hipervigilante; não degela com o tempo; imobilidade do medo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983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absolve muito: ansiedade perante o estranho é esperada, inibição inicial é temperamento, protesto nas transições pertence à idade. O achado começa onde intensidade, duração ou padrão destoam.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Estranhe a criança que não estranha: a intimidade instantânea com o desconhecido é achado, não facilidade.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585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9456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refúgio no cuidador ao ser abordada é a ansiedade esperada; sentar no colo do médico desconhecido em dois minutos é sociabilidade indiscriminada, e aponta para vínculo perturbado por privação ou rupturas.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31012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4612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Transições: a passagem fluida mostra flexibilidade; a recusa obstinada, rigidez situacional; o colapso diante de alteração mínima, a reação catastrófica dos transtornos do neurodesenvolvimento.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270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114800" cy="1600200"/>
          </a:xfrm>
          <a:prstGeom prst="roundRect">
            <a:avLst>
              <a:gd name="adj" fmla="val 4000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974336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 colaborativa, opositora.”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4572000"/>
            <a:ext cx="67665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4974336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“Permaneceu atrás das pernas do pai nos primeiros dez minutos, observando os brinquedos à distância; aproximou-se por iniciativa própria após oferta indireta e passou a explorar a sala.”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pré-escolar é normativamente hipercinético: examina-se a direção do movimento, não a quantidade.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4884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DIRIGIDA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corre, explora, manipula, mas a atividade tem direção e propósito; refreia-se quando engajada.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AGITAÇÃO DESORGANIZADA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sem alvo, que não constrói nada, não se deixa engajar, não se refreia.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4224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36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92861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“Hiperativo.”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4526280"/>
            <a:ext cx="6766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4636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492861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“Atividade elevada e dirigida: explorou a sala com propósito reconhecível, sentou e sustentou a tarefa quando engajado; sem movimentos repetitivos ou tiques.”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Tique e estereotipia se separam na sala: pelo ritmo, pelo contexto e pelo que acontece quando algo captura a criança.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48463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ESTEREOTIPIA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breve, abrupto, não rítmico; atravessa o comportamento em curso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rítmica, mais longa, de padrão fixo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intensifica com ansiedade e tensão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aparece na excitação ou na absorção (sacode as mãos quando empolgada)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supressão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parcialmente supressível por esforço, ao custo de desconforto; urgência premonitória no escolar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se suprime por esforço; interrompe-se por distração externa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2578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6 a 12: o nível normativo já baixou; a hipercinesia vira achado que não era, e a lentificação psicomotora vira marcador legível (depressão, trauma crônico, medicação).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regulação é o alicerce: quem não alcança o alerta tranquilo não brinca, não se vincula e não atende.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585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94560"/>
            <a:ext cx="9829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examina: alcançar e sustentar o alerta tranquilo, a amplitude das flutuações e a capacidade de autoconsolo (quanto reorganiza sozinha, quanto depende do outro).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246120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182112"/>
            <a:ext cx="9829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Reatividade sensorial, fácil de confundir com birra: hiper-responsividade (tapa os ouvidos, aversão a texturas), hipo-responsividade (não se volta ao nome, sinal de peso quando repetido), busca sensorial (cheira, gira, colide).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233672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169664"/>
            <a:ext cx="9829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esperado do pré-escolar: regulação em construção; labilidade, transições abruptas e necessidade de apoio externo são esperadas em algum grau.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atenção do pré-escolar se mede no brincar de interesse dela, e a consulta é uma amostra enviesada.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585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9456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dígitos, sem tarefa formal: sustentação medida pela duração no brincar de interesse, distratibilidade pelos estímulos mínimos que desviam, tolerância à frustração pela resposta ao obstáculo.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31012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4612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consultório pode MASCARAR a desregulação (esforço máximo por uma hora, colapso no carro) ou FABRICÁ-LA (a criança exausta das 18h). A discrepância entre fontes não se resolve escolhendo uma versão: registra-se como dado.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224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4114800" cy="1554480"/>
          </a:xfrm>
          <a:prstGeom prst="roundRect">
            <a:avLst>
              <a:gd name="adj" fmla="val 4118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36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928616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“Desatento, não para em nada.”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4526280"/>
            <a:ext cx="67665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4636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4928616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“Trocou de brinquedo a cada 2 a 3 minutos, inclusive nos de interesse; ao obstáculo, largou a peça e não retornou; acalmou-se em cerca de cinco minutos com apoio verbal da mãe.”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4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cena, repare no que acontece imediatamente antes do grito e no que o adulto faz com o corpo.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V1 · BIRRA E CORREGULAÇÃO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Birra de criança de 2 a 3 anos em local público, com o adulto entrando em corregulação.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11680" y="548640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→ congelar 3x (gatilho · pico · retorno) → perguntar → reexibir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ENTRADA E REGULAÇÃO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acabou de examinar regulação, afeto e díade sem fazer uma pergunta: gatilho, pico, corregulação e retorno.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359359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87168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GATILHO: o que aconteceu imediatamente antes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25112" y="2286000"/>
            <a:ext cx="359359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2487168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PICO: intensidade e o que o corpo fez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01584" y="2286000"/>
            <a:ext cx="359359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84464" y="2487168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RETORNO: quanto tempo, com quanta ajuda, e o que o cuidador ofereceu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3708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de retorno é o dado; o choro em si não é. É aqui que o arco da ação (a conação: querer, iniciar, sustentar) e a regulação se encontram e ficam legíveis ao mesmo tempo.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 (a frustração como instrumento) e Domínios 4 e 5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4754880" cy="402336"/>
          </a:xfrm>
          <a:prstGeom prst="roundRect">
            <a:avLst>
              <a:gd name="adj" fmla="val 18182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10972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coração do exame: o afeto se lê no corpo que o Bloco 1 ensinou a observar, e o vínculo, no espaço entre os dois.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Afeto, humor e regulação emocional · interação diádica e vínculo.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segunda tradução deixa de ser moldura e vira método.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pré-escolar o humor não se pergunta: infere-se do padrão do afeto, do relato do cuidador e do sono, apetite e energia.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adulto o domínio tem duas portas: o humor pelo relato, o afeto pela observação. Na criança pequena uma porta está fechada: “você está triste?” colhe a vontade de agradar e o vocabulário emocional, não o humor.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4015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33756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afeto observável (face, tônus, voz, postura) é a única janela fiável; o humor é inferido do padrão ao longo do tempo e das funções que arrasta: sono, apetite, energia.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45312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38912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ressonância vira método: ofereça um estímulo emocional deliberado dentro do brincar e observe a reciprocidade. A criança diante da qual nada vibra, nem nela nem em você, mostra o dado mais precoce do embotamento.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5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afeto se registra em quatro dimensões, e a cor dele separa a criança enlutada da criança apagada.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042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151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tonalidade: hipertímico, hipotímico, eutímico (evitar “distímico” como descritor)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3042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6151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gama: ampla e proporcional; restrita; ausência de variação é o embotamento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93008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0273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1363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modulação: labilidade (lida contra a idade), rigidez, incontinência no extremo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493008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60273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CONGRUÊNCIA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91363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acordo com o contexto: sorrir contando que apanha é dos achados mais informativos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4807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rigidez, a distinção fina: a criança fixada na tristeza cuja dor ainda tem cor e alcança quem olha (textura do luto), e a fixada num estado sem cor, opaca, diante da qual nada vibra. A cor do afeto distingue a enlutada da deprimida.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5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choro não é o dado; o dado é a curva de retorno, e dentro dela a consolabilidade.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3593592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E REORGANIZA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colo funciona: corregulação em ordem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2194560"/>
            <a:ext cx="3593592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23774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E REORGANIZA SOZINHA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07992" y="306324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autoconsolo funciona, o uso do outro não; isso já diz algo do vínculo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2194560"/>
            <a:ext cx="3593592" cy="2103120"/>
          </a:xfrm>
          <a:prstGeom prst="roundRect">
            <a:avLst>
              <a:gd name="adj" fmla="val 3043"/>
            </a:avLst>
          </a:prstGeom>
          <a:solidFill>
            <a:srgbClr val="DDC9E3"/>
          </a:solidFill>
          <a:ln w="22225">
            <a:solidFill>
              <a:srgbClr val="E96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23774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E NÃO REORGANIZA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84464" y="306324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braço do cuidador e o choro segue intacto: o colapso da corregulação onde ela deveria funcionar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4315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4114800" cy="1463040"/>
          </a:xfrm>
          <a:prstGeom prst="roundRect">
            <a:avLst>
              <a:gd name="adj" fmla="val 4375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27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020056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“Afeto preservado.”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46320" y="4617720"/>
            <a:ext cx="67665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4727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5020056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“Afeto amplo e móvel ao longo da consulta: alegria no brincar, aborrecimento proporcional à frustração com retorno ao basal em minutos; ressonante ao estímulo lúdico oferecido.”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5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escolar o relato se entreabre, e a distância entre o que a criança diz e o que mostra é achado, não problema.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relato entra sob disciplina que o adulto não exige: sempre cruzado com o observado. A criança cabisbaixa, de voz murcha, que diz “tá tudo bem” entrega na dissociação um dado mais rico que qualquer resposta.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246120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182112"/>
            <a:ext cx="98298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hipotimia do escolar frequentemente veste irritabilidade: a criança rabugenta trazida “pelo comportamento” pode ser a roupagem infantil do humor deprimido.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142232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078224"/>
            <a:ext cx="98298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anedonia torna-se observável: o brincar que perdeu a graça, o interesse abandonado, o videogame de lado.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5038344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4974336"/>
            <a:ext cx="98298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Nascem afetos novos: vergonha e culpa exigem um eu que se vê pelos olhos dos outros; o excesso deles é achado desta faixa, impossível antes dela.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5, camada 6 a 12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díade se observa a consulta inteira: o pêndulo entre explorar e retornar é a base segura visível.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585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94560"/>
            <a:ext cx="9829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protesto à separação é sinal de vínculo funcionando, não de problema. O que se examina é o padrão em volta dela, sobretudo a reaproximação.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282696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18688"/>
            <a:ext cx="9829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vaivém é a norma: afasta-se para explorar e volta (com o corpo ou só com o olhar) para checar e reabastecer. O pêndulo parado em qualquer extremo é o achado.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306824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242816"/>
            <a:ext cx="9829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“fácil demais”, que nunca protesta, nunca busca, resolve tudo sozinha: a autossuficiência total pode ser aprendida onde convocar não funcionava, e merece a mesma atenção que a dependência total.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532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residente treinado no adulto lê independência como saúde; no pré-escolar, a independência total é tão informativa quanto a dependência total.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6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 estresse aparece o padrão de uso do cuidador; descreve-se o comportamento, não se sela o rótulo.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13432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aceita o consolo e se reorganiza a partir dele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63840" y="23134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 cuidador como base segura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54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angustiada, não busca; segue de costas, consola-se sozinha num canto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63840" y="3154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 a descrever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7705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95928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rejeita ao mesmo tempo: chora pelo colo e bate em quem a pega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0" y="399592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ambivalência resistente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1830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DDC9E3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37176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condutas contraditórias na presença do cuidador: aproxima-se de costas, congela a meio caminho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0" y="483717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mais grave: correlaciona-se com maus-tratos e trauma relacional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“Apego desorganizado” pertence a protocolo padronizado; a consulta autoriza escrever o observado: “diante do retorno da mãe, aproximou-se de costas e congelou a meio caminho”.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apontar informa pela função: pedir usa o outro como meio; mostrar convida o outro a compartilhar.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QUE PEDE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dedo esticado para o biscoito fora de alcance: um pedido, o outro como ferramenta.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QUE MOSTRA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92240" y="27889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dedo para o avião no céu, seguido do olhar que volta ao rosto do adulto: um convite a compartilhar. É este que falha, e o pedir preservado ao lado do mostrar ausente constitui o sinal.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956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Referenciamento social: diante do ambíguo, a criança consulta o rosto de quem a orienta. A ausência dessa triangulação é achado de peso. Ensine o contraste funcional, não uma idade de corte.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6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cena, conte quantas vezes a criança volta os olhos para o rosto do adulto.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V3 · ATENÇÃO COMPARTILHADA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compartilhada em criança de 12 a 24 meses: apontar que mostra, com checagem do rosto do adulto.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triângulo olho, objeto, olho é o dado: quem mostra divide um mundo; quem só pede usa uma ferramenta.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registro: “apontar imperativo e declarativo presentes; mostrou o brinquedo buscando meu rosto em seguida” ou “aponta para pedir com eficiência; não foi observado apontar para mostrar nem busca do rosto diante do novo”.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6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AFETO E VÍNCULO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escolar o palco muda para os pares, e o critério fino é a reciprocidade das amizades.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1284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48840"/>
            <a:ext cx="98298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mudam de endereço: forma amizades? mantém? que posição no grupo (integrada, isolada, rejeitada, vitimizada, provocadora)? como se comporta na sala e no recreio, e qual a diferença?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3145536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081528"/>
            <a:ext cx="98298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basta nomear amigos: importa se os nomeados a nomeariam de volta. A criança que lista meia turma e não é convidada para nenhum aniversário mostra na assimetria um dado que “você tem amigos?” jamais colheria.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4078224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014216"/>
            <a:ext cx="98298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vínculo com o cuidador muda de forma: a quem recorre sob estresse, o que muda quando o cuidador sai da sala.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4681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4114800" cy="1371600"/>
          </a:xfrm>
          <a:prstGeom prst="roundRect">
            <a:avLst>
              <a:gd name="adj" fmla="val 4667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93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385816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“Boa relação com a mãe.”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4983480"/>
            <a:ext cx="67665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5093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5385816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“Checou o rosto da mãe diante do brinquedo novo e retomou o brincar; ao chamado sem resposta, insistiu e o contato foi refeito; consolou-se no colo em cerca de três minutos.”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6, camada 6 a 12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4754880" cy="402336"/>
          </a:xfrm>
          <a:prstGeom prst="roundRect">
            <a:avLst>
              <a:gd name="adj" fmla="val 18182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10972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janelas para o mesmo objeto: o pensamento se encena no brincar, se diz na linguagem e se estrutura na cognição.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brincar como exame do pensamento · fala, linguagem e comunicação · cognição.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criança desregulada ou insegura não brinca nem fala no seu nível verdadeiro: estes domínios só valem lidos depois dos anteriores.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trajetória do brincar é a régua: sensório-motor, funcional, simbólico; aos quatro anos espera-se enredo.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393192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4041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SENSÓRIO-MOTOR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43891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ano e pouco além: o objeto se bate, se morde, se atira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324612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33558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45152" y="37033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sequência: o objeto usado pelo que serve; o carrinho anda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256032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26700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SIMBÓLICO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2752" y="30175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desponta no 2º ano e floresce: o bloco vira telefone; ganha enredo, papéis, narrativa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0235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Forma: nível (estável ou oscila), sequência, flexibilidade (aceita a proposta e a transforma, ou persevera), riqueza de fantasia. E a inibição lúdica: numa idade em que brincar é o modo natural de estar, a criança que não pode brincar mostra o tamanho do que a ocupa por dentro.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7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Repare no que o objeto vira nas mãos da criança.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V2 · BRINCAR SIMBÓLICO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Brincar simbólico espontâneo em criança de 2 a 4 anos.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o bloco vira telefone, a função simbólica está no lugar: este é o curso e a forma do pré-escolar.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060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registro: “brincar simbólico com papéis e ações encadeadas; aceitou proposta e a transformou com invenção própria”.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7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Agressão no brincar é matéria-prima normal; o sinal é a destruição sem enredo e a cena que se repete sem desfecho.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AGRESSÃO MODULADA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luta de bonecos com enredo, lados e algum desfecho onde a história respira: trabalho psíquico normal.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24028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AGRESSÃO NÃO MODULADA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esmagamento compulsivo sem narrativa, a destruição que não constrói cena, o aniquilamento repetido: um sinal.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645152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Brincar pós-traumático: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repetição compulsiva de um fragmento de cena, idêntica, vez após vez, sem variação, sem desfecho e sem alívio. O brincar comum descarrega e transforma; este acumula. Registra-se a cena, a identidade das repetições, a ausência de desfecho e o afeto durante.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Dentro do brincar fala-se pela cena, não sobre a cena: a pergunta certa é do boneco.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585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9456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Interrogar a criança que brinca derruba o palco: a cada pergunta de adulto ela sai do brincar e entra na entrevista, o dispositivo que não funciona nessa idade. Entre como personagem convidado e proponha de dentro.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21868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15468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 outro no brincar: a criança inclui, cede turnos, sustenta papéis? Ou o brincar é hermético, sem porta de entrada?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1788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11480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restrito: o brincar pode ser rico e aprisionado num único tema que não cede. A riqueza dentro do tema não desfaz a rigidez do tema.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4544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956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24865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“Brincou pouco, brincar estranho.”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4846320"/>
            <a:ext cx="6766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4956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524865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“Brincar simbólico com papéis e três ações encadeadas; repetiu a cena da colisão de forma idêntica quatro vezes, sem desfecho e com face tensa durante.”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7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escolar o jogo de regras assume o posto: a relação com a regra e com a derrota é o dado novo.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585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9456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compreende a regra, aceita, negocia? Ou trapaceia sem registro de transgressão, ou desmorona quando a regra a contraria?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21868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15468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derrota é a frustração em versão socializada, com plateia e adversário: a curva de retorno diante de perder diz do escolar o que a peça que não encaixa dizia do pré-escolar.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1788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11480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desenho vira via paralela (a narrativa gráfica que a criança constrói e comenta) e a conversa assume progressivamente o posto.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4132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brincar não desaparece do exame; passa o bastão em câmera lenta, e a idade escolar é o trecho em que os dois correm juntos.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7, camada 6 a 12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Linguagem pede duas perguntas ao mesmo tempo: ela está onde deveria, e o que o uso dela mostra do psiquismo?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desenvolvimental e a pergunta semiológica: confundi-las produz erro nos dois sentidos, patologizar o atraso simples e perder a alteração no uso.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337560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73552"/>
            <a:ext cx="9829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esperado com folga: primeiras palavras perto do fim do 1º ano, combinações no 2º, frases no 3º; a compreensão sempre à frente da expressão.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325112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261104"/>
            <a:ext cx="9829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fenômenos normativos a defender da patologização: a ecolalia imediata até por volta dos três anos (a criança repete para aprender) e o vocabulário em construção.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8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compreensão se testa retirando as pistas: peça sem apontar e veja o que a linguagem sozinha sustenta.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0428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40280"/>
            <a:ext cx="9829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“que não obedece, que ignora, que é teimosa” pode ser a que não compreende: navega o mundo pelas pistas e não pelas palavras. Retirar as pistas é o exame.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05840" y="344728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383280"/>
            <a:ext cx="9829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ecolalia se pesa pela intenção: quem recruta o script do desenho PARA PEDIR comunica com o material que tem; quem roda o script para ninguém, em circuito autoestimulatório, mostra outra coisa. A mesma ecolalia, duas funções, dois pesos.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937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registro: “compreendeu pedidos sem apoio gestual até dois passos; usou frases prontas de desenho com direção comunicativa (para pedir)”.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8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pragmática pesa mais que a estrutura: a criança que fala muito e comunica pouco é o achado central do domínio.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688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hierarquia que corrige o inventário: primeiro a FUNÇÃO (a linguagem serve para compartilhar com alguém?), depois a COMPREENSÃO (o que ela entende sem pistas?), e só então a ESTRUTURA (vocabulário, sintaxe, articulação).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931920"/>
            <a:ext cx="82296" cy="7772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7822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TROPEÇO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nota alta ao vocabulário e perder a pragmática deserta: o discurso unidirecional que não registra o interlocutor, o mal-entendido que nunca se repara. A estrutura preservada sem função é o pior sinal do domínio.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4773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4114800" cy="1280160"/>
          </a:xfrm>
          <a:prstGeom prst="roundRect">
            <a:avLst>
              <a:gd name="adj" fmla="val 5000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84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5477256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“Fala bem para a idade.”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5074920"/>
            <a:ext cx="67665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5184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5477256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“Frases completas e vocabulário amplo; discurso unidirecional sobre o tema de interesse, sem ajuste ao interlocutor; não acompanhou duas tentativas de mudança de assunto.”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8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mutismo seletivo é discrepância contextual, não timidez nem déficit; e diante dele não se pressiona a fala.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Fluente em casa, muda na escola e no consultório: a linguagem existe, o contexto a bloqueia. A fala em casa prova o instrumento intacto; a topografia do silêncio é o dado.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4015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33756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pressão pela fala consolida o que se quer desfazer e suja o exame: a criança muda continua oferecendo psicomotricidade, afeto, brincar, díade. O silêncio não é exame que falhou; é dado que chegou.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45312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389120"/>
            <a:ext cx="9829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6 a 12: peça uma narrativa (o filme, o episódio, o dia) e examine a contação: começo, meio e fim, encadeamento, referências que se sustentam. Numa tarefa de três minutos, o curso, a coesão e a pragmática de uma vez.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8, camada 6 a 12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pré-escolar a cognição se lê no brincar; no escolar começa a se deixar testar, com instrumento calibrado pela idade.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539496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5 · NADA DE TAREFA FORMAL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e efeito (repete o gesto que funcionou), resolução de problemas (varia a estratégia ou repete a ação fracassada), função simbólica, compreensão de instruções sem pistas.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240280"/>
            <a:ext cx="539496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 12 · TESTÁVEL, COM CALIBRAÇÃO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pelas âncoras da idade (escola, série, professora, turno), memória de trabalho pela instrução de múltiplos passos, dígitos com norma conferida em manual, nunca de memória.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9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O PENSAR E O SIMBOLIZAR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Concretismo aos nove anos não é sinal, é a idade: o achado fabricado pelo instrumento errado é o mais evitável dos erros.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1284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48840"/>
            <a:ext cx="98298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escolar pensa concretamente: opera sobre o real, o presente, o manipulável. O provérbio ao pé da letra, a semelhança pelo uso (“as duas se comem”) é a idade pensando como a idade pensa.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3108960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044952"/>
            <a:ext cx="98298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Provérbios e semelhanças abstratas antes da adolescência não medem patologia: medem a idade. Antes de registrar déficit, a pergunta obrigatória: o instrumento mede algo que a idade já deveria ter?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4005072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941064"/>
            <a:ext cx="98298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Cognição se conclui por eliminação: o desempenho é rebaixado pela desregulação, pela ansiedade, pela desatenção, pelo não compreender. Só o exame dos outros domínios diz qual falhou.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4636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4114800" cy="1371600"/>
          </a:xfrm>
          <a:prstGeom prst="roundRect">
            <a:avLst>
              <a:gd name="adj" fmla="val 4667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47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340096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“Concretismo.”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4937760"/>
            <a:ext cx="67665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5047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5340096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“Semelhanças respondidas pelo uso, compatível com a idade; instrução de três passos executada até o segundo; resolução de problemas por tentativa e erro com mudança de estratégia.”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9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4754880" cy="402336"/>
          </a:xfrm>
          <a:prstGeom prst="roundRect">
            <a:avLst>
              <a:gd name="adj" fmla="val 18182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O TESTE, O JUÍZO E O QUE SE APURA POR ÚLTIMO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10972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domínios que no adulto dependem do relato são os que mais recuam na criança; e o risco ganha capítulo próprio.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Sensopercepção · consciência do eu · juízo, insight e risco · os domínios de completude.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o que se observa, depois o que se pergunta, e a pergunta sempre calibrada pela idade.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TESTE, JUÍZO E RISCO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fronteira entre o percebido e o imaginado é porosa por construção: monstro, amigo imaginário e figuras do sono são norma.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monstro embaixo da cama é visto com a convicção de uma mente que ainda não selou a fronteira entre o dentro e o fora; não é convicção alucinatória.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35584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91840"/>
            <a:ext cx="9829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amigo imaginário conversa e responde: função simbólica em exercício; perguntada com calma, a criança frequentemente diz que é “de brincadeira”.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36168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297680"/>
            <a:ext cx="9829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figuras do adormecer e do despertar são fenômenos do sono, em qualquer idade. E mesmo no escolar, experiências simples e transitórias (o nome chamado, o vulto) são relativamente comuns e de baixo valor preditivo isoladas.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4864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frase que calibra o domínio: na infância, a experiência perceptiva atípica isolada é um achado a registrar e acompanhar, quase nunca um diagnóstico a fazer.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10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TESTE, JUÍZO E RISCO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pergunta que planta colhe alucinação falsa: registre a atitude observada e pergunte aberto, tarde e sem sugestão.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TRILHO 1 · O OBSERVADO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atitude alucinatória: parar e olhar fixo o ponto vazio, voltar-se ao som que não houve, sussurrar para o nada. Registra-se com hora e contexto, mesmo que a criança negue; descrito como observado, não promovido a alucinação.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24028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TRILHO 2 · A PERGUNTA (escolar)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aberta, tardia, sem sugestão: “tem alguma coisa que seus ouvidos ou seus olhos fazem que te incomoda?”. A criança escolar é melhor fonte que os pais para as próprias experiências perceptivas.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4681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4114800" cy="1371600"/>
          </a:xfrm>
          <a:prstGeom prst="roundRect">
            <a:avLst>
              <a:gd name="adj" fmla="val 4667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93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385816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“Alucinações visuais (refere ver monstros).”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4983480"/>
            <a:ext cx="67665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5093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5385816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“Relata monstro embaixo da cama à noite, com medo proporcional e crítica parcial (“de dia ele não existe”); sem atitude alucinatória observada na consulta.”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10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TESTE, JUÍZO E RISCO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eu se examina pela trajetória: primeiro nominal e corporal, depois interior, depois capaz de integrar contradições.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6829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PRÉ-ESCOLAR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26080" y="2368296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 nome e depois os pronomes (o “eu” no 3º ano); descreve-se pelo físico e pelo que faz; inclui-se no desenho da família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1985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 9 ANOS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3419856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eu ganha interior: traços psicológicos (“sou tímido”), a comparação com os pares como régua de si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7141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 12 ANOS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26080" y="4471416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contradições (“quieto na escola, em casa não”); autoestima que já não depende do último evento; vergonha e culpa encontram o dono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5961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 do desenvolvimento: pronomes que não chegam, inversão pronominal persistente, não se reconhecer agente. A criança que sistematicamente se desenha fora da família oferece um dado que nenhuma pergunta colheria.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11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TESTE, JUÍZO E RISCO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fala da criança sobre si é espécime: colhe-se intacta, entre aspas; a paráfrase joga fora o que importava.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Autodesvalorização global: não o “fui mal na prova”, mas “eu sou burro”, “ninguém gosta de mim”: a atribuição que saltou do evento para a identidade.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05840" y="321868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154680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Desamparo aprendido: “não adianta tentar”, dito com a tranquilidade de quem constata.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05840" y="40873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023360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achados de exame, não desabafos a consolar e esquecer. E o mais barato de colher: basta não interromper.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4544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4114800" cy="1371600"/>
          </a:xfrm>
          <a:prstGeom prst="roundRect">
            <a:avLst>
              <a:gd name="adj" fmla="val 4667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956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248656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“Baixa autoestima.”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4846320"/>
            <a:ext cx="67665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4956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5248656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“Sobre si, espontaneamente: “eu sou burro, todo mundo termina e eu não”; localiza o problema em si mesmo.”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11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TESTE, JUÍZO E RISCO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juízo se mostra no entrar e sair do faz de conta; o insight da infância é o desconforto e a noção do motivo.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realidade pela via indireta: a criança que entra e sai do faz de conta sabe, ao sair, que era faz de conta.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2644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004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delírio merece uma linha: raro e rudimentar na criança, não sistematizado; quando um juízo francamente falso e inabalável aparece, a primeira investigação é orgânica.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1788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1148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sem pergunta madura: o desconforto (a criança que sofre e estranha a própria experiência) e a noção do motivo: “você sabe por que veio aqui hoje?”. O leque de respostas gradua o domínio.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50932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50292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escolar, soma-se a atribuição: o problema é dela, dos outros, de ninguém. Essa localização pesa para o tratamento que virá.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12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TESTE, JUÍZO E RISCO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se pergunta a sós, direto e sem eufemismo: perguntar não semeia a ideia; o silêncio deixa a criança sozinha.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da idade escolar, a própria criança é frequentemente a ÚNICA fonte da ideação: os pais, via de regra, não sabem. Isso, sozinho, justifica o momento a sós.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35584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91840"/>
            <a:ext cx="9829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momento a sós se propõe como rotina, não como suspeita, com enquadre honesto sobre o que pode e o que não pode ficar só entre os dois.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36168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297680"/>
            <a:ext cx="9829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Pergunta-se diretamente, com palavras simples. A evidência é tranquilizadora e deve ser dita com todas as letras: perguntar sobre ideação de morte não planta a ideia.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532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que já pensava nisso frequentemente sente alívio com a pergunta: alguém abriu a porta que ela não sabia abrir.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12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TESTE, JUÍZO E RISCO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se documenta na presença e na ausência: ideia, plano, intenção, meios, tentativas, preparativos, ou a negativa minuciosa.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585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9456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exame que não menciona risco não o descartou: apenas não o examinou. Em criança com sofrimento relevante, é prontuário incompleto.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31729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10896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presente: ideia passiva ou ativa, plano, intenção, acesso aos meios, tentativas prévias (o preditor estável mais forte) e preparativos (o preditor agudo mais grave).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40873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02336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Autolesão sem intenção de morte distingue-se da tentativa: funções diferentes, condutas diferentes; “o que você sente antes? e depois?” é parte do exame. Heteroagressividade pela mesma disciplina.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4681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4114800" cy="1325880"/>
          </a:xfrm>
          <a:prstGeom prst="roundRect">
            <a:avLst>
              <a:gd name="adj" fmla="val 4828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93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385816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“Sem alterações.”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4983480"/>
            <a:ext cx="67665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5093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5385816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“Perguntado diretamente a sós: nega pensamentos de morte ou de se machucar, hoje e antes; sem tentativas prévias segundo ele e a mãe; pele exposta sem lesões.”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12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TESTE, JUÍZO E RISCO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campos fecham a súmula em poucas linhas: vígil, orientado contra quê, memória ecológica e a autonomia da idade.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7685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CONSCIÊNCIA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86200" y="2276856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vígil e alerta é o esperado; qualquer coisa diferente é bandeira orgânica: não espera, investiga-se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5409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86200" y="3054096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pelas âncoras da idade, e o registro diz contra o quê: “orientada quanto a escola, série e período”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3133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86200" y="3831336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ecológica: a instrução de passos, a narrativa do fim de semana, o nome do dinossauro batizado na consulta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0857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PRAGMATISMO E INTELIGÊNCIA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86200" y="4608576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criança faz o que a idade dela faz? perda de autonomia conquistada é regressão; inteligência entra como impressão de compatibilidade, nunca medida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5230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4114800" cy="914400"/>
          </a:xfrm>
          <a:prstGeom prst="roundRect">
            <a:avLst>
              <a:gd name="adj" fmla="val 7000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641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93445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“Orientado.”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5532120"/>
            <a:ext cx="67665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5641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593445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“Orientado quanto a escola, série, professora e turno; errou o dia do mês, sem valor na idade.”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II, Domínio 13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4754880" cy="402336"/>
          </a:xfrm>
          <a:prstGeom prst="roundRect">
            <a:avLst>
              <a:gd name="adj" fmla="val 18182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· A INTEGRAÇÃO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10972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Colher domínios não é o difícil; o difícil é amarrá-los num retrato: a síntese interpreta, obrigatoriamente e com lastro.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“descrever antes de interpretar” não proíbe a interpretação; ela a agenda.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é o antes; a síntese é o depois. Interpretar sem lastro é chutar com vocabulário técnico.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síntese não é resumo nem diagnóstico: as duas falhas simétricas que matam o retrato.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48840"/>
            <a:ext cx="539496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SÍNTESE-RESUMO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os domínios em sequência; justapõe, não integra.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sinal: pode-se embaralhar a ordem das frases sem perder nada.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9496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SÍNTESE-DIAGNÓSTICO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 para o rótulo e abandona o observado.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sinal: as frases já não citam nada que se viu; citam categorias.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1206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fronteira: a síntese deve continuar verdadeira mesmo que a hipótese diagnóstica mude na consulta seguinte, porque descreve o que se viu, não o que se concluiu.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III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retrato se organiza em torno de um achado organizador, eleito por severidade, generalização, natureza e convergência.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organizador: aquele em torno do qual os demais se arrumam e fazem sentido juntos. O mesmo conjunto pode ser hierarquizado de formas diferentes: a síntese é uma leitura DEFENDIDA, não a única possível.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374136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310128"/>
            <a:ext cx="9829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critérios: severidade; generalização entre contextos; natureza do desvio (dissociação, regressão e inflexibilidade elegem organizadores acima de qualquer atraso quantitativo); convergência de fontes.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398264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334256"/>
            <a:ext cx="9829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síntese fica o ruído normativo: o que é da idade não entra no retrato como achado, e a coragem de deixar fora é metade da elegância.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III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solda entre domínios carrega um compromisso calibrado: descreve, sugere, é compatível com, levanta a hipótese de.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266090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2660904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871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zero: enuncia o observado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2424" y="2286000"/>
            <a:ext cx="266090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2286000"/>
            <a:ext cx="2660904" cy="9601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24871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9584" y="30632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uma leitura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2286000"/>
            <a:ext cx="266090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2286000"/>
            <a:ext cx="2660904" cy="128016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24871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COMPATÍVEL COM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3368" y="30632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 uma categoria sem fechá-la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9992" y="2286000"/>
            <a:ext cx="266090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9992" y="2286000"/>
            <a:ext cx="2660904" cy="16002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9" name="Text 17"/>
          <p:cNvSpPr/>
          <p:nvPr/>
        </p:nvSpPr>
        <p:spPr>
          <a:xfrm>
            <a:off x="9217152" y="24871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A HIPÓTESE 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17152" y="30632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 a investigação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4074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escrita é um fio: parte do organizador, e os demais achados entram conectados a ele. Cada “somada a”, cada “à luz de” é uma solda; a síntese boa tem mais soldas que vírgulas.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5394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pré-escolar a síntese é estruturalmente relacional: um pré-escolar sintetizado sem uma linha sobre o par foi sintetizado pela metade.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III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rubrica “sem alterações” não descreve criança nenhuma; a síntese do normal é a prova final da disciplina.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875">
            <a:solidFill>
              <a:srgbClr val="E96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“Explorou a sala com iniciativa e checou a mãe ao encontrar o brinquedo novo; sustentou faz de conta com enredo e me incluiu nele; frustrou-se ao guardar os brinquedos e reorganizou-se em minutos com apoio verbal. Exame compatível com o esperado para a idade, sem achados que demandem seguimento.”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SEIS PASSOS DA SÍNTESE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3593592" cy="749808"/>
          </a:xfrm>
          <a:prstGeom prst="roundRect">
            <a:avLst>
              <a:gd name="adj" fmla="val 853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3342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risque o ruído normativo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4206240"/>
            <a:ext cx="3593592" cy="749808"/>
          </a:xfrm>
          <a:prstGeom prst="roundRect">
            <a:avLst>
              <a:gd name="adj" fmla="val 853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43342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eleja o organizador (e defenda-o)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4206240"/>
            <a:ext cx="3593592" cy="749808"/>
          </a:xfrm>
          <a:prstGeom prst="roundRect">
            <a:avLst>
              <a:gd name="adj" fmla="val 853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43342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subordine os secundários, conectados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3593592" cy="749808"/>
          </a:xfrm>
          <a:prstGeom prst="roundRect">
            <a:avLst>
              <a:gd name="adj" fmla="val 853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520293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calibre o compromisso de cada solda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5074920"/>
            <a:ext cx="3593592" cy="749808"/>
          </a:xfrm>
          <a:prstGeom prst="roundRect">
            <a:avLst>
              <a:gd name="adj" fmla="val 853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9704" y="520293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escreva a ressalva e encomende a próxima consulta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1584" y="5074920"/>
            <a:ext cx="3593592" cy="749808"/>
          </a:xfrm>
          <a:prstGeom prst="roundRect">
            <a:avLst>
              <a:gd name="adj" fmla="val 853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520293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cada frase aponta para algo registrado?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III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4754880" cy="402336"/>
          </a:xfrm>
          <a:prstGeom prst="roundRect">
            <a:avLst>
              <a:gd name="adj" fmla="val 18182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IV · OS DOIS EXAMES DE BENTO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10972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mesmo menino aos 4 e aos 9: a régua anda, os domínios trocam de peso e o exame diz, nas duas vezes, o quanto sabe.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091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exame em quatro tempos: a cena, o exame narrativo por extenso, a súmula e a anotação de por que a síntese ficou assim.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65960"/>
            <a:ext cx="12188952" cy="3977640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65960"/>
            <a:ext cx="128016" cy="39776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 · BENTO, 4 ANOS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Bento, 4 anos e 2 meses, entra na frente da mãe, varre a sala com o olhar e vai direto aos carrinhos.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Trazido pela mãe por “agitação e birras que não melhoram”. Consulta às 9h30, dormiu bem. Ao longo de cinquenta minutos: brinca, muda de brinquedo com frequência, monta duas cenas curtas de faz de conta, inclui o examinador numa delas, frustra-se duas vezes (a peça que não encaixa; o fim da consulta), chora na segunda, aceita o colo da mãe e se reorganiza nele.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724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narrada ao vivo · script nas notas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exame narrativo mostra o como: prosa em primeira pessoa, com as condições da amostra na porta.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1106424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04288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“Recebi Bento e a mãe às 9h30; a mãe informa noite de sono habitual. (...) Moveu-se muito durante toda a consulta, quase sempre com direção, embora raramente permanecesse mais de três ou quatro minutos numa mesma atividade, inclusive nas que visivelmente o interessavam. (...) O brincar alcançou o simbólico: montou uma cena de posto de gasolina com papéis, e me incluiu na cena. As cenas, porém, foram curtas: desfaziam-se por migração do interesse. (...) Ao anúncio do fim da consulta, chorou com força; buscou o colo da mãe por iniciativa própria e reorganizou-se nele em cerca de três minutos. O colo funcionou. (...) Num pedido de três passos, executou os dois primeiros e perdeu o terceiro.”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669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em voz alta, apontando cada tradução usada. Texto integral nas notas deste slide.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IV, Caso A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súmula e a anotação: a sustentação curta virou organizadora porque três domínios independentes convergiram nela.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e atenção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2331720"/>
            <a:ext cx="8458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sustentada por 3 a 4 min, inclusive no interesse; consolabilidade plena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Brincar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971800"/>
            <a:ext cx="8458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simbólico com papéis e turnos, flexível; cenas curtas desfeitas por migração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118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611880"/>
            <a:ext cx="8458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compreensão sem pistas até dois passos; perdeu o terceiro de três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519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251960"/>
            <a:ext cx="8458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contingência, corregulação eficaz, reparação espontânea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4892040"/>
            <a:ext cx="8458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íntegros em torno de sustentação curta; variação a observar; reavaliar com relato escolar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6875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anotação: o ruído normativo saiu (atividade dirigida, birra com retorno eficaz); a convergência entre atenção, brincar e memória de trabalho elegeu o organizador; o compromisso ficou no mínimo honesto; nenhuma sigla.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IV, Caso A (súmula completa nas notas e no roteiro)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55448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Bento cresceu, entrou na escola, e cinco anos depois a mãe volta: as notas caem, a escola reclama, e ele anda dizendo que é burro.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45720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paciente começa a falar, o que muda no exame? Quase tudo, e quase nada.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65960"/>
            <a:ext cx="12188952" cy="3977640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65960"/>
            <a:ext cx="128016" cy="39776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 · BENTO, 9 ANOS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Bento, 9 anos e 7 meses, senta antes de ser convidado e rói as unhas até o leito; a consulta é às 16h de um dia de aula.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Retorna cinco anos e meio depois: notas caindo desde o ano passado, reclamações da escola (“não para, não termina nada”), brigas com colegas, e “ele anda dizendo que é burro”. Entra atrás da mãe, cumprimenta baixo, senta e mexe nas mãos. Colabora toda a consulta. Vinte minutos a sós com ele, com enquadre combinado. A mãe complementa ao final; relatório da escola disponível.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724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narrada ao vivo · script nas notas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sós, com enquadre combinado, Bento entrega o que nenhum adulto sabia; o exame registra textual e minucioso.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1106424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04288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sós, com o enquadre combinado (o que conversamos é dele, exceto o que envolver segurança), Bento falou da escola com as palavras que registro textuais: ‘eu sou burro mesmo, todo mundo termina e eu não’, e adiante, ‘eu estrago tudo, até no futebol eu estragava’. Perguntei diretamente sobre pensamentos de morte. Respondeu, após pausa: ‘às vezes eu penso que era melhor eu sumir, aí ninguém ia ficar bravo comigo’. Explorei com calma: o pensamento vem ‘quando a professora briga’ ou depois das notas, não todo dia; nunca pensou em um jeito; nega intenção, nega qualquer tentativa ou preparo, nega autolesão; pele sem lesões. Perguntado se algum adulto sabe desses pensamentos, disse que não, ‘só você agora’. Combinamos juntos como isso seria dito à mãe.”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669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afeto apagava quando a escola entrava e acendia no videogame; “não sei... normal” com a expressão dizendo menos que isso. Texto integral nas notas.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IV, Caso B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súmula e a anotação: o organizador aqui é um circuito, e nenhum elo depende de uma fonte só.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21214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146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SUSTENTAÇÃO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88336" y="2670048"/>
            <a:ext cx="155448" cy="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52928" y="2286000"/>
            <a:ext cx="21214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25146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FRACASSO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92624" y="2670048"/>
            <a:ext cx="155448" cy="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57216" y="2286000"/>
            <a:ext cx="212140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25146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AUTOCONCEITO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96912" y="2670048"/>
            <a:ext cx="155448" cy="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61504" y="2286000"/>
            <a:ext cx="2121408" cy="777240"/>
          </a:xfrm>
          <a:prstGeom prst="roundRect">
            <a:avLst>
              <a:gd name="adj" fmla="val 8235"/>
            </a:avLst>
          </a:prstGeom>
          <a:solidFill>
            <a:srgbClr val="DDC9E3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504" y="25146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0" y="2670048"/>
            <a:ext cx="155448" cy="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65792" y="2286000"/>
            <a:ext cx="2121408" cy="777240"/>
          </a:xfrm>
          <a:prstGeom prst="roundRect">
            <a:avLst>
              <a:gd name="adj" fmla="val 8235"/>
            </a:avLst>
          </a:prstGeom>
          <a:solidFill>
            <a:srgbClr val="DDC9E3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65792" y="251460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5840" y="3493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3429000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os achados se ordenam causalmente entre si, a hierarquia da síntese pode adotar essa ordem: o retrato ganha direção.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05840" y="436168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4297680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com tratamento de regra dura: minucioso no positivo (passiva, reativa, sem plano, intenção, meios, tentativa), a novidade nomeada (“desconhecida dos adultos”), a ponte de conduta combinada COM a criança.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523036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5166360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compromisso subiu um degrau (“compatível com sintomas depressivos em instalação”) porque a convergência de fontes autoriza mais; e ainda assim nenhuma sigla fechou, porque síntese não é hipótese.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90702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exames lado a lado são o livro em miniatura: a mesma criança, a régua que andou, os domínios que trocaram de peso.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IV, Caso B (súmula completa nas notas e no roteiro)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mesma observação tem duas saídas: a súmula diz o quê com parâmetro; o narrativo mostra o como com a cena.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SÚMULA (lista, 3ª pessoa)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à completude (o buraco fica visível), à leitura rápida (o plantão acha o risco em cinco segundos) e à comparabilidade entre consultas.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“Atenção: sustentada por 3 a 4 minutos em atividade de interesse; abandona ao primeiro obstáculo sem retornar.”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24028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NARRATIVO (prosa, 1ª pessoa)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2816352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criança, sustenta a síntese e carrega o valor longitudinal e médico-legal.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“Sustentou cada brincadeira por três, quatro minutos, mesmo as que o entusiasmavam; diante da primeira peça que não encaixou, largou a torre e mudou de canto, e não voltou a ela.”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1023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dois é “mais completo”: são lentes. A escolha é a pergunta “quem vai ler isto, e para quê?” respondida antes de escrever.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V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disciplinas atravessam os dois formatos: fonte, aspas, contra-quê, risco nos dois sentidos, condições da amostra.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 EM CADA DADO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233172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observou-se; a criança disse; segundo a mãe; conforme o relatório. A divergência entre fontes registra-se como achado.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26664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1810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FALA TEXTUAL ENTRE ASPAS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3118104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fala espontânea da criança sobre si é espécime: colhe-se intacta.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813048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0448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CONTRA-QUÊ DE CADA CAMPO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390448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“orientada quanto a escola, série e turno”, nunca “orientada” solta. Achado sem parâmetro não se compara com o de amanhã.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99432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9087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NOS DOIS SENTIDOS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469087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minuciosa, ausência explícita. Campo vazio não é risco descartado.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85816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47725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CONDIÇÕES DA AMOSTRA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5477256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hora, o sono, o dia de escola, quem estava na sala. O fotograma sem legenda mente por omissão.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V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Onze perguntas fecham o exame: o checklist que transforma o residente no seu próprio primeiro crítico.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6771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cada achado passou pela norma da idade e pela pergunta “que tipo de desvio”?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26771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 que é da idade ficou fora da impressão?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71216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4436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cada dado tem fonte, e as divergências viraram dado?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871216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94436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 fala da criança sobre si está textual, entre aspas?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21024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cada campo tem seu contra-quê e seu parâmetro?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3547872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621024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o risco está documentado, na presença ou na ausência?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97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as condições da amostra estão na introdução?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4224528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297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a díade foi lida (e, no escolar, os pares e a escola)?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901184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974336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a impressão tem organizador defensável, ou é lista que se embaralha?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4901184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974336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o compromisso de cada frase está calibrado ao lastro?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544068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8A65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65099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 última frase aponta o que a próxima consulta precisa observar?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5577840"/>
            <a:ext cx="5394960" cy="576072"/>
          </a:xfrm>
          <a:prstGeom prst="roundRect">
            <a:avLst>
              <a:gd name="adj" fmla="val 11111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56875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exame que responde sim a todas está pronto.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V, checklist de autoavaliação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criança, o exame psíquico é o que se observa, não o que se ouve; e observar é interpretar sob disciplina.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054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discurso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92040" y="2697480"/>
            <a:ext cx="914400" cy="0"/>
          </a:xfrm>
          <a:prstGeom prst="line">
            <a:avLst/>
          </a:prstGeom>
          <a:noFill/>
          <a:ln w="31750">
            <a:solidFill>
              <a:srgbClr val="E9603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0" y="228600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E96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25054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brincar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indivíduo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92040" y="3657600"/>
            <a:ext cx="914400" cy="0"/>
          </a:xfrm>
          <a:prstGeom prst="line">
            <a:avLst/>
          </a:prstGeom>
          <a:noFill/>
          <a:ln w="31750">
            <a:solidFill>
              <a:srgbClr val="E9603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0" y="324612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E96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4655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díade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4256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 fixa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92040" y="4617720"/>
            <a:ext cx="914400" cy="0"/>
          </a:xfrm>
          <a:prstGeom prst="line">
            <a:avLst/>
          </a:prstGeom>
          <a:noFill/>
          <a:ln w="31750">
            <a:solidFill>
              <a:srgbClr val="E9603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420624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E96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44256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da idade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5138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não mudou: vocês acabaram de fazer o exame inteiro que já sabiam, em outra língua. O resto (os domínios, os formatos, os Bentos) foi a disciplina, mostrada em funcionamento.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fecho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Aos 12 o corpo muda e o exame muda de novo: a sós vira a regra e a confidencialidade vira contrato; a próxima aula assume.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371600" cy="41148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DA AULA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Exame Psíquico da Criança, livro do professor (edição consolidada, com os quatro apêndices).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guia do curso: Cheniaux, Manual de Psicopatologia.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Apêndices (a seguir, numeração contínua): 1 o lactente · 2 a coreografia da consulta · 3 a anatomia do episódio agressivo · 4 o mapa rápido dos domínios. Roteiro de estudo completo na plataforma.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Diego Alves Rosa · Psiquiatria Prática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1 · O LACTENTE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Honestidade de escopo: as camadas 0 a 5 desta aula operam do pré-escolar em diante; o lactente tem semiologia própria.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exame do lactente (0 a 2 anos): os estados do bebê e suas transições, a regulação fisiológica (sono, alimentação, choro) como primeiro texto psíquico, a interação face a face e a protoconversa, a díade em escala de segundos.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05840" y="353872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474720"/>
            <a:ext cx="9829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aula toca essa semiologia onde ela desemboca no pré-escolar (corregulação, apontar, pêndulo exploração e retorno), mas não a desenvolve: ela pede material próprio, e um remendo a serviria mal.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Apêndice 1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1 · O LACTENTE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Diante do lactente, boa parte da lente já funciona: aparência, regulação de estado e a díade, que é quase o exame inteiro.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aparência e os sinais de cuidado leem-se desde o primeiro dia de vida.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05840" y="32644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004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regulação de estado e a reatividade sensorial são exatamente o exame do bebê.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05840" y="41788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1148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sintonia, a contingência, a corregulação e a reparação observam-se aos seis meses tanto quanto aos quatro anos, apenas em ciclos mais curtos.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05840" y="50932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5029200"/>
            <a:ext cx="9829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não existe (o brincar simbólico, a linguagem, o eu que se nomeia) não se registra como ausente: registra-se como ainda não esperado. É a terceira tradução aplicada ao seu limite inferior.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Apêndice 1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2 · COREOGRAFIA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coreografia organiza o que se propõe, não o que se observa: a consulta não é um roteiro de estações.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domínios chegam misturados o tempo todo: o afeto atravessa a frustração, a díade atravessa a despedida, a linguagem atravessa tudo. O exame é a disciplina de, depois, arquivar cada coisa vista no campo certo. O que a coreografia ordena é só o que o examinador PROPÕE, e quando; o que ele OBSERVA não tem hora.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5262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transforma esta página num roteiro de estações perdeu o espírito; quem a usa como ordem de propostas ganhou uma consulta que rende.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Apêndice 2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2 · COREOGRAFIA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abertura pertence à observação livre; o brincar livre antecede o dirigido; a frustração vai para o meio.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observação começa antes da sala: o trajeto da sala de espera já entregou a entrada, quem conduz quem, o explorar e orbitar. Os primeiros dez, quinze minutos deliberadamente não propõem nada: conversa-se com o cuidador enquanto se lê a criança pelo canto do olho. O que ela faz sem proposta é um dado que a primeira proposta apaga para sempre.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3493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429000"/>
            <a:ext cx="9829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depois de ver o que a criança faz sozinha se entra na cena, pela porta que ela abriu, como personagem convidado. A proposta testa a flexibilidade; a entrada testa o uso do outro; a ordem protege os dois dados.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4636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572000"/>
            <a:ext cx="9829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pequena frustração deliberada precisa de aliança para ser tolerada e de minutos pela frente para a curva de retorno inteira. Plantada aos cinco minutos, mede o estranhamento, não a regulação.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Apêndice 2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2 · COREOGRAFIA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tarefas estruturadas fecham; o momento a sós mora na segunda metade; a despedida é a última prova.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tarefas estruturadas entram no último terço, porque cognição se conclui por eliminação: o desempenho colhido antes de conhecer a regulação e a linguagem atribui à cognição o que pertence aos outros.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3493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429000"/>
            <a:ext cx="9829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momento a sós: depois do aquecimento, antes do fechamento, proposto como rotina (“a parte em que converso um pouquinho só com ele, como faço com todo mundo”). Nunca nos últimos cinco minutos, com a mão na maçaneta: se algo aparecer, precisa haver tempo para combinar com a criança como aquilo chega ao cuidador ainda hoje.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4636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4572000"/>
            <a:ext cx="9829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anúncio do fim é a mais previsível das frustrações, e o que a criança faz com ela (protesto, negociação, colapso, saída fluida) é o último dado, colhido quando o examinador desavisado já guardou o caderno.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Apêndice 2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3 · EPISÓDIO AGRESSIVO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episódio agressivo se decompõe em cinco tempos observáveis: antecedente, escalada, forma, interrupção e o depois.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40280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500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54680" y="235000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 imediatamente antes, presenciado ou relatado com fonte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26664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363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54680" y="31363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 rampa legível ou o ato saltou do zero? Dos dados mais informativos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813048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227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392277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(a quem, a quê) ou difuso; breve ou sustentado; com força graduada ou sem freio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99432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709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INTERRUPÇÃO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54680" y="47091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cessou sozinho, com mudança da situação ou só por contenção; em quanto tempo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85816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4955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DEPOIS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54680" y="549554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 e reparação, esconder-se, indiferença, abatimento, alívio: diz tanto quanto o episódio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Apêndice 3 (complemento ao Domínio 12)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3 · EPISÓDIO AGRESSIVO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padrão entre episódios é dado por direito próprio: o mapa dos contextos descreve três crianças diferentes.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5000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9829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frequência, e sobretudo onde a agressão ocorre e onde NUNCA ocorre: a que só existe na escola, a que só existe em casa e a que atravessa todos os cenários são três crianças diferentes.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355848"/>
            <a:ext cx="201168" cy="20116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291840"/>
            <a:ext cx="9829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episódio é relatado, as mesmas cinco perguntas se fazem às fontes; a divergência (a escola descreve rampa, a mãe descreve o salto) registra-se como dado.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133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REGISTRO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4114800" cy="1783080"/>
          </a:xfrm>
          <a:prstGeom prst="roundRect">
            <a:avLst>
              <a:gd name="adj" fmla="val 3590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837176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“Agressivo, sem controle.”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4434840"/>
            <a:ext cx="67665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4837176"/>
            <a:ext cx="6309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“Segundo a mãe, diante da negativa do videogame: tensão crescente por cerca de um minuto, verbalização de raiva, depois arremesso do controle contra a parede; cessou sozinho em instantes; procurou a mãe chorando e pediu desculpa. Na escola, conforme relatório, episódios sem rampa descrita, dirigidos a um mesmo colega.”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Apêndice 3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4 · MAPA RÁPIDO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mapa rápido é o índice de trabalho dos domínios, para a véspera de aula e a mão do residente (1 a 7).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  <a:gridCol w="4297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TROPEÇO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Aparência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nutrição, idade aparente, dismorfias, higiene, lesões (topografia neutra)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no descuido a criança, quando ele mede o sistema de cuidado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Atitude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entrada, relação com o estranho, transições; os olhos durante a imobilidade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elogiar a criança “fácil demais”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Psicomotricidade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 versus direção; coordenação; estereotipias e tiques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chamar de hiperatividade a vitalidade da 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Autorregulação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tranquilo, reatividade sensorial, sustentação no interesse, curva da frustração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a distratibilidade normativa como déficit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Afeto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qualidade, amplitude, mobilidade, congruência; a cor do afeto; consolabilidade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“afeto preservado” por um sorriso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Díade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sintonia, contingência, corregulação, reparação; pêndulo; no escolar, reciprocidade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tirar o cuidador da sala para examinar a criança “limpa”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Brincar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(nível, sequência, flexibilidade) e conteúdo (temas, repetição sem desfecho)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interrogar a criança que brinca (a pergunta certa é do boneco)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Apêndice 4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4 · MAPA RÁPIDO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mapa rápido, segunda metade (8 a 13): da linguagem aos domínios de completude.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114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TROPEÇO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Linguagem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antes da estrutura; compreensão sem pistas; prosódia; intenção da ecolalia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 nota alta ao vocabulário e perder a pragmática deserta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Cognição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pré-escolar, causa e efeito no brincar; no escolar, passos, âncoras, dígitos com 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falso concretismo (testar abstração em quem ela não chegou)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Sensopercepção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atitude alucinatória (vale mais que a resposta); pergunta aberta e tardia; o cortejo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pergunta que planta (“você vê coisas?”)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Consciência do eu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marcos do eu pela idade; a fala espontânea sobre si, textual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parafrasear (“baixa autoestima”) o que devia ir entre aspas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Juízo, insight, risco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de realidade no brincar; noção do motivo; risco a sós, direto, presença E ausência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campo de risco em branco por medo de perguntar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Completude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vígil e estável; orientação com contra-quê; memória ecológica; autonomia da 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“orientado” sem referência: campo vazio fingindo estar cheio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Apêndice 4 · fim do deck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5 · DITO SIMPLES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a turma travar na moldura, diga simples: a garrafa e o conteúdo, a perna que não acompanha, o laboratório de situações.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vs conteúdo do brincar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2304288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ela brinca é a garrafa; DO QUE ela brinca é o que está dentro. Examine os dois, um de cada vez.”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7355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dissociação · regressão · inflexibilidade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3273552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“uma perna cresce e a outra não; andar para trás depois de já ter andado para frente; o botão emperrado que só tem uma posição.”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3308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4281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e observar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4242816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consulta é um laboratório de situações pequenas (um brinquedo, uma separação, uma frustração), não um questionário.”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0235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2120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antes de interpretar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5212080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“primeiro a fotografia, depois a legenda. Legenda sem fotografia é chute com vocabulário técnico.”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 (analogias de apoio; a definição é a do livro)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5 · DITO SIMPLES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vínculo em analogias de uma linha: a carta respondida, o freio emprestado, a queda notada, o posto de gasolina.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 contingente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2304288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“responder à carta que ELA mandou, na hora, sobre o assunto dela. Resposta genérica jogada no ar não conta.”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7355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corregulação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3273552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criança ainda não tem freio próprio; o adulto empresta o dele (o colo, o tom de voz) até o estado dela se reorganizar.”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3308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4281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4242816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“nenhuma dupla acerta sempre. O que separa as díades não é nunca cair; é notar que caiu e levantar junto.”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0235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2120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pêndulo explorar e retornar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5212080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base segura é o posto de gasolina: sai, roda o quarteirão, volta para abastecer, sai de novo. O carro parado em qualquer ponta é o achado.”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Parte I, Tradução 2, e Domínio 6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5 · DITO SIMPLES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afeto e a comunicação em analogias de uma linha: a boca e o rosto, o tombo e o levantar, os tijolos e a casa.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dissociação ideoafetiva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2304288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boca diz uma coisa, o rosto diz outra. Não escolha em qual acreditar: registre as duas, porque a contradição É o dado.”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7355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consolabilidade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3273552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 é o tombo que informa, é como (e com quem) ela levanta: no colo, sozinha, ou nem no colo.”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3308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4281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ressonância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4242816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“você oferece graça dentro do brincar e escuta o eco. Quando não volta eco nenhum, o vazio que VOCÊ sente é instrumento de medida.”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0235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2120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pragmática vs estrutura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5212080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“saber muitas palavras é ter tijolos; conversar é construir a casa com alguém. Há criança com caminhão de tijolos e nenhuma casa.”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Domínios 5 e 8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9952" y="2560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5 · DITO SIMPLES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síntese em analogias de uma linha: o corpo que diz que viu, o fio do colar, o volume da certeza, a foto e o palpite.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atitude alucinatória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2304288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corpo dela diz que viu (para, olha o canto vazio, responde ao nada). Registre o corpo, com hora e contexto; não conclua a visão.”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7355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organizador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3273552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fio do colar: sem ele, as contas rolam soltas pela mesa. A síntese é escolher o fio e enfiar as contas nele.”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3308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4281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de compromisso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4242816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botão de volume da certeza: nem sussurrar diante do padrão robusto, nem gritar diante de um observável só.”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0235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2120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vs hipótese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5212080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síntese é a foto revelada; a hipótese é o palpite sobre a foto. A foto tem que continuar boa mesmo se o palpite mudar amanhã.”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do professor · Domínio 10 e Parte III · fim do deck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2026-07-08T07:20:19Z</dcterms:created>
  <dcterms:modified xsi:type="dcterms:W3CDTF">2026-07-08T07:20:19Z</dcterms:modified>
</cp:coreProperties>
</file>