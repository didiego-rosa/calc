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Deck satélite revisado por dois crivos: residente iniciante (clareza, jargão, exemplos) e residente avançado (precisão, ressalvas, quantificadores). As ressalvas de fala estão nas notas de cada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incorporado: definir A-B-C antes de usar (R1); deixar claro que um episódio gera hipótese, não análise funcional completa (R3).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Fala: 'isto é um esquema de leitura, não um diagnóstico do episódio'. Análise descritiva de verdade exige padrão em várias ocorrências.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do crivo R3: fome/sono não são antecedentes discretos, são operações estabelecedoras (setting events); misturar os níveis ensina a categoria errada. R1: exemplos concretos em cada item.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central (R3): negociar DURANTE a escalada de uma birra de função 'obter' é exatamente a consequência reforçadora. O que funciona antes é prevenção antecedente (aviso de transição, escolhas limitadas), não negociação intraepisódio. 'Ponto de não-retorno' é metáfora clínica, não construto validado.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Resolve a inconsistência apontada pelo R3 entre gatilhos de terreno (fome/sono) e o binômio obter/evitar: transbordamento é a terceira coluna. R1: 'função = o que o ambiente selecionou' desarma a leitura de manipulação consciente.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Peça que faltava (os dois crivos): sem a linha da mãe, o residente sai culpando a mãe; com ela, entende a armadilha de reforçamento mútuo (Patterson). Fala: um episódio filmado gera hipótese, não estabelece função.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Correções dos crivos: TOD por extenso na primeira aparição; 'estratégia' trocado por 'comportamento aprendido'; explicitar fator de risco vs causa suficiente. Nunca dizer a um pai 'vocês produziram o TOD'.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incorporado: definir funções executivas e assumir o caráter esquemático do gráfico (R1); o modelo explica o momento do encaminhamento, não o diagnóstico (R3).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não platôr na puberdade (segue até a 3ª década); R1: ancorar a curva em comportamentos observáveis.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Correção central do R3: degrau único aos 6 ensinaria a não procurar TDAH antes nem depois. A escada preserva o clímax dos 6 sem apagar os outros degraus.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duas curvas de freio (típica e mais baixa) respondem 'a escola causa TDAH?': não; a curva dessa criança já era mais baixa antes, mas ninguém precisava dela aos 4. Toda criança de 6 tem ALGUM vão: o clínico é maior, persistente e multicontexto.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pediu o elefante: onde entra a medicação. Resposta no gráfico: tratamento desloca o freio; acomodação desloca a demanda. R3: evidência de acomodações isoladas é fraca (Harrison 2013); dizer 'modesta' e seguir.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Crivo R1: sem este setup, o residente passa 3 slides achando que a história é sobre Sally. Definir falsa crença antes dos quadros.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Encenar com voz de contador de história: o storyboard é literal de propósito.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correr aqui: a assimetria de informação é o coração do experimento.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 confessou: na primeira leitura não notaria o verbo. Destacar oralmente também. Se reproduzir no consultório, a pergunta errada ('onde está?') anula o teste.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sem idades-muro. R1: dar o mecanismo do erro dos 3 anos (senão vira 'burrice ou memória').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R3: sem as perguntas-controle, 'não mede memória' é dogma; com elas, é método. Ter na manga (para pergunta de plateia): versões implícitas com bebês estão no centro de fracassos de replicação recentes.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décalage glossado no próprio slide; Siegler em frase completa.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Explicar por que os números divergem (critério, informante, corte de prejuízo) é a aula de epidemiologia em 30 segundos.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ensina pelo exemplo que dor resolve conflito ('modela' é jargão de Bandura). Nunca desmontar a palmada sem deixar alternativa no lugar.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cobrarem número: SBP sugere evitar telas antes dos 2 anos e limitar por faixa etária depois. O princípio funcional importa mais que o teto.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Coerente com a voz do professor: validar antes de orientar.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R1: sem o pico, 'decrescente' não desenha nada; R3: o padrão que muda de QUALIDADE alarma tanto quanto o que não declina.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" y="1920240"/>
            <a:ext cx="10515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Slides satélites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DDC9E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Desenvolvimento normal: dos 2 anos ao início da puberdade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658368" y="361188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3840480"/>
            <a:ext cx="10515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Módulos de aprofundamento. Não fazem parte da sequência principal: entram se a turma pedir, ou circulam depois como material de estudo.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28016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Anatomia de uma birra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42900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6616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406908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duas curvas do TDAH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21792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5508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85800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Falsa crença quadro a quadro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9006840" y="4892040"/>
            <a:ext cx="2560320" cy="1005840"/>
          </a:xfrm>
          <a:prstGeom prst="roundRect">
            <a:avLst>
              <a:gd name="adj" fmla="val 6364"/>
            </a:avLst>
          </a:prstGeom>
          <a:solidFill>
            <a:srgbClr val="8A6594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0" y="5029200"/>
            <a:ext cx="548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ECB84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9646920" y="5047488"/>
            <a:ext cx="182880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Apêndice anti-pergunta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Anatomia de uma birra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2-3 anos o freio mora no adulto; ler uma birra é ler como está a regulação externa. É também a base para entender, no Ato 2, a oposição que aprende a funcionar.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 deste módulo: o esquema A-B-C da análise do comportamento (Antecedente, o que veio antes; Comportamento; Consequência, o que o comportamento produziu no ambiente). Atenção ao termo: consequência aqui NÃO é castigo. E o esquema aplicado a um episódio único gera hipótese, não diagnóstico.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Uma birra não é um evento, é uma sequência: e cada elo é um lugar diferente de intervir.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4008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8" name="Text 6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· ANTECEDENTE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2296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veio imediatamente antes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82296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mãe diz “não” ao doce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prevenção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(avisos, escolhas limitadas)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8912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38912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· COMPORTAMENTO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57200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 criança faz, observável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457200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joga-se no chão, grita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segurança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(retirar perigos, presença)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38160" y="2331720"/>
            <a:ext cx="338328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138160" y="2331720"/>
            <a:ext cx="3383280" cy="73152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 · CONSEQUÊNCIA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321040" y="2971800"/>
            <a:ext cx="30175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o comportamento produziu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8321040" y="3566160"/>
            <a:ext cx="30175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mãe cede o doce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321040" y="4206240"/>
            <a:ext cx="301752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intervir aqui = consistência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 elo que ensina)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5742432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Consequência = o que o comportamento produziu no ambiente. NÃO é sinônimo de castigo.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antecedente tem dois níveis: o disparo do momento e o terreno que baixa o limiar.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52578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DISPAROS (o gatilho do momento)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Transição: interromper algo bom (“hora de sair da casa da avó”)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Negativa: o “não” ao pedido (doce no mercado)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Atenção do cuidador desviada: mãe no telefone, irmão no colo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Demanda acima da capacidade: tarefa que a mão ou a fala ainda não alcança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257800" cy="3200400"/>
          </a:xfrm>
          <a:prstGeom prst="roundRect">
            <a:avLst>
              <a:gd name="adj" fmla="val 2000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TERRENO (baixa o limiar para qualquer disparo)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75488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Fome e sono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Dor e doença começando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Sobrecarga sensorial (mercado, festa)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Linguagem aquém do que a criança quer dizer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terreno não dispara a birra: torna qualquer disparo suficiente.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71500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8521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Esses grupos cobrem a maioria das birras, não todas. Birra que não se encaixa não é, por si, sinal de doença.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Existe um ponto em que negociar para de funcionar: antes dele, prevenção; depois, proteção e presença.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097280" y="5212080"/>
            <a:ext cx="658368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9728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43000" y="22402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intensidade (esquemática)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040880" y="53035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097280" y="5074920"/>
            <a:ext cx="1463040" cy="-8229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4251960"/>
            <a:ext cx="1097280" cy="-13716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0" y="2880360"/>
            <a:ext cx="1463040" cy="2286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120640" y="3108960"/>
            <a:ext cx="2194560" cy="17373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395728" y="4087368"/>
            <a:ext cx="329184" cy="329184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5" name="Text 13"/>
          <p:cNvSpPr/>
          <p:nvPr/>
        </p:nvSpPr>
        <p:spPr>
          <a:xfrm>
            <a:off x="2057400" y="45262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ponto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234440" y="3017520"/>
            <a:ext cx="1371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PREVENÇÃO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aqui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749040" y="2286000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pico: intervir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prolonga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577840" y="4206240"/>
            <a:ext cx="1737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pós-pico: janela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acolhimento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955280" y="2240280"/>
            <a:ext cx="361188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83880" y="2423160"/>
            <a:ext cx="320040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RECONHECER QUE O PONTO PASSOU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183880" y="306324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não responde mais ao nome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recusa a própria coisa que pedia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movimento descoordenado, sem direção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 PONTO: retirar perigos, ficar perto, pouca fala, tom baixo. Esperar perto não é ignorar.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esquemática (didática); a anatomia empírica descreve raiva com pico precoce e angústia mais longa (Potegal &amp; Davison, 2003)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maioria das birras serve a obter ou evitar; algumas são só transbordamento.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OBTER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objeto ou atenção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o doce; o colo que foi para o irmão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38912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EVITAR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57200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 ou transição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escovar os dentes; sair do parquinho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38160" y="2377440"/>
            <a:ext cx="3383280" cy="2286000"/>
          </a:xfrm>
          <a:prstGeom prst="roundRect">
            <a:avLst>
              <a:gd name="adj" fmla="val 2800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321040" y="256032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TRANSBORDAMENTO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321040" y="30175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função operante clara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30175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ex.: fim de dia, fome + sono: o sistema só transborda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40080" y="4937760"/>
            <a:ext cx="10881360" cy="1188720"/>
          </a:xfrm>
          <a:prstGeom prst="roundRect">
            <a:avLst>
              <a:gd name="adj" fmla="val 538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14400" y="5120640"/>
            <a:ext cx="10332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Função não é intenção. </a:t>
            </a:r>
            <a:pPr indent="0" marL="0">
              <a:buNone/>
            </a:pPr>
            <a:r>
              <a:rPr lang="en-US" sz="14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Criança de 2 anos não planeja: o ambiente selecionou o que funcionou, por repetição. As funções podem ser múltiplas e mudar dentro do mesmo episódio (começa pelo doce, mantém-se pela atenção).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análise formal usa 4 classes: atenção, tangível, fuga/esquiva e sensorial/automática; obter/evitar é o resumo didático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 cena do mercado, o reforço rodou dos DOIS lados: e é isso que arma a armadilha.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14884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28600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cena (do vídeo da aula): criança de ~2 anos pede doce no caixa; mãe diz não; grito e chão; após 90 segundos, a mãe entrega o doce e o grito para.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40080" y="3200400"/>
            <a:ext cx="52578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3364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DA CRIANÇA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914400" y="3767328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“não” ao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grito + chão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ganhou 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reforço POSITIVO (ganhou algo)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6263640" y="3200400"/>
            <a:ext cx="5257800" cy="2377440"/>
          </a:xfrm>
          <a:prstGeom prst="roundRect">
            <a:avLst>
              <a:gd name="adj" fmla="val 2692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37960" y="3364992"/>
            <a:ext cx="475488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LINHA DA MÃE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37960" y="3767328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 grito no mercado, plateia olhando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 entregou o doce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C: o grito PAROU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reforço NEGATIVO (algo aversivo cessou)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640080" y="5760720"/>
            <a:ext cx="10881360" cy="594360"/>
          </a:xfrm>
          <a:prstGeom prst="roundRect">
            <a:avLst>
              <a:gd name="adj" fmla="val 10769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5888736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Reforço negativo NÃO é punição: é alívio que fortalece o comportamento que o produziu. Os dois lados saem treinados.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A · BIRRA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pergunta que muda a consulta: o que a birra produziu, dos dois lados?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10881360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60320"/>
            <a:ext cx="102412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resistir produz recuo do adulto, repetidamente e em vários contextos, a oposição vira </a:t>
            </a:r>
            <a:pPr indent="0" marL="0">
              <a:lnSpc>
                <a:spcPct val="120000"/>
              </a:lnSpc>
              <a:buNone/>
            </a:pPr>
            <a:r>
              <a:rPr lang="en-US" sz="16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comportamento aprendido</a:t>
            </a:r>
            <a:pPr indent="0" marL="0">
              <a:lnSpc>
                <a:spcPct val="120000"/>
              </a:lnSpc>
              <a:buNone/>
            </a:pPr>
            <a:r>
              <a:rPr lang="en-US" sz="160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(sem intenção consciente, sem vilão). Esse ciclo é FATOR DE RISCO e de manutenção do transtorno opositivo-desafiador (TOD), não causa suficiente: temperamento e carga familiar entram na equação.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343400"/>
            <a:ext cx="10881360" cy="1188720"/>
          </a:xfrm>
          <a:prstGeom prst="roundRect">
            <a:avLst>
              <a:gd name="adj" fmla="val 538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4572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anamnese, três perguntas operacionais: O que acontece imediatamente depois da birra? Quem cede, com que frequência? A oposição já se espalhou para fora de casa?</a:t>
            </a:r>
            <a:endParaRPr lang="en-US" sz="1450" dirty="0"/>
          </a:p>
        </p:txBody>
      </p:sp>
      <p:sp>
        <p:nvSpPr>
          <p:cNvPr id="10" name="Text 8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com a aula principal: contracena do Ato 2 (quando resistir funciona)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duas curvas do TDAH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Ato 3 afirma que o TDAH fica visível quando a demanda cruza o freio. Este módulo desmonta o gráfico em passos e acrescenta o que ele NÃO diz.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Vocabulário do módulo: “freio” é o apelido didático das funções executivas (inibir impulso, segurar informação na cabeça, trocar de plano). O gráfico é esquemático: os eixos não têm unidade comum; é uma retórica visual, e assumimos isso. O que ele explica é QUANDO o transtorno chega à consulta, nunca O QUE ele é.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freio amadurece devagar, e continua amadurecendo muito depois desta aula: até a vida adulta jovem.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5029200"/>
            <a:ext cx="2926080" cy="-10058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14800" y="4023360"/>
            <a:ext cx="2926080" cy="-77724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040880" y="3246120"/>
            <a:ext cx="2011680" cy="-365760"/>
          </a:xfrm>
          <a:prstGeom prst="line">
            <a:avLst/>
          </a:prstGeom>
          <a:noFill/>
          <a:ln w="50800">
            <a:solidFill>
              <a:srgbClr val="ECB84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052560" y="2880360"/>
            <a:ext cx="1554480" cy="-228600"/>
          </a:xfrm>
          <a:prstGeom prst="line">
            <a:avLst/>
          </a:prstGeom>
          <a:noFill/>
          <a:ln w="50800">
            <a:solidFill>
              <a:srgbClr val="ECB841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91440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10896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6a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30352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12a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749808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puberdade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692640" y="53492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adulto jovem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0" y="4023360"/>
            <a:ext cx="3657600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92440" y="4206240"/>
            <a:ext cx="32004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Âncoras: aos 3, não espera a vez nem com ajuda; aos 8, espera; aos 15, planeja a semana (mais ou menos).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curva média didática: inibição, memória de trabalho e flexibilidade têm trajetórias distintas, e a variância individual é enorme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demanda não sobe em rampa, sobe em escada: e o degrau dos 6 anos é o mais alto.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892040"/>
            <a:ext cx="237744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566160" y="4434840"/>
            <a:ext cx="0" cy="45720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566160" y="4434840"/>
            <a:ext cx="17373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303520" y="3246120"/>
            <a:ext cx="0" cy="118872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303520" y="3246120"/>
            <a:ext cx="265176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2697480"/>
            <a:ext cx="0" cy="54864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55280" y="2697480"/>
            <a:ext cx="2377440" cy="0"/>
          </a:xfrm>
          <a:prstGeom prst="line">
            <a:avLst/>
          </a:prstGeom>
          <a:noFill/>
          <a:ln w="50800">
            <a:solidFill>
              <a:srgbClr val="E9603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49834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611880" y="4526280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pré-escola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0" y="2395728"/>
            <a:ext cx="32918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I (6a): sentar horas, instrução única para 30, sem adulto dedicado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46720" y="2148840"/>
            <a:ext cx="30175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FUNDAMENTAL II: organização, vários professores (a desatenção aflora aqui)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hiperatividade grave já é visível aos 3-4 na pré-escola; a apresentação desatenta costuma aflorar no fundamental II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vão entre as curvas explica QUANDO o TDAH chega à consulta, não O QUE ele é.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754880"/>
            <a:ext cx="3291840" cy="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3246120"/>
            <a:ext cx="0" cy="150876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3246120"/>
            <a:ext cx="6035040" cy="-32004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88720" y="4983480"/>
            <a:ext cx="4754880" cy="-146304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943600" y="3520440"/>
            <a:ext cx="4572000" cy="-96012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188720" y="5120640"/>
            <a:ext cx="4754880" cy="-9144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5943600" y="4206240"/>
            <a:ext cx="4572000" cy="-68580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4480560" y="3127248"/>
            <a:ext cx="4206240" cy="960120"/>
          </a:xfrm>
          <a:prstGeom prst="rect">
            <a:avLst/>
          </a:prstGeom>
          <a:solidFill>
            <a:srgbClr val="E96030">
              <a:alpha val="18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10607040" y="27889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demanda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10607040" y="233172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típico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10607040" y="342900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freio TDAH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0" y="3200400"/>
            <a:ext cx="39319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vão clínico: maior, persistente, em 2+ contextos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566928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Aviso na direção oposta: os mais novos da turma recebem mais diagnóstico (efeito de idade relativa). O mesmo vão que revela TDAH também rotula imaturidade normal.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diagnóstico segue exigindo prejuízo em 2+ contextos e início na infância; o gráfico não substitui critério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B · TDAH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Acomodação abaixa o degrau; tratamento sobe o freio. São alavancas diferentes, e complementares.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188720" y="5212080"/>
            <a:ext cx="9509760" cy="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188720" y="2377440"/>
            <a:ext cx="0" cy="2834640"/>
          </a:xfrm>
          <a:prstGeom prst="line">
            <a:avLst/>
          </a:prstGeom>
          <a:noFill/>
          <a:ln w="19050">
            <a:solidFill>
              <a:srgbClr val="8A659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88720" y="4754880"/>
            <a:ext cx="3291840" cy="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480560" y="3246120"/>
            <a:ext cx="0" cy="150876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480560" y="3246120"/>
            <a:ext cx="6035040" cy="-274320"/>
          </a:xfrm>
          <a:prstGeom prst="line">
            <a:avLst/>
          </a:prstGeom>
          <a:noFill/>
          <a:ln w="44450">
            <a:solidFill>
              <a:srgbClr val="E9603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80560" y="3977640"/>
            <a:ext cx="6035040" cy="-274320"/>
          </a:xfrm>
          <a:prstGeom prst="line">
            <a:avLst/>
          </a:prstGeom>
          <a:noFill/>
          <a:ln w="38100">
            <a:solidFill>
              <a:srgbClr val="E96030"/>
            </a:solidFill>
            <a:prstDash val="dash"/>
          </a:ln>
        </p:spPr>
      </p:sp>
      <p:sp>
        <p:nvSpPr>
          <p:cNvPr id="12" name="Text 10"/>
          <p:cNvSpPr/>
          <p:nvPr/>
        </p:nvSpPr>
        <p:spPr>
          <a:xfrm>
            <a:off x="7589520" y="4069080"/>
            <a:ext cx="237744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acomodações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abaixam o degrau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1188720" y="5120640"/>
            <a:ext cx="9326880" cy="-1554480"/>
          </a:xfrm>
          <a:prstGeom prst="line">
            <a:avLst/>
          </a:prstGeom>
          <a:noFill/>
          <a:ln w="44450">
            <a:solidFill>
              <a:srgbClr val="8A6594"/>
            </a:solidFill>
            <a:prstDash val="dash"/>
          </a:ln>
        </p:spPr>
      </p:sp>
      <p:sp>
        <p:nvSpPr>
          <p:cNvPr id="14" name="Shape 12"/>
          <p:cNvSpPr/>
          <p:nvPr/>
        </p:nvSpPr>
        <p:spPr>
          <a:xfrm>
            <a:off x="1188720" y="4892040"/>
            <a:ext cx="9326880" cy="-1965960"/>
          </a:xfrm>
          <a:prstGeom prst="line">
            <a:avLst/>
          </a:prstGeom>
          <a:noFill/>
          <a:ln w="44450">
            <a:solidFill>
              <a:srgbClr val="ECB84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49440" y="2331720"/>
            <a:ext cx="402336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tratamento (comportamental + farmacológico)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sobe a curva do freio, funcionalmente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650992"/>
            <a:ext cx="10332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Acomodações (sentar longe da janela, instrução fracionada, pausas de movimento): evidência individual modesta; pedem-se por relatório médico à escola. Não substituem tratamento, nem o contrário.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Falsa crença quadro a quadro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pré-requisito cognitivo da vida em grupo: sem representar a mente do outro, não há amizade recíproca (Ato 4) nem convivência escolar. Este módulo desmonta o experimento do Ato 2.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cenário: uma criança ASSISTE a uma encenação com duas bonecas (Sally e Anne) e responde a UMA pergunta no final. Quem é testada é a criança da plateia, não as bonecas. Paradigma da transferência inesperada (Sally-Anne, Baron-Cohen et al., 1985); o livro-fonte usa o paradigma irmão da caixa de doces. “Falsa crença” = agir por uma representação do mundo que ficou desatualizada.</a:t>
            </a:r>
            <a:endParaRPr lang="en-US" sz="13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1: Sally guarda a bolinha na cesta e sai para brincar.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2377440" y="2651760"/>
            <a:ext cx="502920" cy="502920"/>
          </a:xfrm>
          <a:prstGeom prst="ellipse">
            <a:avLst/>
          </a:prstGeom>
          <a:solidFill>
            <a:srgbClr val="8A6594"/>
          </a:solidFill>
          <a:ln/>
        </p:spPr>
      </p:sp>
      <p:sp>
        <p:nvSpPr>
          <p:cNvPr id="7" name="Shape 5"/>
          <p:cNvSpPr/>
          <p:nvPr/>
        </p:nvSpPr>
        <p:spPr>
          <a:xfrm>
            <a:off x="230428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8A6594"/>
          </a:solidFill>
          <a:ln/>
        </p:spPr>
      </p:sp>
      <p:sp>
        <p:nvSpPr>
          <p:cNvPr id="8" name="Text 6"/>
          <p:cNvSpPr/>
          <p:nvPr/>
        </p:nvSpPr>
        <p:spPr>
          <a:xfrm>
            <a:off x="196596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9052560" y="2651760"/>
            <a:ext cx="502920" cy="502920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10" name="Shape 8"/>
          <p:cNvSpPr/>
          <p:nvPr/>
        </p:nvSpPr>
        <p:spPr>
          <a:xfrm>
            <a:off x="897940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ECB841"/>
          </a:solidFill>
          <a:ln/>
        </p:spPr>
      </p:sp>
      <p:sp>
        <p:nvSpPr>
          <p:cNvPr id="11" name="Text 9"/>
          <p:cNvSpPr/>
          <p:nvPr/>
        </p:nvSpPr>
        <p:spPr>
          <a:xfrm>
            <a:off x="864108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566160" y="4023360"/>
            <a:ext cx="1463040" cy="822960"/>
          </a:xfrm>
          <a:prstGeom prst="roundRect">
            <a:avLst>
              <a:gd name="adj" fmla="val 27778"/>
            </a:avLst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566160" y="4892040"/>
            <a:ext cx="14630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160520" y="4160520"/>
            <a:ext cx="320040" cy="3200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5" name="Shape 13"/>
          <p:cNvSpPr/>
          <p:nvPr/>
        </p:nvSpPr>
        <p:spPr>
          <a:xfrm>
            <a:off x="7223760" y="3977640"/>
            <a:ext cx="137160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23760" y="4892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57332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da plateia assiste a tudo, do começo ao fim. Guarde isso.</a:t>
            </a:r>
            <a:endParaRPr lang="en-US" sz="13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2: com Sally fora, Anne muda a bolinha para a caixa.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Text 4"/>
          <p:cNvSpPr/>
          <p:nvPr/>
        </p:nvSpPr>
        <p:spPr>
          <a:xfrm>
            <a:off x="1554480" y="3017520"/>
            <a:ext cx="1828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Sally saiu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cena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9052560" y="2651760"/>
            <a:ext cx="502920" cy="502920"/>
          </a:xfrm>
          <a:prstGeom prst="ellipse">
            <a:avLst/>
          </a:prstGeom>
          <a:solidFill>
            <a:srgbClr val="ECB841"/>
          </a:solidFill>
          <a:ln/>
        </p:spPr>
      </p:sp>
      <p:sp>
        <p:nvSpPr>
          <p:cNvPr id="8" name="Shape 6"/>
          <p:cNvSpPr/>
          <p:nvPr/>
        </p:nvSpPr>
        <p:spPr>
          <a:xfrm>
            <a:off x="8979408" y="3200400"/>
            <a:ext cx="640080" cy="822960"/>
          </a:xfrm>
          <a:prstGeom prst="roundRect">
            <a:avLst>
              <a:gd name="adj" fmla="val 14286"/>
            </a:avLst>
          </a:prstGeom>
          <a:solidFill>
            <a:srgbClr val="ECB841"/>
          </a:solidFill>
          <a:ln/>
        </p:spPr>
      </p:sp>
      <p:sp>
        <p:nvSpPr>
          <p:cNvPr id="9" name="Text 7"/>
          <p:cNvSpPr/>
          <p:nvPr/>
        </p:nvSpPr>
        <p:spPr>
          <a:xfrm>
            <a:off x="8641080" y="40690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566160" y="4023360"/>
            <a:ext cx="1463040" cy="822960"/>
          </a:xfrm>
          <a:prstGeom prst="roundRect">
            <a:avLst>
              <a:gd name="adj" fmla="val 27778"/>
            </a:avLst>
          </a:prstGeom>
          <a:solidFill>
            <a:srgbClr val="DDC9E3"/>
          </a:solidFill>
          <a:ln w="12700">
            <a:solidFill>
              <a:srgbClr val="8A659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3280" y="489204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cesta (vazia)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223760" y="3977640"/>
            <a:ext cx="137160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E9603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26680" y="4206240"/>
            <a:ext cx="320040" cy="320040"/>
          </a:xfrm>
          <a:prstGeom prst="ellipse">
            <a:avLst/>
          </a:prstGeom>
          <a:solidFill>
            <a:srgbClr val="E96030"/>
          </a:solidFill>
          <a:ln/>
        </p:spPr>
      </p:sp>
      <p:sp>
        <p:nvSpPr>
          <p:cNvPr id="14" name="Text 12"/>
          <p:cNvSpPr/>
          <p:nvPr/>
        </p:nvSpPr>
        <p:spPr>
          <a:xfrm>
            <a:off x="7223760" y="48920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120640" y="4343400"/>
            <a:ext cx="2011680" cy="0"/>
          </a:xfrm>
          <a:prstGeom prst="line">
            <a:avLst/>
          </a:prstGeom>
          <a:noFill/>
          <a:ln w="38100">
            <a:solidFill>
              <a:srgbClr val="E9603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" y="5577840"/>
            <a:ext cx="10881360" cy="685800"/>
          </a:xfrm>
          <a:prstGeom prst="roundRect">
            <a:avLst>
              <a:gd name="adj" fmla="val 9333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5733288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Assimetria que carrega o teste: a criança da plateia VIU a mudança; Sally, não.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3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Quadro 3, a pergunta: onde Sally vai PROCURAR a bolinha?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1463040" y="2468880"/>
            <a:ext cx="9235440" cy="2011680"/>
          </a:xfrm>
          <a:prstGeom prst="roundRect">
            <a:avLst>
              <a:gd name="adj" fmla="val 3182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828800" y="2971800"/>
            <a:ext cx="85039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“Onde Sally vai </a:t>
            </a:r>
            <a:pPr indent="0" marL="0">
              <a:buNone/>
            </a:pPr>
            <a:r>
              <a:rPr lang="en-US" sz="2800" b="1" dirty="0">
                <a:solidFill>
                  <a:srgbClr val="B84A1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PROCURAR</a:t>
            </a:r>
            <a:pPr indent="0" marL="0">
              <a:buNone/>
            </a:pPr>
            <a:r>
              <a:rPr lang="en-US" sz="2800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 bolinha?”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1828800" y="3794760"/>
            <a:ext cx="85039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feita à criança da plateia, não às bonecas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1463040" y="4846320"/>
            <a:ext cx="9235440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783080" y="5074920"/>
            <a:ext cx="86868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verbo é o teste: “onde a bolinha ESTÁ?” pergunta sobre o mundo; “onde ela vai PROCURAR?” pergunta sobre a CABEÇA de Sally.</a:t>
            </a:r>
            <a:endParaRPr lang="en-US" sz="14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proporção de acertos cruza a metade por volta dos 4 anos: transição gradual, não interruptor.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377440"/>
            <a:ext cx="5257800" cy="2651760"/>
          </a:xfrm>
          <a:prstGeom prst="roundRect">
            <a:avLst>
              <a:gd name="adj" fmla="val 2414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3, A MAIORIA ERRA: “na caixa”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3063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memória fraca nem desatenção: a criança responde com a única versão do mundo que consegue sustentar, a dela. A crença desatualizada de Sally ainda não cabe na conta.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377440"/>
            <a:ext cx="525780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560320"/>
            <a:ext cx="47548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5, A MAIORIA ACERTA: “na cesta”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6537960" y="3063240"/>
            <a:ext cx="475488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criança agora sustenta duas representações ao mesmo tempo: onde a bolinha está, e onde Sally ACREDITA que está. E prevê o comportamento pela crença, não pelo fato.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3035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DDC9E3"/>
          </a:solidFill>
          <a:ln w="12700">
            <a:solidFill>
              <a:srgbClr val="DDC9E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468112"/>
            <a:ext cx="1033272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Aos 4, o desempenho fica perto do meio a meio: uma criança de 4 que erra NÃO está atrasada por isso.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meta-análise de Wellman, Cross &amp; Watson (2001): transição gradual, sensível à forma da tarefa, linguagem e cultura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C · FALSA CRENÇA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protocolo controla a memória com perguntas-controle; o que falha aos 3 é outra coisa.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66928" y="1828800"/>
            <a:ext cx="1371600" cy="41148"/>
          </a:xfrm>
          <a:prstGeom prst="rect">
            <a:avLst/>
          </a:prstGeom>
          <a:solidFill>
            <a:srgbClr val="E96030"/>
          </a:solidFill>
          <a:ln/>
        </p:spPr>
      </p:sp>
      <p:sp>
        <p:nvSpPr>
          <p:cNvPr id="6" name="Shape 4"/>
          <p:cNvSpPr/>
          <p:nvPr/>
        </p:nvSpPr>
        <p:spPr>
          <a:xfrm>
            <a:off x="640080" y="2286000"/>
            <a:ext cx="5257800" cy="3017520"/>
          </a:xfrm>
          <a:prstGeom prst="roundRect">
            <a:avLst>
              <a:gd name="adj" fmla="val 2121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PERGUNTAS-CONTROLE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29260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“Onde a bolinha está de verdade?” e “onde estava no começo?”: a criança de 3 ACERTA as duas. Memória e realidade estão intactas; o que falta é a crença do outro.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263640" y="2286000"/>
            <a:ext cx="5257800" cy="3017520"/>
          </a:xfrm>
          <a:prstGeom prst="roundRect">
            <a:avLst>
              <a:gd name="adj" fmla="val 2121"/>
            </a:avLst>
          </a:prstGeom>
          <a:solidFill>
            <a:srgbClr val="EDE2F0"/>
          </a:solidFill>
          <a:ln w="12700">
            <a:solidFill>
              <a:srgbClr val="EDE2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37960" y="2468880"/>
            <a:ext cx="475488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LEITURAS HONESTAS DO ERRO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75488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Representacional: ainda não sustenta a crença falsa do outro.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Executiva/pragmática: até representa, mas não inibe a resposta pela realidade.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Falhar no teste NÃO é sinônimo de não ter teoria da mente.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640080" y="5532120"/>
            <a:ext cx="10881360" cy="777240"/>
          </a:xfrm>
          <a:prstGeom prst="roundRect">
            <a:avLst>
              <a:gd name="adj" fmla="val 8235"/>
            </a:avLst>
          </a:prstGeom>
          <a:solidFill>
            <a:srgbClr val="FFFFFF"/>
          </a:solidFill>
          <a:ln w="19050">
            <a:solidFill>
              <a:srgbClr val="E9603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14400" y="5687568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Ponte clínica: o paradigma nasceu na pesquisa do autismo, mas NÃO é teste diagnóstico: passar não exclui TEA, falhar não o diagnostica.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versão do livro-fonte: caixa de doces (conteúdo inesperado; Perner et al. 1987; descrita no Bee &amp; Boyd via Flavell), paradigma irmão do Sally-Anne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5636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914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566928" y="14173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6EFF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Apêndice anti-pergunta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85216" y="2971800"/>
            <a:ext cx="1554480" cy="45720"/>
          </a:xfrm>
          <a:prstGeom prst="rect">
            <a:avLst/>
          </a:prstGeom>
          <a:solidFill>
            <a:srgbClr val="ECB841"/>
          </a:solidFill>
          <a:ln/>
        </p:spPr>
      </p:sp>
      <p:sp>
        <p:nvSpPr>
          <p:cNvPr id="6" name="Text 4"/>
          <p:cNvSpPr/>
          <p:nvPr/>
        </p:nvSpPr>
        <p:spPr>
          <a:xfrm>
            <a:off x="566928" y="324612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b="1" dirty="0">
                <a:solidFill>
                  <a:srgbClr val="ECB8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isso se liga à tese do volante: </a:t>
            </a:r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F6EF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respostas prontas para as perguntas mais prováveis da turma. Ficam depois das referências; nunca se apresentam, salta-se até elas quando a pergunta vier.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566928" y="4343400"/>
            <a:ext cx="1097280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50" i="1" dirty="0">
                <a:solidFill>
                  <a:srgbClr val="DDC9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Formato de cada slide: a pergunta como título, a resposta em três tempos (o que é verdade, o que é exagero, o que responder na prática).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“Piaget foi superado?”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SEQUÊNCIA replica: conservação, erros clássicos e a ordem das aquisições aparecem em qualquer cultura testada.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calendário e os estágios como blocos: competências surgem antes com tarefas simplificadas, e a mesma lógica chega em tempos diferentes por conteúdo (décalage: conserva número anos antes de conservar volume).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Piaget como mapa, não como mecanismo. O motor é experiência + processamento (Siegler: a criança adquire regras cada vez melhores conforme pratica, sem saltos de estágio).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9, p. 240-242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“Qual a prevalência real de TDAH?”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critérios padronizados e método fixo, a prevalência fica perto de 5% em idade escolar e é estável entre décadas e países (meta-análise de Polanczyk et al.).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“até 10%” citado pelo livro é prevalência de DIAGNÓSTICO relatado por pais nos EUA: mede prática diagnóstica, não o transtorno. A diferença entre os dois números É a resposta.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“Diagnostica-se mais do que existe em alguns lugares, e menos em outros. O transtorno em si: ~5% das crianças em idade escolar, qualquer país.”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9, p. 255 (Gahagan 2011) + Polanczyk et al.</a:t>
            </a:r>
            <a:endParaRPr lang="en-US" sz="11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“Palmada funciona?”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associação com desfechos piores (mais agressão, pior relação, clima de rejeição) é consistente na meta-análise específica de palmada (Gershoff &amp; Grogan-Kaylor, 2016), sem nenhum benefício demonstrado.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“Palmada causa transtorno”: a evidência é majoritariamente correlacional, com efeitos pequenos a moderados. A recomendação de não usar vem da convergência + ausência de benefício, não de causa provada.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ensinar no lugar: consequência calma e consistente (o elo C do satélite A). E no Brasil, castigo físico é vedado por lei (Lei Menino Bernardo, 13.010/2014).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8, p. 217</a:t>
            </a:r>
            <a:endParaRPr lang="en-US" sz="11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“Telas causam TDAH?”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associação entre uso de telas e sintomas de desatenção é FRACA e provavelmente bidirecional: crianças com TDAH também buscam mais telas.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resposta causal firme, para qualquer lado. A fonte desta aula não cobre o tema, e a literatura não fecha a conta.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funcional que substitui o número: o que a tela está substituindo? (1h de tablet no jantar = 1h a menos de conversa). Diretrizes por idade existem (SBP); use-as como teto, não como álibi.</a:t>
            </a:r>
            <a:endParaRPr lang="en-US" sz="12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“Bilinguismo atrasa a fala?”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vocabulário POR língua pode ser menor, e misturar códigos na mesma frase é normal. O vocabulário conceitual SOMADO é comparável ao do monolíngue.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“Bilinguismo não muda nada”: nega o que o pai observa (menos palavras em cada língua) e queima credibilidade. Valide a observação antes de corrigir a conclusão.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que não dependem de língua: nenhuma palavra aos 18 meses, nenhuma combinação de 2 palavras aos 2 anos, perda de habilidades em qualquer idade. Isso avalia igual, em qualquer casa.</a:t>
            </a:r>
            <a:endParaRPr lang="en-US" sz="12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6EF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897112" y="256032"/>
            <a:ext cx="2788920" cy="310896"/>
          </a:xfrm>
          <a:prstGeom prst="roundRect">
            <a:avLst>
              <a:gd name="adj" fmla="val 23529"/>
            </a:avLst>
          </a:prstGeom>
          <a:solidFill>
            <a:srgbClr val="ECB841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SATÉLITE D · APÊNDICE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11548872" y="6473952"/>
            <a:ext cx="411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310896"/>
            <a:ext cx="2468880" cy="365760"/>
          </a:xfrm>
          <a:prstGeom prst="roundRect">
            <a:avLst>
              <a:gd name="adj" fmla="val 20000"/>
            </a:avLst>
          </a:prstGeom>
          <a:solidFill>
            <a:srgbClr val="E9603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PERGUNTAREM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73252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5636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“Birra até que idade é normal?”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64008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VERDADE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82296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Pico por volta de 18 meses a 3 anos (birras diárias e curtas são esperadas), declínio de frequência e intensidade até os 4-5. Aos 5-6: raras, curtas e proporcionais, não zero.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8912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EDE2F0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EXAGERO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57200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Qualquer corte por idade absoluta (“birra depois dos 5 = doença”). A trajetória vale mais que o número.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38160" y="2331720"/>
            <a:ext cx="3383280" cy="3246120"/>
          </a:xfrm>
          <a:prstGeom prst="roundRect">
            <a:avLst>
              <a:gd name="adj" fmla="val 1972"/>
            </a:avLst>
          </a:prstGeom>
          <a:solidFill>
            <a:srgbClr val="DDC9E3"/>
          </a:solidFill>
          <a:ln w="9525">
            <a:solidFill>
              <a:srgbClr val="8A659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2514600"/>
            <a:ext cx="3017520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4A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PRÁTICA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321040" y="2971800"/>
            <a:ext cx="3017520" cy="2468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250" dirty="0">
                <a:solidFill>
                  <a:srgbClr val="5636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flags de QUALIDADE, além da trajetória: autoagressão, agressão dirigida ao cuidador, episódios muito longos (20-25+ min), não se acalma nem com ajuda, birras iguais com adultos de fora da família.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548640" y="6437376"/>
            <a:ext cx="1051560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5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Bee &amp; Boyd cap. 8, p. 226 + literatura de birra clínica (Wakschlag, Belden)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2026-07-05T21:17:46Z</dcterms:created>
  <dcterms:modified xsi:type="dcterms:W3CDTF">2026-07-05T21:17:46Z</dcterms:modified>
</cp:coreProperties>
</file>