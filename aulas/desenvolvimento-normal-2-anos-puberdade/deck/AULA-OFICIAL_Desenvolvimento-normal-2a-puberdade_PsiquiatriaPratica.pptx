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</p:sldIdLst>
  <p:notesMasterIdLst>
    <p:notesMasterId r:id="rId88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notesMaster" Target="notesMasters/notesMaster1.xml"/><Relationship Id="rId89" Type="http://schemas.openxmlformats.org/officeDocument/2006/relationships/presProps" Target="presProps.xml"/><Relationship Id="rId90" Type="http://schemas.openxmlformats.org/officeDocument/2006/relationships/viewProps" Target="viewProps.xml"/><Relationship Id="rId91" Type="http://schemas.openxmlformats.org/officeDocument/2006/relationships/theme" Target="theme/theme1.xml"/><Relationship Id="rId9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Abertura. Apresentar-se em 30s e ir direto para a tese do S2. Não ler o subtítulo: deixar que ele trabalhe sozinho.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Apresentar a metáfora do volante e o teste que a prova: a MESMA birra no chão do mercado é fisiologia aos 2 e sintoma aos 9. O comportamento não mudou; o dono do volante mudou. Prometer que essa régua sustenta a aula inteira.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explicar os cartões ainda: 'no fim da aula, este mapa vai parecer óbvio'. Este slide volta idêntico no fim (S58): é uma promessa que a aula prova.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Script: 'Eu quero apresentar uma pessoa. Alice tem 2 anos hoje e vai fazer uns 11 até o fim da aula...'. Anunciar a fronteira puberal: a aula termina quando o corpo dela decidir, não o calendário.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Régua escondida: a mãe responde POR Alice (não anunciar). Fechar: a sopa não existe, Alice sabe que não existe, e mesmo assim a sopa funciona. É a coisa mais importante que ela fez este 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Representar é a PRIMEIRA peça da autorregulação: só se regula o que se representa. A escada do brincar é a régua clínica gratuita de qualquer consulta.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Superregularização ('fazi', 'sabo') é sinal de saúde: a criança extraiu a regra e aplicou demais. Erro que denuncia inteligência do sistema. Ressalva de fala: 600 e 15.000 são MÉDIAS com variação individual enorme; não usar como marco de alarme isolado.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Instrução de olhar: reparar na mão indo à própria testa (e não ao espelho). Honestidade: o rouge test vem do capítulo de lactância do mesmo livro; trago porque a aula precisa dele.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Ponte do ato: sem um eu representado, não há o que autorregular.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birra é o custo operacional da regulação externa, não um sintoma. Regulação aos 2 prediz agressão aos 4 (Rubin 2003, p. 206).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Anunciar a técnica: vou exibir, congelar, perguntar e reexibir. É treino de análise funcional ao vivo.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pergunta 'o que ela obteve?' prepara a contracena do Ato 2. Plantar sem colher ainda. Ressalva de fala: UM episódio gera hipótese; análise funcional de verdade exige padrão em várias ocorrências (apêndice 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Checklist do que apareceu no clipe. Rápido: 60-90 segundos de fala.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Vigilância, não diagnóstico. Janela do segundo ano, nunca idade rígida. Encaminhar sem esperar 'amadurecer': a janela de intervenção vale mais que a certeza. Ponte com o livro: linguagem e teoria da mente andam juntas (p. 185).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Pausa de 3 segundos antes de avançar. O Ato 2 responde. Painel: quase tudo com os pais; a linguagem acabou de pegar na ponta do volante.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Régua escondida: a mãe agora CONSULTA (ainda dirige, mas pergunta o caminho). Resposta: do ponto de vista do neurodesenvolvimento, é quase motivo de brinde: para mentir, Alice calculou o que a mãe sabe e o que pode ser levada a acreditar.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Reenquadrar: a mentira dos 4 anos é marco de desenvolvimento, não de caráter. Escada fina no doc de apoio (18m intenções → 3a desejo → 4-5 crença falsa → 5-7 reciprocidade → 6a inferência).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Colher palpites em voz alta antes do play; quem apostou assiste diferente.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Preditores: faz de conta compartilhado, memória de trabalho e LINGUAGEM (limiar linguístico para passar em crença falsa). Velocidade de aquisição prediz habilidade social futura. Nuance no apêndice C: a transição é gradual (Wellman), sem idade-muro; criança de 4 que erra não está atrasada por isso.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mais importante do ato para a TESE: é a mecânica literal da transferência. Fala privada aumenta quando a tarefa dificulta e ajuda a resolver problemas.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Antes do freio executivo (Ato 3), existe um freio afetivo. Empatia de Hoffman se perguntarem: global → egocêntrica → pelos sentimentos → pela condição de vida.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Síntese curta. Não repetir o S25: apontar e seguir.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Gênese funcional: oposição é comportamento operante, sem intenção consciente e sem vilão. Quando resistir desliga a ordem (reforço negativo) ou captura o adulto (reforço positivo), a oposição é selecionada. Ressalva obrigatória: fator de risco e de manutenção, NÃO causa suficiente (temperamento e carga familiar entram na equação; apêndice A). Pergunta clínica: 'o que a oposição PRODUZ nesta casa?'. Contraste: o desafio aberto normalmente DECLINA dos 2 aos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Sinais honestos: intensidade INVARIANTE a contexto; birras que não declinam com a idade; regulação sempre terceirizada; expulsões de escolinha. Dado: regulação aos 2 prediz agressão aos 4 (Rubin 2003, p. 206). Guardar o porquê da entrada escolar para o Ato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Painel: a linguagem já dirige em voz alta; o freio interno em instalação. O Ato 3 é 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Régua escondida: a mãe virou GARAGEM (o dia inteiro fora do volante, e ainda a peça mais importante do carro: onde o freio esfria). Resposta: a escola tem plateia e regra; o carro tem a mãe. O freio novo funciona a tarde inteira, mas esquenta. É o preço de um freio recém-instalado.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Honestidade: o livro descreve a convergência sem usar o nome 'shift 5-7'. Automaticidade: recuperar sem gastar memória de curto prazo; é o que a alfabetização e a tabuada exploram.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plateia costuma subestimar a CONVICÇÃO do erro pré-operatório; deixar virar surpresa.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perguntarem 'Piaget não foi superado?': os fenômenos replicam; a explicação mudou (Siegler: regras adquiridas por experiência + processamento). Mapa sim, mecanismo não. Nota de fonte: massa 7 / peso 8 / volume 11 é a sequência do Bee &amp; Boyd p. 241 (Tomlinson-Keasey); parte da literatura situa peso perto dos 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É o primeiro estresse-teste padronizado do freio interno. Preparação direta do próximo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[APOSTA] ANTES de mostrar: 'por que a fila do TDAH no ambulatório começa aos 6, e não aos 4?'. Colher palpites, revelar. Frase para levar: a demanda subiu antes de o freio ficar pronto. O freio já era imaturo aos 4; aos 4 ninguém precisava dele. Duas ressalvas de fala (detalhadas no apêndice B): o vão explica QUANDO chega à consulta, não O QUE o TDAH é; e o mesmo vão produz falsos positivos (efeito de idade relativa).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Deixar a plateia romantizar antes da ressalva do S42.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que continua valendo: a melhor IMAGEM do freio imaturo em ação (as estratégias de distração SÃO autorregulação nascente). O que morreu: o oráculo. Precisão para a fala: com controles completos de família e cognição precoce, a maior parte do efeito desaparece (não significativo em vários modelos de Watts 2018); evitar fração fixa.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Fechamento do arco da fala privada. Curto.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Painel: freio interno instalado e quente; os pais já dirigem bem menos. O Ato 4 responde.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Régua escondida: a mãe virou PLATEIA. Notar o que chegou: traço psicológico, ranking por domínio, contrato de confiança rompido com cláusula rebaixada. Nenhum adulto ensinou isso. E notem quem NÃO precisou falar nada na consulta.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Ser ruim no futebol só derruba quem valoriza futebol. Estabilidade: r≈0,60 em meses, ≈0,40 em anos. Comparação social não é vaidade: é o instrumento de calibração do eu nessa 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Pré-requisito veio do Ato 2: reciprocidade 'você sabe que eu sei' (5-7a). Rose &amp; Asher: quem põe a relação acima do próprio status tem mais amigos.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Amarrar à tese: a regra deixou de morar no adulto (heteronomia = regulação externa) e passou a morar no ACORDO entre pares. Mais um pedaço do volante mudando de mão.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Status sociométrico: comportamento social pesa mais que aparência (Rodkin 2013). Ressalva de fala sobre Eisenberger: achado clássico e útil como ILUSTRAÇÃO, mas a leitura 'mesma área = mesmo mecanismo' foi questionada por análises multivariadas posteriores; não usar como prova de identidade neural.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Jogo de regras: o mesmo brincar que no Ato 1 anunciava o operatório concreto agora é instituição social autônoma.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Ensinar a perguntar sobre RECREIO e AMIZADES como quem ausculta o coração: é o exame físico do eu comparado. Internalização com cara escolar: queda de rendimento, dor de barriga de domingo, sumiço do recreio, 'ninguém gosta de mim' persistente.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Aqui só se anuncia o tremor. Não entrar em estadiamento.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Cena 5 narrada: a porta fecha, Alice conta que o corpo começou a mudar e ainda não contou a ninguém da turma. Passagem de bastão nominal ao professor de adolescência.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MESMO mapa do início: o slide que abriu como promessa fecha como prova. REVELAÇÃO da régua escondida: 'repararam no que a mãe da Alice fez ao longo da aula? Respondeu por ela, depois perguntou, depois virou garagem, depois plateia, e hoje ficou na sala de espera. Vocês assistiram à transferência do volante em cinco consultas.'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Ler as 4 linhas em 90 segundos. É o handout mental que eles levam.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Fim. Agradecer e apontar o documento de apoio. Perguntas da plateia: saltar para o apêndice D (respostas prontas) quando houver slide correspondente.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Deck satélite revisado por dois crivos: residente iniciante (clareza, jargão, exemplos) e residente avançado (precisão, ressalvas, quantificadores). As ressalvas de fala estão nas notas de cada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Crivo incorporado: definir A-B-C antes de usar (R1); deixar claro que um episódio gera hipótese, não análise funcional completa (R3).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'isto é um esquema de leitura, não um diagnóstico do episódio'. Análise descritiva de verdade exige padrão em várias ocorrências.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Correção do crivo R3: fome/sono não são antecedentes discretos, são operações estabelecedoras (setting events); misturar os níveis ensina a categoria errada. R1: exemplos concretos em cada item.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Cuidado central (R3): negociar DURANTE a escalada de uma birra de função 'obter' é exatamente a consequência reforçadora. O que funciona antes é prevenção antecedente (aviso de transição, escolhas limitadas), não negociação intraepisódio. 'Ponto de não-retorno' é metáfora clínica, não construto validado.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Resolve a inconsistência apontada pelo R3 entre gatilhos de terreno (fome/sono) e o binômio obter/evitar: transbordamento é a terceira coluna. R1: 'função = o que o ambiente selecionou' desarma a leitura de manipulação consciente.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Peça que faltava (os dois crivos): sem a linha da mãe, o residente sai culpando a mãe; com ela, entende a armadilha de reforçamento mútuo (Patterson). Fala: um episódio filmado gera hipótese, não estabelece função.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Correções dos crivos: TOD por extenso na primeira aparição; 'estratégia' trocado por 'comportamento aprendido'; explicitar fator de risco vs causa suficiente. Nunca dizer a um pai 'vocês produziram o TOD'.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Crivo incorporado: definir funções executivas e assumir o caráter esquemático do gráfico (R1); o modelo explica o momento do encaminhamento, não o diagnóstico (R3).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R3: não platôr na puberdade (segue até a 3ª década); R1: ancorar a curva em comportamentos observáveis.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Correção central do R3: degrau único aos 6 ensinaria a não procurar TDAH antes nem depois. A escada preserva o clímax dos 6 sem apagar os outros degraus.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duas curvas de freio (típica e mais baixa) respondem 'a escola causa TDAH?': não; a curva dessa criança já era mais baixa antes, mas ninguém precisava dela aos 4. Toda criança de 6 tem ALGUM vão: o clínico é maior, persistente e multicontexto.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R1 pediu o elefante: onde entra a medicação. Resposta no gráfico: tratamento desloca o freio; acomodação desloca a demanda. R3: evidência de acomodações isoladas é fraca (Harrison 2013); dizer 'modesta' e seguir.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Crivo R1: sem este setup, o residente passa 3 slides achando que a história é sobre Sally. Definir falsa crença antes dos quadros.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Encenar com voz de contador de história: o storyboard é literal de propósito.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correr aqui: a assimetria de informação é o coração do experimento.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R1 confessou: na primeira leitura não notaria o verbo. Destacar oralmente também. Se reproduzir no consultório, a pergunta errada ('onde está?') anula o teste.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R3: sem idades-muro. R1: dar o mecanismo do erro dos 3 anos (senão vira 'burrice ou memória').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R3: sem as perguntas-controle, 'não mede memória' é dogma; com elas, é método. Ter na manga (para pergunta de plateia): versões implícitas com bebês estão no centro de fracassos de replicação recentes.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R1: décalage glossado no próprio slide; Siegler em frase completa.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Explicar por que os números divergem (critério, informante, corte de prejuízo) é a aula de epidemiologia em 30 segundos.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R1: ensina pelo exemplo que dor resolve conflito ('modela' é jargão de Bandura). Nunca desmontar a palmada sem deixar alternativa no lugar.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cobrarem número: SBP sugere evitar telas antes dos 2 anos e limitar por faixa etária depois. O princípio funcional importa mais que o teto.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Coerente com a voz do professor: validar antes de orientar.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R1: sem o pico, 'decrescente' não desenha nada; R3: o padrão que muda de QUALIDADE alarma tanto quanto o que não declina.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636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9235440" y="822960"/>
            <a:ext cx="2103120" cy="2103120"/>
          </a:xfrm>
          <a:prstGeom prst="ellipse">
            <a:avLst/>
          </a:prstGeom>
          <a:solidFill>
            <a:srgbClr val="56365F"/>
          </a:solidFill>
          <a:ln w="127000">
            <a:solidFill>
              <a:srgbClr val="ECB84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104120" y="1691640"/>
            <a:ext cx="365760" cy="365760"/>
          </a:xfrm>
          <a:prstGeom prst="ellipse">
            <a:avLst/>
          </a:prstGeom>
          <a:solidFill>
            <a:srgbClr val="E96030"/>
          </a:solidFill>
          <a:ln/>
        </p:spPr>
      </p:sp>
      <p:sp>
        <p:nvSpPr>
          <p:cNvPr id="5" name="Shape 3"/>
          <p:cNvSpPr/>
          <p:nvPr/>
        </p:nvSpPr>
        <p:spPr>
          <a:xfrm>
            <a:off x="10287000" y="1051560"/>
            <a:ext cx="0" cy="685800"/>
          </a:xfrm>
          <a:prstGeom prst="line">
            <a:avLst/>
          </a:prstGeom>
          <a:noFill/>
          <a:ln w="50800">
            <a:solidFill>
              <a:srgbClr val="ECB84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464040" y="2240280"/>
            <a:ext cx="685800" cy="320040"/>
          </a:xfrm>
          <a:prstGeom prst="line">
            <a:avLst/>
          </a:prstGeom>
          <a:noFill/>
          <a:ln w="50800">
            <a:solidFill>
              <a:srgbClr val="ECB84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424160" y="2240280"/>
            <a:ext cx="685800" cy="320040"/>
          </a:xfrm>
          <a:prstGeom prst="line">
            <a:avLst/>
          </a:prstGeom>
          <a:noFill/>
          <a:ln w="50800">
            <a:solidFill>
              <a:srgbClr val="ECB84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011680"/>
            <a:ext cx="8595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6EF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Desenvolvimento normal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640080" y="2880360"/>
            <a:ext cx="8595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DDC9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dos 2 anos ao início da puberdade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658368" y="3703320"/>
            <a:ext cx="1554480" cy="45720"/>
          </a:xfrm>
          <a:prstGeom prst="rect">
            <a:avLst/>
          </a:prstGeom>
          <a:solidFill>
            <a:srgbClr val="ECB841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3886200"/>
            <a:ext cx="8595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ECB8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história da transferência do volante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40080" y="53949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6E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Diego Alves Rosa · psiquiatria da infância e adolescência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6E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Psiquiatria Prática · curso de residentes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ABERTURA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Aos 2 anos, quem regula a criança é o mundo em volta; no fim desta história, o volante está quase todo por dentro, e em parte com os amigos.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66928" y="214884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1280160" y="3520440"/>
            <a:ext cx="9601200" cy="0"/>
          </a:xfrm>
          <a:prstGeom prst="line">
            <a:avLst/>
          </a:prstGeom>
          <a:noFill/>
          <a:ln w="31750">
            <a:solidFill>
              <a:srgbClr val="8A659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975104" y="3392424"/>
            <a:ext cx="256032" cy="256032"/>
          </a:xfrm>
          <a:prstGeom prst="ellipse">
            <a:avLst/>
          </a:prstGeom>
          <a:solidFill>
            <a:srgbClr val="ECB841"/>
          </a:solidFill>
          <a:ln w="12700">
            <a:solidFill>
              <a:srgbClr val="5636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0" y="37216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2-3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51560" y="4023360"/>
            <a:ext cx="21031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corpo que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ganha símbolo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443984" y="3392424"/>
            <a:ext cx="256032" cy="256032"/>
          </a:xfrm>
          <a:prstGeom prst="ellipse">
            <a:avLst/>
          </a:prstGeom>
          <a:solidFill>
            <a:srgbClr val="ECB841"/>
          </a:solidFill>
          <a:ln w="12700">
            <a:solidFill>
              <a:srgbClr val="5636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0" y="37216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3-5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520440" y="4023360"/>
            <a:ext cx="21031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mente que descobre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outras mentes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912864" y="3392424"/>
            <a:ext cx="256032" cy="256032"/>
          </a:xfrm>
          <a:prstGeom prst="ellipse">
            <a:avLst/>
          </a:prstGeom>
          <a:solidFill>
            <a:srgbClr val="ECB841"/>
          </a:solidFill>
          <a:ln w="12700">
            <a:solidFill>
              <a:srgbClr val="56365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26480" y="37216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5-7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989320" y="4023360"/>
            <a:ext cx="21031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grande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virada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381744" y="3392424"/>
            <a:ext cx="256032" cy="256032"/>
          </a:xfrm>
          <a:prstGeom prst="ellipse">
            <a:avLst/>
          </a:prstGeom>
          <a:solidFill>
            <a:srgbClr val="ECB841"/>
          </a:solidFill>
          <a:ln w="12700">
            <a:solidFill>
              <a:srgbClr val="56365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95360" y="37216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→ puberdade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458200" y="4023360"/>
            <a:ext cx="21031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eu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comparado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828800" y="560527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DO VOLANTE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828800" y="5897880"/>
            <a:ext cx="2148840" cy="420624"/>
          </a:xfrm>
          <a:prstGeom prst="roundRect">
            <a:avLst>
              <a:gd name="adj" fmla="val 13043"/>
            </a:avLst>
          </a:prstGeom>
          <a:solidFill>
            <a:srgbClr val="E9603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PAIS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014216" y="6108192"/>
            <a:ext cx="219456" cy="0"/>
          </a:xfrm>
          <a:prstGeom prst="line">
            <a:avLst/>
          </a:prstGeom>
          <a:noFill/>
          <a:ln w="19050">
            <a:solidFill>
              <a:srgbClr val="8A6594"/>
            </a:solidFill>
            <a:prstDash val="solid"/>
            <a:tailEnd type="triangle"/>
          </a:ln>
        </p:spPr>
      </p:sp>
      <p:sp>
        <p:nvSpPr>
          <p:cNvPr id="22" name="Text 20"/>
          <p:cNvSpPr/>
          <p:nvPr/>
        </p:nvSpPr>
        <p:spPr>
          <a:xfrm>
            <a:off x="4270248" y="5897880"/>
            <a:ext cx="2148840" cy="420624"/>
          </a:xfrm>
          <a:prstGeom prst="roundRect">
            <a:avLst>
              <a:gd name="adj" fmla="val 13043"/>
            </a:avLst>
          </a:prstGeom>
          <a:solidFill>
            <a:srgbClr val="DDC9E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LINGUAGEM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455664" y="6108192"/>
            <a:ext cx="219456" cy="0"/>
          </a:xfrm>
          <a:prstGeom prst="line">
            <a:avLst/>
          </a:prstGeom>
          <a:noFill/>
          <a:ln w="19050">
            <a:solidFill>
              <a:srgbClr val="8A6594"/>
            </a:solidFill>
            <a:prstDash val="solid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6711696" y="5897880"/>
            <a:ext cx="2148840" cy="420624"/>
          </a:xfrm>
          <a:prstGeom prst="roundRect">
            <a:avLst>
              <a:gd name="adj" fmla="val 13043"/>
            </a:avLst>
          </a:prstGeom>
          <a:solidFill>
            <a:srgbClr val="DDC9E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FREIO INTERNO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8897112" y="6108192"/>
            <a:ext cx="219456" cy="0"/>
          </a:xfrm>
          <a:prstGeom prst="line">
            <a:avLst/>
          </a:prstGeom>
          <a:noFill/>
          <a:ln w="19050">
            <a:solidFill>
              <a:srgbClr val="8A6594"/>
            </a:solidFill>
            <a:prstDash val="solid"/>
            <a:tailEnd type="triangle"/>
          </a:ln>
        </p:spPr>
      </p:sp>
      <p:sp>
        <p:nvSpPr>
          <p:cNvPr id="26" name="Text 24"/>
          <p:cNvSpPr/>
          <p:nvPr/>
        </p:nvSpPr>
        <p:spPr>
          <a:xfrm>
            <a:off x="9153144" y="5897880"/>
            <a:ext cx="2148840" cy="420624"/>
          </a:xfrm>
          <a:prstGeom prst="roundRect">
            <a:avLst>
              <a:gd name="adj" fmla="val 13043"/>
            </a:avLst>
          </a:prstGeom>
          <a:solidFill>
            <a:srgbClr val="DDC9E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ABERTURA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Quase todo diagnóstico da psiquiatria infantil é falha, atraso ou desvio nessa transferência.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1280160" y="4343400"/>
            <a:ext cx="9601200" cy="0"/>
          </a:xfrm>
          <a:prstGeom prst="line">
            <a:avLst/>
          </a:prstGeom>
          <a:noFill/>
          <a:ln w="31750">
            <a:solidFill>
              <a:srgbClr val="8A659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975104" y="4215384"/>
            <a:ext cx="256032" cy="256032"/>
          </a:xfrm>
          <a:prstGeom prst="ellipse">
            <a:avLst/>
          </a:prstGeom>
          <a:solidFill>
            <a:srgbClr val="ECB841"/>
          </a:solidFill>
          <a:ln w="12700">
            <a:solidFill>
              <a:srgbClr val="5636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0" y="454456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2-3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51560" y="4846320"/>
            <a:ext cx="21031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corpo que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ganha símbolo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443984" y="4215384"/>
            <a:ext cx="256032" cy="256032"/>
          </a:xfrm>
          <a:prstGeom prst="ellipse">
            <a:avLst/>
          </a:prstGeom>
          <a:solidFill>
            <a:srgbClr val="ECB841"/>
          </a:solidFill>
          <a:ln w="12700">
            <a:solidFill>
              <a:srgbClr val="5636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0" y="454456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3-5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520440" y="4846320"/>
            <a:ext cx="21031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mente que descobre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outras mentes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912864" y="4215384"/>
            <a:ext cx="256032" cy="256032"/>
          </a:xfrm>
          <a:prstGeom prst="ellipse">
            <a:avLst/>
          </a:prstGeom>
          <a:solidFill>
            <a:srgbClr val="ECB841"/>
          </a:solidFill>
          <a:ln w="12700">
            <a:solidFill>
              <a:srgbClr val="56365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26480" y="454456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5-7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989320" y="4846320"/>
            <a:ext cx="21031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grande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virada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381744" y="4215384"/>
            <a:ext cx="256032" cy="256032"/>
          </a:xfrm>
          <a:prstGeom prst="ellipse">
            <a:avLst/>
          </a:prstGeom>
          <a:solidFill>
            <a:srgbClr val="ECB841"/>
          </a:solidFill>
          <a:ln w="12700">
            <a:solidFill>
              <a:srgbClr val="56365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95360" y="454456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→ puberdade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458200" y="4846320"/>
            <a:ext cx="21031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eu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comparado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280160" y="5257800"/>
            <a:ext cx="9601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posição no mapa = etapa da transferência que costuma falhar, NÃO idade de início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60120" y="2560320"/>
            <a:ext cx="228600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60120" y="2560320"/>
            <a:ext cx="2286000" cy="6400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22" name="Text 20"/>
          <p:cNvSpPr/>
          <p:nvPr/>
        </p:nvSpPr>
        <p:spPr>
          <a:xfrm>
            <a:off x="1005840" y="269748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1005840" y="3127248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janela do apontar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2103120" y="3794760"/>
            <a:ext cx="0" cy="384048"/>
          </a:xfrm>
          <a:prstGeom prst="line">
            <a:avLst/>
          </a:prstGeom>
          <a:noFill/>
          <a:ln w="12700">
            <a:solidFill>
              <a:srgbClr val="8A6594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3429000" y="2560320"/>
            <a:ext cx="228600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429000" y="2560320"/>
            <a:ext cx="2286000" cy="6400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27" name="Text 25"/>
          <p:cNvSpPr/>
          <p:nvPr/>
        </p:nvSpPr>
        <p:spPr>
          <a:xfrm>
            <a:off x="3474720" y="269748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 · sinais TDAH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3474720" y="3127248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resistir funciona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4572000" y="3794760"/>
            <a:ext cx="0" cy="384048"/>
          </a:xfrm>
          <a:prstGeom prst="line">
            <a:avLst/>
          </a:prstGeom>
          <a:noFill/>
          <a:ln w="12700">
            <a:solidFill>
              <a:srgbClr val="8A6594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5897880" y="2560320"/>
            <a:ext cx="228600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897880" y="2560320"/>
            <a:ext cx="2286000" cy="6400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32" name="Text 30"/>
          <p:cNvSpPr/>
          <p:nvPr/>
        </p:nvSpPr>
        <p:spPr>
          <a:xfrm>
            <a:off x="5943600" y="269748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TDAH visível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5943600" y="3127248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demanda cruza o freio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7040880" y="3794760"/>
            <a:ext cx="0" cy="384048"/>
          </a:xfrm>
          <a:prstGeom prst="line">
            <a:avLst/>
          </a:prstGeom>
          <a:noFill/>
          <a:ln w="12700">
            <a:solidFill>
              <a:srgbClr val="8A6594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8366760" y="2560320"/>
            <a:ext cx="228600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366760" y="2560320"/>
            <a:ext cx="2286000" cy="6400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37" name="Text 35"/>
          <p:cNvSpPr/>
          <p:nvPr/>
        </p:nvSpPr>
        <p:spPr>
          <a:xfrm>
            <a:off x="8412480" y="269748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Ansiedade · Depressão</a:t>
            </a:r>
            <a:endParaRPr lang="en-US" sz="1350" dirty="0"/>
          </a:p>
        </p:txBody>
      </p:sp>
      <p:sp>
        <p:nvSpPr>
          <p:cNvPr id="38" name="Text 36"/>
          <p:cNvSpPr/>
          <p:nvPr/>
        </p:nvSpPr>
        <p:spPr>
          <a:xfrm>
            <a:off x="8412480" y="3127248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grupo devolve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9509760" y="3794760"/>
            <a:ext cx="0" cy="384048"/>
          </a:xfrm>
          <a:prstGeom prst="line">
            <a:avLst/>
          </a:prstGeom>
          <a:noFill/>
          <a:ln w="12700">
            <a:solidFill>
              <a:srgbClr val="8A6594"/>
            </a:solidFill>
            <a:prstDash val="dash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ABERTURA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Esta aula termina num evento, não numa idade: quando o corpo de Alice começar a mudar, outro professor assume.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1188720" y="2651760"/>
            <a:ext cx="1051560" cy="1051560"/>
          </a:xfrm>
          <a:prstGeom prst="ellipse">
            <a:avLst/>
          </a:prstGeom>
          <a:solidFill>
            <a:srgbClr val="DDC9E3"/>
          </a:solidFill>
          <a:ln w="12700">
            <a:solidFill>
              <a:srgbClr val="8A659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0" y="2862072"/>
            <a:ext cx="10515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914400" y="3794760"/>
            <a:ext cx="1600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anos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46120" y="2651760"/>
            <a:ext cx="1051560" cy="1051560"/>
          </a:xfrm>
          <a:prstGeom prst="ellipse">
            <a:avLst/>
          </a:prstGeom>
          <a:solidFill>
            <a:srgbClr val="DDC9E3"/>
          </a:solidFill>
          <a:ln w="12700">
            <a:solidFill>
              <a:srgbClr val="8A659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6120" y="2862072"/>
            <a:ext cx="10515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2971800" y="3794760"/>
            <a:ext cx="1600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anos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303520" y="2651760"/>
            <a:ext cx="1051560" cy="1051560"/>
          </a:xfrm>
          <a:prstGeom prst="ellipse">
            <a:avLst/>
          </a:prstGeom>
          <a:solidFill>
            <a:srgbClr val="DDC9E3"/>
          </a:solidFill>
          <a:ln w="12700">
            <a:solidFill>
              <a:srgbClr val="8A659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03520" y="2862072"/>
            <a:ext cx="10515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5029200" y="3794760"/>
            <a:ext cx="1600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anos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360920" y="2651760"/>
            <a:ext cx="1051560" cy="1051560"/>
          </a:xfrm>
          <a:prstGeom prst="ellipse">
            <a:avLst/>
          </a:prstGeom>
          <a:solidFill>
            <a:srgbClr val="DDC9E3"/>
          </a:solidFill>
          <a:ln w="12700">
            <a:solidFill>
              <a:srgbClr val="8A659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60920" y="2862072"/>
            <a:ext cx="10515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7086600" y="3794760"/>
            <a:ext cx="1600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anos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9418320" y="2651760"/>
            <a:ext cx="1051560" cy="1051560"/>
          </a:xfrm>
          <a:prstGeom prst="ellipse">
            <a:avLst/>
          </a:prstGeom>
          <a:solidFill>
            <a:srgbClr val="E96030"/>
          </a:solidFill>
          <a:ln w="12700">
            <a:solidFill>
              <a:srgbClr val="8A659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418320" y="2862072"/>
            <a:ext cx="10515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9144000" y="3794760"/>
            <a:ext cx="1600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quase 11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914400" y="4572000"/>
            <a:ext cx="10332720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88720" y="4754880"/>
            <a:ext cx="9784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pPr indent="0" marL="0">
              <a:buNone/>
            </a:pPr>
            <a:r>
              <a:rPr lang="en-US" sz="15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atravessa a aula inteira em cenas de consultório. Ela é rigorosamente normal do primeiro ao último slide: é a régua, não o caso. Ninguém diagnostica a Alice.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1 · 2-3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0" y="1965960"/>
            <a:ext cx="12188952" cy="3977640"/>
          </a:xfrm>
          <a:prstGeom prst="rect">
            <a:avLst/>
          </a:prstGeom>
          <a:solidFill>
            <a:srgbClr val="EDE2F0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1965960"/>
            <a:ext cx="128016" cy="3977640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92608"/>
            <a:ext cx="2834640" cy="365760"/>
          </a:xfrm>
          <a:prstGeom prst="roundRect">
            <a:avLst>
              <a:gd name="adj" fmla="val 20000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CENA · ALICE, 2 ANOS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868680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Alice, 2 anos e 2 meses, dá sopa à boneca com um bloco de madeira, e a sopa existe.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77240" y="2377440"/>
            <a:ext cx="106070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i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Pergunto a idade e quem responde é a mãe; pergunto se dormiu bem e quem responde é a mãe. Alice, quando quer água, puxa a mãe pelo dedo até a garrafa. Em dois minutos está no tapete: bloco no copinho, colher na boca da boneca. “sopa”.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77240" y="55321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narrada ao vivo · Alice é normal do início ao fim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1 · 2-3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Entre 18 e 24 meses nasce a função semiótica: uma coisa passa a poder representar outra.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4709160"/>
            <a:ext cx="2560320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4818888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Brincar construtivo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960120" y="516636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 anos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566160" y="4050792"/>
            <a:ext cx="2560320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703320" y="416052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Faz de conta substitutivo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703320" y="4507992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2-3 anos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 cenoura vira violino)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309360" y="3392424"/>
            <a:ext cx="2560320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46520" y="3502152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Brincar sociodramático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46520" y="3849624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aos 4, quase todas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(papéis: médico, mamãe)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9052560" y="2734056"/>
            <a:ext cx="2560320" cy="960120"/>
          </a:xfrm>
          <a:prstGeom prst="roundRect">
            <a:avLst>
              <a:gd name="adj" fmla="val 6667"/>
            </a:avLst>
          </a:prstGeom>
          <a:solidFill>
            <a:srgbClr val="DDC9E3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89720" y="2843784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Jogo de regras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9189720" y="3191256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5-6 anos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(anuncia o próximo estágio)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48640" y="6437376"/>
            <a:ext cx="8686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 &amp; Boyd, cap. 7, p. 180-181 · uso de objetos substitutos aos 2-3 anos é achado universal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1 · 2-3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linguagem explode: de ~600 palavras aos 2 anos e meio para ~15.000 na entrada da escola.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560320"/>
            <a:ext cx="29260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8A659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600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1097280" y="3794760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palavras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aos 2 anos e meio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480560" y="3291840"/>
            <a:ext cx="2103120" cy="0"/>
          </a:xfrm>
          <a:prstGeom prst="line">
            <a:avLst/>
          </a:prstGeom>
          <a:noFill/>
          <a:ln w="31750">
            <a:solidFill>
              <a:srgbClr val="8A6594"/>
            </a:solidFill>
            <a:prstDash val="solid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3977640" y="352044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 palavras novas POR DIA (fast mapping)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132320" y="2331720"/>
            <a:ext cx="4023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E96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15.000</a:t>
            </a:r>
            <a:endParaRPr lang="en-US" sz="8400" dirty="0"/>
          </a:p>
        </p:txBody>
      </p:sp>
      <p:sp>
        <p:nvSpPr>
          <p:cNvPr id="11" name="Text 9"/>
          <p:cNvSpPr/>
          <p:nvPr/>
        </p:nvSpPr>
        <p:spPr>
          <a:xfrm>
            <a:off x="7132320" y="384048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palavras aos 5-6 anos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914400" y="4709160"/>
            <a:ext cx="10332720" cy="868680"/>
          </a:xfrm>
          <a:prstGeom prst="roundRect">
            <a:avLst>
              <a:gd name="adj" fmla="val 7368"/>
            </a:avLst>
          </a:prstGeom>
          <a:solidFill>
            <a:srgbClr val="DDC9E3"/>
          </a:solidFill>
          <a:ln w="12700">
            <a:solidFill>
              <a:srgbClr val="DDC9E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88720" y="493776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ela chega EXTERNA: serve para pedir e nomear para o outro. Ainda não serve para se instruir. (Guardem isso.)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48640" y="6437376"/>
            <a:ext cx="8686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 &amp; Boyd, cap. 7, p. 188-189 (Bates 1994; Anglin 1995; Pinker 1994)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1 · 2-3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064240" cy="2834640"/>
          </a:xfrm>
          <a:prstGeom prst="roundRect">
            <a:avLst>
              <a:gd name="adj" fmla="val 2581"/>
            </a:avLst>
          </a:prstGeom>
          <a:solidFill>
            <a:srgbClr val="DDC9E3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783080"/>
            <a:ext cx="103327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5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essa criança vê no espelho, e o que isso muda?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48640" y="4572000"/>
            <a:ext cx="3017520" cy="402336"/>
          </a:xfrm>
          <a:prstGeom prst="roundRect">
            <a:avLst>
              <a:gd name="adj" fmla="val 18182"/>
            </a:avLst>
          </a:prstGeom>
          <a:solidFill>
            <a:srgbClr val="56365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6E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 V1 · TESTE DO ESPELHO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5636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1 · 2-3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138928" y="1965960"/>
            <a:ext cx="1920240" cy="1920240"/>
          </a:xfrm>
          <a:prstGeom prst="ellipse">
            <a:avLst/>
          </a:prstGeom>
          <a:solidFill>
            <a:srgbClr val="E96030"/>
          </a:solidFill>
          <a:ln/>
        </p:spPr>
      </p:sp>
      <p:sp>
        <p:nvSpPr>
          <p:cNvPr id="5" name="Shape 3"/>
          <p:cNvSpPr/>
          <p:nvPr/>
        </p:nvSpPr>
        <p:spPr>
          <a:xfrm rot="5400000">
            <a:off x="5806440" y="2487168"/>
            <a:ext cx="777240" cy="868680"/>
          </a:xfrm>
          <a:prstGeom prst="triangle">
            <a:avLst/>
          </a:prstGeom>
          <a:solidFill>
            <a:srgbClr val="F6EFF2"/>
          </a:solidFill>
          <a:ln/>
        </p:spPr>
      </p:sp>
      <p:sp>
        <p:nvSpPr>
          <p:cNvPr id="6" name="Text 4"/>
          <p:cNvSpPr/>
          <p:nvPr/>
        </p:nvSpPr>
        <p:spPr>
          <a:xfrm>
            <a:off x="0" y="416052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CB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 V1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2011680" y="4663440"/>
            <a:ext cx="816559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F6E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Rouge test: mancha na testa, criança diante do espelho. Antes dos ~18 meses, toca o espelho; depois, toca a própria testa.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0" y="6400800"/>
            <a:ext cx="11457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acervo público · nunca paciente próprio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1 · 2-3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 volta dos 18-24 meses a criança se reconhece: nasce um eu que pode ser representado, e portanto, um dia, regulado.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2743200"/>
            <a:ext cx="10332720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34440" y="3200400"/>
            <a:ext cx="96926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símbolo + eu representado</a:t>
            </a:r>
            <a:pPr indent="0" marL="0">
              <a:buNone/>
            </a:pPr>
            <a:r>
              <a:rPr lang="en-US" sz="17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as duas peças que a transferência do volante vai usar pelo resto da aula.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1 · 2-3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birra dos 2 anos é fisiologia da regulação externa: o alarme emocional está pronto, o freio ainda mora no adulto.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1005840" y="2514600"/>
            <a:ext cx="3017520" cy="1737360"/>
          </a:xfrm>
          <a:prstGeom prst="roundRect">
            <a:avLst>
              <a:gd name="adj" fmla="val 3684"/>
            </a:avLst>
          </a:prstGeom>
          <a:solidFill>
            <a:srgbClr val="ECB841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0" y="269748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ALARME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88720" y="3154680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límbico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funcionante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26280" y="2514600"/>
            <a:ext cx="3017520" cy="1737360"/>
          </a:xfrm>
          <a:prstGeom prst="roundRect">
            <a:avLst>
              <a:gd name="adj" fmla="val 3684"/>
            </a:avLst>
          </a:prstGeom>
          <a:solidFill>
            <a:srgbClr val="DDC9E3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09160" y="269748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FREIO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709160" y="3154680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pré-frontal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obra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046720" y="2514600"/>
            <a:ext cx="3017520" cy="1737360"/>
          </a:xfrm>
          <a:prstGeom prst="roundRect">
            <a:avLst>
              <a:gd name="adj" fmla="val 3684"/>
            </a:avLst>
          </a:prstGeom>
          <a:solidFill>
            <a:srgbClr val="FFFFFF"/>
          </a:solidFill>
          <a:ln w="25400">
            <a:solidFill>
              <a:srgbClr val="E9603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69748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FREIO EXTERNO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229600" y="3154680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adulto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(co-regulação)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1005840" y="4572000"/>
            <a:ext cx="10104120" cy="960120"/>
          </a:xfrm>
          <a:prstGeom prst="roundRect">
            <a:avLst>
              <a:gd name="adj" fmla="val 6667"/>
            </a:avLst>
          </a:prstGeom>
          <a:solidFill>
            <a:srgbClr val="EDE2F0"/>
          </a:solidFill>
          <a:ln w="12700">
            <a:solidFill>
              <a:srgbClr val="EDE2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80160" y="4773168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Contrapeso: aos 2 anos, OBEDECER é a regra, não a exceção (Gralinski &amp; Kopp). E a agressão do pico 2-4 é instrumental: quer o objeto, não ferir.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548640" y="6437376"/>
            <a:ext cx="8686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 &amp; Boyd, cap. 8, p. 214 e p. 226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897112" y="6455664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aprofundamento: apêndice A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1 · 2-3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064240" cy="2834640"/>
          </a:xfrm>
          <a:prstGeom prst="roundRect">
            <a:avLst>
              <a:gd name="adj" fmla="val 2581"/>
            </a:avLst>
          </a:prstGeom>
          <a:solidFill>
            <a:srgbClr val="DDC9E3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783080"/>
            <a:ext cx="103327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5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Nesta cena, repare no que acontece imediatamente ANTES e imediatamente DEPOIS do grito.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48640" y="4572000"/>
            <a:ext cx="3017520" cy="402336"/>
          </a:xfrm>
          <a:prstGeom prst="roundRect">
            <a:avLst>
              <a:gd name="adj" fmla="val 18182"/>
            </a:avLst>
          </a:prstGeom>
          <a:solidFill>
            <a:srgbClr val="56365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6E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 V2 · CENA NATURAL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5636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1 · 2-3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138928" y="1965960"/>
            <a:ext cx="1920240" cy="1920240"/>
          </a:xfrm>
          <a:prstGeom prst="ellipse">
            <a:avLst/>
          </a:prstGeom>
          <a:solidFill>
            <a:srgbClr val="E96030"/>
          </a:solidFill>
          <a:ln/>
        </p:spPr>
      </p:sp>
      <p:sp>
        <p:nvSpPr>
          <p:cNvPr id="5" name="Shape 3"/>
          <p:cNvSpPr/>
          <p:nvPr/>
        </p:nvSpPr>
        <p:spPr>
          <a:xfrm rot="5400000">
            <a:off x="5806440" y="2487168"/>
            <a:ext cx="777240" cy="868680"/>
          </a:xfrm>
          <a:prstGeom prst="triangle">
            <a:avLst/>
          </a:prstGeom>
          <a:solidFill>
            <a:srgbClr val="F6EFF2"/>
          </a:solidFill>
          <a:ln/>
        </p:spPr>
      </p:sp>
      <p:sp>
        <p:nvSpPr>
          <p:cNvPr id="6" name="Text 4"/>
          <p:cNvSpPr/>
          <p:nvPr/>
        </p:nvSpPr>
        <p:spPr>
          <a:xfrm>
            <a:off x="0" y="416052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CB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 V2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2011680" y="4663440"/>
            <a:ext cx="816559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F6E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Birra real em local público, com antecedente visível.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2011680" y="5486400"/>
            <a:ext cx="81655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exibir → congelar 3x (gatilho · pico · resolução) → perguntar → reexibir inteiro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0" y="6400800"/>
            <a:ext cx="11457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acervo público · nunca paciente próprio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1 · 2-3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 birra tem gramática (gatilho, escalada, função), e ler essa gramática é o primeiro passo da análise funcional.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1005840" y="2651760"/>
            <a:ext cx="3017520" cy="2011680"/>
          </a:xfrm>
          <a:prstGeom prst="roundRect">
            <a:avLst>
              <a:gd name="adj" fmla="val 3182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05840" y="2651760"/>
            <a:ext cx="3017520" cy="73152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8" name="Text 6"/>
          <p:cNvSpPr/>
          <p:nvPr/>
        </p:nvSpPr>
        <p:spPr>
          <a:xfrm>
            <a:off x="1188720" y="283464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· ANTECEDENTE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188720" y="3337560"/>
            <a:ext cx="26517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aconteceu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imediatamente antes?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26280" y="2651760"/>
            <a:ext cx="3017520" cy="2011680"/>
          </a:xfrm>
          <a:prstGeom prst="roundRect">
            <a:avLst>
              <a:gd name="adj" fmla="val 3182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26280" y="2651760"/>
            <a:ext cx="3017520" cy="73152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12" name="Text 10"/>
          <p:cNvSpPr/>
          <p:nvPr/>
        </p:nvSpPr>
        <p:spPr>
          <a:xfrm>
            <a:off x="4709160" y="283464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· COMPORTAMENTO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709160" y="3337560"/>
            <a:ext cx="26517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o corpo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 fez?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046720" y="2651760"/>
            <a:ext cx="3017520" cy="2011680"/>
          </a:xfrm>
          <a:prstGeom prst="roundRect">
            <a:avLst>
              <a:gd name="adj" fmla="val 3182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46720" y="2651760"/>
            <a:ext cx="3017520" cy="73152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0" y="283464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· CONSEQUÊNCIA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229600" y="3337560"/>
            <a:ext cx="26517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ela obteve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(ou evitou)?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897112" y="6455664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aprofundamento: apêndice A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1 · 2-3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064240" cy="2834640"/>
          </a:xfrm>
          <a:prstGeom prst="roundRect">
            <a:avLst>
              <a:gd name="adj" fmla="val 2581"/>
            </a:avLst>
          </a:prstGeom>
          <a:solidFill>
            <a:srgbClr val="DDC9E3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783080"/>
            <a:ext cx="103327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5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Agora, 20 segundos de uma criança de 2 anos absolutamente comum: o que já está lá?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48640" y="4572000"/>
            <a:ext cx="3017520" cy="402336"/>
          </a:xfrm>
          <a:prstGeom prst="roundRect">
            <a:avLst>
              <a:gd name="adj" fmla="val 18182"/>
            </a:avLst>
          </a:prstGeom>
          <a:solidFill>
            <a:srgbClr val="56365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6E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 V3 · DNPM NORMAL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5636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1 · 2-3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138928" y="1965960"/>
            <a:ext cx="1920240" cy="1920240"/>
          </a:xfrm>
          <a:prstGeom prst="ellipse">
            <a:avLst/>
          </a:prstGeom>
          <a:solidFill>
            <a:srgbClr val="E96030"/>
          </a:solidFill>
          <a:ln/>
        </p:spPr>
      </p:sp>
      <p:sp>
        <p:nvSpPr>
          <p:cNvPr id="5" name="Shape 3"/>
          <p:cNvSpPr/>
          <p:nvPr/>
        </p:nvSpPr>
        <p:spPr>
          <a:xfrm rot="5400000">
            <a:off x="5806440" y="2487168"/>
            <a:ext cx="777240" cy="868680"/>
          </a:xfrm>
          <a:prstGeom prst="triangle">
            <a:avLst/>
          </a:prstGeom>
          <a:solidFill>
            <a:srgbClr val="F6EFF2"/>
          </a:solidFill>
          <a:ln/>
        </p:spPr>
      </p:sp>
      <p:sp>
        <p:nvSpPr>
          <p:cNvPr id="6" name="Text 4"/>
          <p:cNvSpPr/>
          <p:nvPr/>
        </p:nvSpPr>
        <p:spPr>
          <a:xfrm>
            <a:off x="0" y="416052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CB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 V3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2011680" y="4663440"/>
            <a:ext cx="816559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F6E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Criança de 2-3 anos: faz de conta substitutivo + fala telegráfica. 15-30 segundos.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0" y="6400800"/>
            <a:ext cx="11457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acervo público · nunca paciente próprio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1 · 2-3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Faz de conta, palavras novas todo dia e birra à tarde: esse pacote inteiro é o normal dos 2 aos 3.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1188720" y="2651760"/>
            <a:ext cx="292608" cy="292608"/>
          </a:xfrm>
          <a:prstGeom prst="ellipse">
            <a:avLst/>
          </a:prstGeom>
          <a:solidFill>
            <a:srgbClr val="ECB841"/>
          </a:solidFill>
          <a:ln/>
        </p:spPr>
      </p:sp>
      <p:sp>
        <p:nvSpPr>
          <p:cNvPr id="7" name="Text 5"/>
          <p:cNvSpPr/>
          <p:nvPr/>
        </p:nvSpPr>
        <p:spPr>
          <a:xfrm>
            <a:off x="1691640" y="2615184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função semiótica em uso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188720" y="3520440"/>
            <a:ext cx="292608" cy="292608"/>
          </a:xfrm>
          <a:prstGeom prst="ellipse">
            <a:avLst/>
          </a:prstGeom>
          <a:solidFill>
            <a:srgbClr val="ECB841"/>
          </a:solidFill>
          <a:ln/>
        </p:spPr>
      </p:sp>
      <p:sp>
        <p:nvSpPr>
          <p:cNvPr id="9" name="Text 7"/>
          <p:cNvSpPr/>
          <p:nvPr/>
        </p:nvSpPr>
        <p:spPr>
          <a:xfrm>
            <a:off x="1691640" y="3483864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explosão lexical em curso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1188720" y="4389120"/>
            <a:ext cx="292608" cy="292608"/>
          </a:xfrm>
          <a:prstGeom prst="ellipse">
            <a:avLst/>
          </a:prstGeom>
          <a:solidFill>
            <a:srgbClr val="ECB841"/>
          </a:solidFill>
          <a:ln/>
        </p:spPr>
      </p:sp>
      <p:sp>
        <p:nvSpPr>
          <p:cNvPr id="11" name="Text 9"/>
          <p:cNvSpPr/>
          <p:nvPr/>
        </p:nvSpPr>
        <p:spPr>
          <a:xfrm>
            <a:off x="1691640" y="4352544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regulação ainda externa (e barulhenta)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1 · 2-3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10896"/>
            <a:ext cx="3931920" cy="365760"/>
          </a:xfrm>
          <a:prstGeom prst="roundRect">
            <a:avLst>
              <a:gd name="adj" fmla="val 20000"/>
            </a:avLst>
          </a:prstGeom>
          <a:solidFill>
            <a:srgbClr val="E9603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DEVERIA TE TIRAR O SONO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3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deveria te tirar o sono aos 2 anos não é a birra: é o apontar que só pede e nunca mostra.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822960" y="2468880"/>
            <a:ext cx="50292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97280" y="2697480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APONTAR PARA PEDIR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097280" y="3200400"/>
            <a:ext cx="44805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“quero aquilo”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outro como ferramenta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PRESERVADO no TEA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6309360" y="2468880"/>
            <a:ext cx="50292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 w="25400">
            <a:solidFill>
              <a:srgbClr val="E9603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83680" y="2697480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APONTAR PARA MOSTRAR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6583680" y="3200400"/>
            <a:ext cx="44805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“olha aquilo!”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outro como MENTE com quem se divide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DEFICIENTE no TEA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822960" y="5440680"/>
            <a:ext cx="10607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não responder ao nome (audição normal) · não seguir o apontar do outro · sem faz de conta · linguagem SEM gesto compensatório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548640" y="6437376"/>
            <a:ext cx="8686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atenção compartilhada · M-CHAT-R (Modified Checklist for Autism in Toddlers, rastreio 16-30 meses)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5636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1 · 2-3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66928" y="1188720"/>
            <a:ext cx="1554480" cy="45720"/>
          </a:xfrm>
          <a:prstGeom prst="rect">
            <a:avLst/>
          </a:prstGeom>
          <a:solidFill>
            <a:srgbClr val="ECB841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554480"/>
            <a:ext cx="1097280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3000" b="1" dirty="0">
                <a:solidFill>
                  <a:srgbClr val="F6EF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Alice agora representa o mundo. Mas ela sabe que existe um mundo dentro da SUA cabeça?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828800" y="510235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DO VOLANTE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828800" y="5394960"/>
            <a:ext cx="2148840" cy="420624"/>
          </a:xfrm>
          <a:prstGeom prst="roundRect">
            <a:avLst>
              <a:gd name="adj" fmla="val 13043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014216" y="5605272"/>
            <a:ext cx="219456" cy="0"/>
          </a:xfrm>
          <a:prstGeom prst="line">
            <a:avLst/>
          </a:prstGeom>
          <a:noFill/>
          <a:ln w="19050">
            <a:solidFill>
              <a:srgbClr val="DDC9E3"/>
            </a:solidFill>
            <a:prstDash val="solid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4270248" y="5394960"/>
            <a:ext cx="2148840" cy="420624"/>
          </a:xfrm>
          <a:prstGeom prst="roundRect">
            <a:avLst>
              <a:gd name="adj" fmla="val 13043"/>
            </a:avLst>
          </a:prstGeom>
          <a:solidFill>
            <a:srgbClr val="E9603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LINGUAGEM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455664" y="5605272"/>
            <a:ext cx="219456" cy="0"/>
          </a:xfrm>
          <a:prstGeom prst="line">
            <a:avLst/>
          </a:prstGeom>
          <a:noFill/>
          <a:ln w="19050">
            <a:solidFill>
              <a:srgbClr val="DDC9E3"/>
            </a:solidFill>
            <a:prstDash val="solid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6711696" y="5394960"/>
            <a:ext cx="2148840" cy="420624"/>
          </a:xfrm>
          <a:prstGeom prst="roundRect">
            <a:avLst>
              <a:gd name="adj" fmla="val 13043"/>
            </a:avLst>
          </a:prstGeom>
          <a:solidFill>
            <a:srgbClr val="8A659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6E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FREIO INTERNO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897112" y="5605272"/>
            <a:ext cx="219456" cy="0"/>
          </a:xfrm>
          <a:prstGeom prst="line">
            <a:avLst/>
          </a:prstGeom>
          <a:noFill/>
          <a:ln w="19050">
            <a:solidFill>
              <a:srgbClr val="DDC9E3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9153144" y="5394960"/>
            <a:ext cx="2148840" cy="420624"/>
          </a:xfrm>
          <a:prstGeom prst="roundRect">
            <a:avLst>
              <a:gd name="adj" fmla="val 13043"/>
            </a:avLst>
          </a:prstGeom>
          <a:solidFill>
            <a:srgbClr val="8A659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6E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</a:t>
            </a:r>
            <a:endParaRPr lang="en-US" sz="11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2 · 3-5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0" y="1965960"/>
            <a:ext cx="12188952" cy="3977640"/>
          </a:xfrm>
          <a:prstGeom prst="rect">
            <a:avLst/>
          </a:prstGeom>
          <a:solidFill>
            <a:srgbClr val="EDE2F0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1965960"/>
            <a:ext cx="128016" cy="3977640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92608"/>
            <a:ext cx="2834640" cy="365760"/>
          </a:xfrm>
          <a:prstGeom prst="roundRect">
            <a:avLst>
              <a:gd name="adj" fmla="val 20000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CENA · ALICE, 4 ANOS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868680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Alice, 4 anos, esconde o desenho rasgado e culpa o gato: a primeira mentira é uma conquista.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77240" y="2377440"/>
            <a:ext cx="106070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i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Alice rasgou sem querer o desenho da irmã. Quando a mãe pergunta, ela olha para o gato: “foi ele”. No consultório, a mãe me pergunta se deve se preocupar com o caráter da filha.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77240" y="55321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narrada ao vivo · Alice é normal do início ao fim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2 · 3-5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Para mentir, Alice precisou descobrir que as pessoas agem pelo que ACREDITAM, não pelo que é verdade.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2560320"/>
            <a:ext cx="10332720" cy="2103120"/>
          </a:xfrm>
          <a:prstGeom prst="roundRect">
            <a:avLst>
              <a:gd name="adj" fmla="val 3478"/>
            </a:avLst>
          </a:prstGeom>
          <a:solidFill>
            <a:srgbClr val="DDC9E3"/>
          </a:solidFill>
          <a:ln/>
        </p:spPr>
      </p:sp>
      <p:sp>
        <p:nvSpPr>
          <p:cNvPr id="7" name="Text 5"/>
          <p:cNvSpPr/>
          <p:nvPr/>
        </p:nvSpPr>
        <p:spPr>
          <a:xfrm>
            <a:off x="1234440" y="2788920"/>
            <a:ext cx="96926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TEORIA DA MENTE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234440" y="3200400"/>
            <a:ext cx="96926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conjunto de ideias com que explicamos as crenças, desejos e comportamentos dos outros. O marco duro é a CRENÇA FALSA: entender que o outro pode agir por uma representação errada do mundo.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48640" y="6437376"/>
            <a:ext cx="8686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 &amp; Boyd, cap. 7, p. 184-185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2 · 3-5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064240" cy="2834640"/>
          </a:xfrm>
          <a:prstGeom prst="roundRect">
            <a:avLst>
              <a:gd name="adj" fmla="val 2581"/>
            </a:avLst>
          </a:prstGeom>
          <a:solidFill>
            <a:srgbClr val="DDC9E3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783080"/>
            <a:ext cx="103327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5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Onde Sally vai procurar a bolinha quando voltar?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48640" y="4572000"/>
            <a:ext cx="3017520" cy="402336"/>
          </a:xfrm>
          <a:prstGeom prst="roundRect">
            <a:avLst>
              <a:gd name="adj" fmla="val 18182"/>
            </a:avLst>
          </a:prstGeom>
          <a:solidFill>
            <a:srgbClr val="56365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6E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 V4 · FALSA CRENÇA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3703320" y="4572000"/>
            <a:ext cx="2286000" cy="402336"/>
          </a:xfrm>
          <a:prstGeom prst="roundRect">
            <a:avLst>
              <a:gd name="adj" fmla="val 18182"/>
            </a:avLst>
          </a:prstGeom>
          <a:solidFill>
            <a:srgbClr val="E9603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APOSTA DA PLATEIA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172200" y="4617720"/>
            <a:ext cx="54864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Votem: com que idade a MAIORIA das crianças passa a acertar? 2, 3, 4 ou 6?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8897112" y="6455664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aprofundamento: apêndice C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5636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2 · 3-5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138928" y="1965960"/>
            <a:ext cx="1920240" cy="1920240"/>
          </a:xfrm>
          <a:prstGeom prst="ellipse">
            <a:avLst/>
          </a:prstGeom>
          <a:solidFill>
            <a:srgbClr val="E96030"/>
          </a:solidFill>
          <a:ln/>
        </p:spPr>
      </p:sp>
      <p:sp>
        <p:nvSpPr>
          <p:cNvPr id="5" name="Shape 3"/>
          <p:cNvSpPr/>
          <p:nvPr/>
        </p:nvSpPr>
        <p:spPr>
          <a:xfrm rot="5400000">
            <a:off x="5806440" y="2487168"/>
            <a:ext cx="777240" cy="868680"/>
          </a:xfrm>
          <a:prstGeom prst="triangle">
            <a:avLst/>
          </a:prstGeom>
          <a:solidFill>
            <a:srgbClr val="F6EFF2"/>
          </a:solidFill>
          <a:ln/>
        </p:spPr>
      </p:sp>
      <p:sp>
        <p:nvSpPr>
          <p:cNvPr id="6" name="Text 4"/>
          <p:cNvSpPr/>
          <p:nvPr/>
        </p:nvSpPr>
        <p:spPr>
          <a:xfrm>
            <a:off x="0" y="416052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CB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 V4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2011680" y="4663440"/>
            <a:ext cx="816559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F6E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Sally-Anne (ou caixa de doces): criança de 3 erra, criança de 4-5 acerta.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2011680" y="5486400"/>
            <a:ext cx="81655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pausar antes da resposta da criança de 3: “o que ela vai dizer?”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0" y="6400800"/>
            <a:ext cx="11457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acervo público · nunca paciente próprio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2 · 3-5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Aos 3 a maioria erra, aos 5 a maioria acerta, e o padrão se repete em toda cultura testada.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2377440" y="3931920"/>
            <a:ext cx="1554480" cy="1005840"/>
          </a:xfrm>
          <a:prstGeom prst="rect">
            <a:avLst/>
          </a:prstGeom>
          <a:solidFill>
            <a:srgbClr val="DDC9E3"/>
          </a:solidFill>
          <a:ln/>
        </p:spPr>
      </p:sp>
      <p:sp>
        <p:nvSpPr>
          <p:cNvPr id="7" name="Text 5"/>
          <p:cNvSpPr/>
          <p:nvPr/>
        </p:nvSpPr>
        <p:spPr>
          <a:xfrm>
            <a:off x="2240280" y="502920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anos: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maioria erra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023360" y="3703320"/>
            <a:ext cx="1554480" cy="1234440"/>
          </a:xfrm>
          <a:prstGeom prst="rect">
            <a:avLst/>
          </a:prstGeom>
          <a:solidFill>
            <a:srgbClr val="ECB841"/>
          </a:solidFill>
          <a:ln/>
        </p:spPr>
      </p:sp>
      <p:sp>
        <p:nvSpPr>
          <p:cNvPr id="9" name="Text 7"/>
          <p:cNvSpPr/>
          <p:nvPr/>
        </p:nvSpPr>
        <p:spPr>
          <a:xfrm>
            <a:off x="3886200" y="502920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anos: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meio a meio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0" y="2468880"/>
            <a:ext cx="1554480" cy="2468880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11" name="Shape 9"/>
          <p:cNvSpPr/>
          <p:nvPr/>
        </p:nvSpPr>
        <p:spPr>
          <a:xfrm>
            <a:off x="1920240" y="4937760"/>
            <a:ext cx="5760720" cy="0"/>
          </a:xfrm>
          <a:prstGeom prst="line">
            <a:avLst/>
          </a:prstGeom>
          <a:noFill/>
          <a:ln w="19050">
            <a:solidFill>
              <a:srgbClr val="8A659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532120" y="502920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anos: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maioria acerta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138160" y="2926080"/>
            <a:ext cx="3200400" cy="1737360"/>
          </a:xfrm>
          <a:prstGeom prst="roundRect">
            <a:avLst>
              <a:gd name="adj" fmla="val 3684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66760" y="3154680"/>
            <a:ext cx="27432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Inclusive entre os Baka, caçadores-coletores de Camarões: isso não é escolarização, é maturação.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548640" y="6437376"/>
            <a:ext cx="8686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 &amp; Boyd, cap. 7, p. 185 (Flavell) e p. 186 (Avis &amp; Harris, 1991)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897112" y="6455664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aprofundamento: apêndice C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2 · 3-5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fala privada é o volante em trânsito: a instrução do adulto vira voz alta da criança, e depois vira pensamento.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651760"/>
            <a:ext cx="3200400" cy="1737360"/>
          </a:xfrm>
          <a:prstGeom prst="roundRect">
            <a:avLst>
              <a:gd name="adj" fmla="val 3684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2834640"/>
            <a:ext cx="28346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FALA DO ADULTO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005840" y="3291840"/>
            <a:ext cx="28346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“cuidado no degrau”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069080" y="3520440"/>
            <a:ext cx="457200" cy="0"/>
          </a:xfrm>
          <a:prstGeom prst="line">
            <a:avLst/>
          </a:prstGeom>
          <a:noFill/>
          <a:ln w="38100">
            <a:solidFill>
              <a:srgbClr val="E96030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572000" y="2651760"/>
            <a:ext cx="3200400" cy="1737360"/>
          </a:xfrm>
          <a:prstGeom prst="roundRect">
            <a:avLst>
              <a:gd name="adj" fmla="val 3684"/>
            </a:avLst>
          </a:prstGeom>
          <a:solidFill>
            <a:srgbClr val="DDC9E3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0" y="2834640"/>
            <a:ext cx="28346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FALA PRIVADA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4754880" y="3291840"/>
            <a:ext cx="28346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 anos: ela diz “cuidado”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si mesma, em voz alta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7818120" y="3520440"/>
            <a:ext cx="457200" cy="0"/>
          </a:xfrm>
          <a:prstGeom prst="line">
            <a:avLst/>
          </a:prstGeom>
          <a:noFill/>
          <a:ln w="38100">
            <a:solidFill>
              <a:srgbClr val="E96030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8321040" y="2651760"/>
            <a:ext cx="3200400" cy="1737360"/>
          </a:xfrm>
          <a:prstGeom prst="roundRect">
            <a:avLst>
              <a:gd name="adj" fmla="val 3684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03920" y="2834640"/>
            <a:ext cx="28346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PENSAMENTO VERBAL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8503920" y="3291840"/>
            <a:ext cx="28346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6-7 anos: a voz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completamente internalizada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822960" y="4663440"/>
            <a:ext cx="10607040" cy="822960"/>
          </a:xfrm>
          <a:prstGeom prst="roundRect">
            <a:avLst>
              <a:gd name="adj" fmla="val 7778"/>
            </a:avLst>
          </a:prstGeom>
          <a:solidFill>
            <a:srgbClr val="EDE2F0"/>
          </a:solidFill>
          <a:ln w="12700">
            <a:solidFill>
              <a:srgbClr val="EDE2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97280" y="4864608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i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Vygotsky contra Piaget: a fala privada não desaparece, ela vai para DENTRO. E a pesquisa moderna deu razão a Vygotsky.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548640" y="6437376"/>
            <a:ext cx="8686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 &amp; Boyd, cap. 7, p. 187-188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2 · 3-5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trabalho dos 3 aos 5 é ter iniciativa; a culpa que nasce junto é o primeiro freio interno.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468880"/>
            <a:ext cx="5120640" cy="2926080"/>
          </a:xfrm>
          <a:prstGeom prst="roundRect">
            <a:avLst>
              <a:gd name="adj" fmla="val 2188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269748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INICIATIVA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97280" y="3154680"/>
            <a:ext cx="45720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planejar, propor, testar, transgredir: o motor da idade (Erikson). A tarefa dos pais é equilibrar autonomia e proteção.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263640" y="2468880"/>
            <a:ext cx="5120640" cy="2926080"/>
          </a:xfrm>
          <a:prstGeom prst="roundRect">
            <a:avLst>
              <a:gd name="adj" fmla="val 2188"/>
            </a:avLst>
          </a:prstGeom>
          <a:solidFill>
            <a:srgbClr val="DDC9E3"/>
          </a:solidFill>
          <a:ln w="12700">
            <a:solidFill>
              <a:srgbClr val="DDC9E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37960" y="269748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CULPA · VERGONHA · ORGULHO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537960" y="3154680"/>
            <a:ext cx="45720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emoções morais chegam como primeiro freio interno, de natureza afetiva. Nascem DENTRO de relações calorosas; sem confiança, saem fracas demais para regular.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48640" y="6437376"/>
            <a:ext cx="8686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 &amp; Boyd, cap. 8, p. 202 e p. 207-208 (Koenig 2004)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2 · 3-5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064240" cy="2834640"/>
          </a:xfrm>
          <a:prstGeom prst="roundRect">
            <a:avLst>
              <a:gd name="adj" fmla="val 2581"/>
            </a:avLst>
          </a:prstGeom>
          <a:solidFill>
            <a:srgbClr val="DDC9E3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783080"/>
            <a:ext cx="103327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5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Repare no que essa criança de 4 anos faz com a boca enquanto monta o quebra-cabeça.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48640" y="4572000"/>
            <a:ext cx="3017520" cy="402336"/>
          </a:xfrm>
          <a:prstGeom prst="roundRect">
            <a:avLst>
              <a:gd name="adj" fmla="val 18182"/>
            </a:avLst>
          </a:prstGeom>
          <a:solidFill>
            <a:srgbClr val="56365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6E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 V5 · DNPM NORMAL</a:t>
            </a:r>
            <a:endParaRPr lang="en-US" sz="11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5636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2 · 3-5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138928" y="1965960"/>
            <a:ext cx="1920240" cy="1920240"/>
          </a:xfrm>
          <a:prstGeom prst="ellipse">
            <a:avLst/>
          </a:prstGeom>
          <a:solidFill>
            <a:srgbClr val="E96030"/>
          </a:solidFill>
          <a:ln/>
        </p:spPr>
      </p:sp>
      <p:sp>
        <p:nvSpPr>
          <p:cNvPr id="5" name="Shape 3"/>
          <p:cNvSpPr/>
          <p:nvPr/>
        </p:nvSpPr>
        <p:spPr>
          <a:xfrm rot="5400000">
            <a:off x="5806440" y="2487168"/>
            <a:ext cx="777240" cy="868680"/>
          </a:xfrm>
          <a:prstGeom prst="triangle">
            <a:avLst/>
          </a:prstGeom>
          <a:solidFill>
            <a:srgbClr val="F6EFF2"/>
          </a:solidFill>
          <a:ln/>
        </p:spPr>
      </p:sp>
      <p:sp>
        <p:nvSpPr>
          <p:cNvPr id="6" name="Text 4"/>
          <p:cNvSpPr/>
          <p:nvPr/>
        </p:nvSpPr>
        <p:spPr>
          <a:xfrm>
            <a:off x="0" y="416052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CB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 V5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2011680" y="4663440"/>
            <a:ext cx="816559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F6E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Criança de ~4 anos sozinha em tarefa, instruindo-se em voz alta. 15-30 segundos.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0" y="6400800"/>
            <a:ext cx="11457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acervo público · nunca paciente próprio</a:t>
            </a:r>
            <a:endParaRPr lang="en-US" sz="10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2 · 3-5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3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Ela está se dirigindo com a própria voz; em dois anos, essa voz vai para dentro.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2743200"/>
            <a:ext cx="1033272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34440" y="3154680"/>
            <a:ext cx="96926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vocês acabaram de ver tem endereço na tese: </a:t>
            </a:r>
            <a:pPr indent="0" marL="0">
              <a:buNone/>
            </a:pPr>
            <a:r>
              <a:rPr lang="en-US" sz="170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 volante em trânsito, audível.</a:t>
            </a:r>
            <a:endParaRPr lang="en-US" sz="17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2 · 3-5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10896"/>
            <a:ext cx="3931920" cy="365760"/>
          </a:xfrm>
          <a:prstGeom prst="roundRect">
            <a:avLst>
              <a:gd name="adj" fmla="val 20000"/>
            </a:avLst>
          </a:prstGeom>
          <a:solidFill>
            <a:srgbClr val="E9603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DEVERIA TE TIRAR O SONO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3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Quando resistir FUNCIONA, a oposição vira comportamento aprendido: é assim que se arma o risco de transtorno opositivo-desafiador (TOD).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1828800" y="2560320"/>
            <a:ext cx="3383280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965960" y="2834640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ORDEM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949440" y="2560320"/>
            <a:ext cx="3383280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086600" y="2834640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OPOSIÇÃO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949440" y="4206240"/>
            <a:ext cx="3383280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086600" y="4480560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ADULTO RECUA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1828800" y="4206240"/>
            <a:ext cx="3383280" cy="1005840"/>
          </a:xfrm>
          <a:prstGeom prst="roundRect">
            <a:avLst>
              <a:gd name="adj" fmla="val 6364"/>
            </a:avLst>
          </a:prstGeom>
          <a:solidFill>
            <a:srgbClr val="DDC9E3"/>
          </a:solidFill>
          <a:ln w="25400">
            <a:solidFill>
              <a:srgbClr val="E9603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965960" y="4480560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OPOSIÇÃO REFORÇADA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257800" y="3063240"/>
            <a:ext cx="1645920" cy="0"/>
          </a:xfrm>
          <a:prstGeom prst="line">
            <a:avLst/>
          </a:prstGeom>
          <a:noFill/>
          <a:ln w="25400">
            <a:solidFill>
              <a:srgbClr val="8A6594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8641080" y="3611880"/>
            <a:ext cx="0" cy="548640"/>
          </a:xfrm>
          <a:prstGeom prst="line">
            <a:avLst/>
          </a:prstGeom>
          <a:noFill/>
          <a:ln w="25400">
            <a:solidFill>
              <a:srgbClr val="8A6594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5257800" y="4709160"/>
            <a:ext cx="1645920" cy="0"/>
          </a:xfrm>
          <a:prstGeom prst="line">
            <a:avLst/>
          </a:prstGeom>
          <a:noFill/>
          <a:ln w="25400">
            <a:solidFill>
              <a:srgbClr val="8A6594"/>
            </a:solidFill>
            <a:prstDash val="solid"/>
            <a:headEnd type="triangle"/>
          </a:ln>
        </p:spPr>
      </p:sp>
      <p:sp>
        <p:nvSpPr>
          <p:cNvPr id="18" name="Shape 15"/>
          <p:cNvSpPr/>
          <p:nvPr/>
        </p:nvSpPr>
        <p:spPr>
          <a:xfrm>
            <a:off x="3520440" y="3611880"/>
            <a:ext cx="0" cy="548640"/>
          </a:xfrm>
          <a:prstGeom prst="line">
            <a:avLst/>
          </a:prstGeom>
          <a:noFill/>
          <a:ln w="25400">
            <a:solidFill>
              <a:srgbClr val="8A6594"/>
            </a:solidFill>
            <a:prstDash val="solid"/>
            <a:headEnd type="triangle"/>
          </a:ln>
        </p:spPr>
      </p:sp>
      <p:sp>
        <p:nvSpPr>
          <p:cNvPr id="19" name="Text 16"/>
          <p:cNvSpPr/>
          <p:nvPr/>
        </p:nvSpPr>
        <p:spPr>
          <a:xfrm>
            <a:off x="3931920" y="548640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ciclo roda em loop, e cada volta o fortalece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548640" y="6437376"/>
            <a:ext cx="8686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 &amp; Boyd, cap. 8, p. 214 (Patterson 1980) e p. 226 (ceder à birra reforça o padrão)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897112" y="6455664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aprofundamento: apêndice A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2 · 3-5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10896"/>
            <a:ext cx="3931920" cy="365760"/>
          </a:xfrm>
          <a:prstGeom prst="roundRect">
            <a:avLst>
              <a:gd name="adj" fmla="val 20000"/>
            </a:avLst>
          </a:prstGeom>
          <a:solidFill>
            <a:srgbClr val="E9603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DEVERIA TE TIRAR O SONO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3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pré-escolar que deveria te tirar o sono não é o levado: é o que mantém a mesma intensidade em qualquer contexto.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822960" y="2468880"/>
            <a:ext cx="5029200" cy="2834640"/>
          </a:xfrm>
          <a:prstGeom prst="roundRect">
            <a:avLst>
              <a:gd name="adj" fmla="val 2258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97280" y="2697480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AGITADO E NORMAL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1097280" y="3154680"/>
            <a:ext cx="448056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intensidade que RESPONDE a contexto: pior no fim do dia, melhor no interesse, regulável pelo adulto. Birras em declínio ano a ano.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6309360" y="2468880"/>
            <a:ext cx="5029200" cy="2834640"/>
          </a:xfrm>
          <a:prstGeom prst="roundRect">
            <a:avLst>
              <a:gd name="adj" fmla="val 2258"/>
            </a:avLst>
          </a:prstGeom>
          <a:solidFill>
            <a:srgbClr val="FFFFFF"/>
          </a:solidFill>
          <a:ln w="25400">
            <a:solidFill>
              <a:srgbClr val="E9603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83680" y="2697480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SINAL DE ALERTA</a:t>
            </a:r>
            <a:endParaRPr lang="en-US" sz="1550" dirty="0"/>
          </a:p>
        </p:txBody>
      </p:sp>
      <p:sp>
        <p:nvSpPr>
          <p:cNvPr id="12" name="Text 9"/>
          <p:cNvSpPr/>
          <p:nvPr/>
        </p:nvSpPr>
        <p:spPr>
          <a:xfrm>
            <a:off x="6583680" y="3154680"/>
            <a:ext cx="448056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MESMA intensidade em casa, escola, consultório e festa. Birras que não declinam. Co-regulação que nunca é dispensada.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548640" y="6437376"/>
            <a:ext cx="8686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 &amp; Boyd, cap. 8, p. 206-207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897112" y="6455664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aprofundamento: apêndice B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5636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2 · 3-5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66928" y="1188720"/>
            <a:ext cx="1554480" cy="45720"/>
          </a:xfrm>
          <a:prstGeom prst="rect">
            <a:avLst/>
          </a:prstGeom>
          <a:solidFill>
            <a:srgbClr val="ECB841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554480"/>
            <a:ext cx="1097280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3000" b="1" dirty="0">
                <a:solidFill>
                  <a:srgbClr val="F6EF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Essa mente que descobriu outras mentes vai ser trancada numa sala com 25 iguais e um adulto só. O que acontece?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828800" y="510235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DO VOLANTE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828800" y="5394960"/>
            <a:ext cx="2148840" cy="420624"/>
          </a:xfrm>
          <a:prstGeom prst="roundRect">
            <a:avLst>
              <a:gd name="adj" fmla="val 13043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014216" y="5605272"/>
            <a:ext cx="219456" cy="0"/>
          </a:xfrm>
          <a:prstGeom prst="line">
            <a:avLst/>
          </a:prstGeom>
          <a:noFill/>
          <a:ln w="19050">
            <a:solidFill>
              <a:srgbClr val="DDC9E3"/>
            </a:solidFill>
            <a:prstDash val="solid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4270248" y="5394960"/>
            <a:ext cx="2148840" cy="420624"/>
          </a:xfrm>
          <a:prstGeom prst="roundRect">
            <a:avLst>
              <a:gd name="adj" fmla="val 13043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LINGUAGEM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455664" y="5605272"/>
            <a:ext cx="219456" cy="0"/>
          </a:xfrm>
          <a:prstGeom prst="line">
            <a:avLst/>
          </a:prstGeom>
          <a:noFill/>
          <a:ln w="19050">
            <a:solidFill>
              <a:srgbClr val="DDC9E3"/>
            </a:solidFill>
            <a:prstDash val="solid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6711696" y="5394960"/>
            <a:ext cx="2148840" cy="420624"/>
          </a:xfrm>
          <a:prstGeom prst="roundRect">
            <a:avLst>
              <a:gd name="adj" fmla="val 13043"/>
            </a:avLst>
          </a:prstGeom>
          <a:solidFill>
            <a:srgbClr val="E9603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FREIO INTERNO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897112" y="5605272"/>
            <a:ext cx="219456" cy="0"/>
          </a:xfrm>
          <a:prstGeom prst="line">
            <a:avLst/>
          </a:prstGeom>
          <a:noFill/>
          <a:ln w="19050">
            <a:solidFill>
              <a:srgbClr val="DDC9E3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9153144" y="5394960"/>
            <a:ext cx="2148840" cy="420624"/>
          </a:xfrm>
          <a:prstGeom prst="roundRect">
            <a:avLst>
              <a:gd name="adj" fmla="val 13043"/>
            </a:avLst>
          </a:prstGeom>
          <a:solidFill>
            <a:srgbClr val="8A659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6E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</a:t>
            </a:r>
            <a:endParaRPr lang="en-US" sz="11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3 · 5-7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0" y="1965960"/>
            <a:ext cx="12188952" cy="3977640"/>
          </a:xfrm>
          <a:prstGeom prst="rect">
            <a:avLst/>
          </a:prstGeom>
          <a:solidFill>
            <a:srgbClr val="EDE2F0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1965960"/>
            <a:ext cx="128016" cy="3977640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92608"/>
            <a:ext cx="2834640" cy="365760"/>
          </a:xfrm>
          <a:prstGeom prst="roundRect">
            <a:avLst>
              <a:gd name="adj" fmla="val 20000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CENA · ALICE, 6 ANOS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868680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Alice, 6 anos, segura o choro na escola inteira e desaba no banco de trás do carro da mãe.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77240" y="2377440"/>
            <a:ext cx="106070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i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professora diz que Alice é um doce: espera a vez, guarda o material, não chora. A mãe estranha: no carro, na saída, Alice desmonta. Chora do nada, briga com a irmã, “vira outra”. “O que a escola tem que eu não tenho?”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77240" y="55321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narrada ao vivo · Alice é normal do início ao fim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3 · 5-7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Entre os 5 e os 7 o cérebro troca de marcha: surto frontal, atenção que obedece e processamento mais rápido.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2468880"/>
            <a:ext cx="3200400" cy="2651760"/>
          </a:xfrm>
          <a:prstGeom prst="roundRect">
            <a:avLst>
              <a:gd name="adj" fmla="val 2414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265176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SURTO CEREBRAL 6-8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097280" y="3108960"/>
            <a:ext cx="28346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novas sinapses,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córtex mais espesso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143000" y="4480560"/>
            <a:ext cx="2743200" cy="292608"/>
          </a:xfrm>
          <a:prstGeom prst="rect">
            <a:avLst/>
          </a:prstGeom>
          <a:solidFill>
            <a:srgbClr val="EDE2F0"/>
          </a:solidFill>
          <a:ln/>
        </p:spPr>
      </p:sp>
      <p:sp>
        <p:nvSpPr>
          <p:cNvPr id="10" name="Shape 8"/>
          <p:cNvSpPr/>
          <p:nvPr/>
        </p:nvSpPr>
        <p:spPr>
          <a:xfrm>
            <a:off x="1143000" y="4480560"/>
            <a:ext cx="1508760" cy="292608"/>
          </a:xfrm>
          <a:prstGeom prst="rect">
            <a:avLst/>
          </a:prstGeom>
          <a:solidFill>
            <a:srgbClr val="ECB841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0" y="2468880"/>
            <a:ext cx="3200400" cy="2651760"/>
          </a:xfrm>
          <a:prstGeom prst="roundRect">
            <a:avLst>
              <a:gd name="adj" fmla="val 2414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54880" y="265176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ATENÇÃO SELETIVA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4754880" y="3108960"/>
            <a:ext cx="28346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mielinização formação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reticular ↔ lobo frontal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800600" y="4480560"/>
            <a:ext cx="2743200" cy="292608"/>
          </a:xfrm>
          <a:prstGeom prst="rect">
            <a:avLst/>
          </a:prstGeom>
          <a:solidFill>
            <a:srgbClr val="EDE2F0"/>
          </a:solidFill>
          <a:ln/>
        </p:spPr>
      </p:sp>
      <p:sp>
        <p:nvSpPr>
          <p:cNvPr id="15" name="Shape 13"/>
          <p:cNvSpPr/>
          <p:nvPr/>
        </p:nvSpPr>
        <p:spPr>
          <a:xfrm>
            <a:off x="4800600" y="4480560"/>
            <a:ext cx="1920240" cy="292608"/>
          </a:xfrm>
          <a:prstGeom prst="rect">
            <a:avLst/>
          </a:prstGeom>
          <a:solidFill>
            <a:srgbClr val="ECB841"/>
          </a:solidFill>
          <a:ln/>
        </p:spPr>
      </p:sp>
      <p:sp>
        <p:nvSpPr>
          <p:cNvPr id="16" name="Shape 14"/>
          <p:cNvSpPr/>
          <p:nvPr/>
        </p:nvSpPr>
        <p:spPr>
          <a:xfrm>
            <a:off x="8229600" y="2468880"/>
            <a:ext cx="3200400" cy="2651760"/>
          </a:xfrm>
          <a:prstGeom prst="roundRect">
            <a:avLst>
              <a:gd name="adj" fmla="val 2414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12480" y="265176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VELOCIDADE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8412480" y="3108960"/>
            <a:ext cx="28346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 de reação cai com 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idade (Kail), em qualquer cultura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458200" y="4480560"/>
            <a:ext cx="2743200" cy="292608"/>
          </a:xfrm>
          <a:prstGeom prst="rect">
            <a:avLst/>
          </a:prstGeom>
          <a:solidFill>
            <a:srgbClr val="EDE2F0"/>
          </a:solidFill>
          <a:ln/>
        </p:spPr>
      </p:sp>
      <p:sp>
        <p:nvSpPr>
          <p:cNvPr id="20" name="Shape 18"/>
          <p:cNvSpPr/>
          <p:nvPr/>
        </p:nvSpPr>
        <p:spPr>
          <a:xfrm>
            <a:off x="8458200" y="4480560"/>
            <a:ext cx="2331720" cy="29260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6437376"/>
            <a:ext cx="8686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 &amp; Boyd, cap. 9, p. 234-235 e p. 242 · o rótulo “shift 5-7” é da literatura clássica (White)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3 · 5-7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064240" cy="2834640"/>
          </a:xfrm>
          <a:prstGeom prst="roundRect">
            <a:avLst>
              <a:gd name="adj" fmla="val 2581"/>
            </a:avLst>
          </a:prstGeom>
          <a:solidFill>
            <a:srgbClr val="DDC9E3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783080"/>
            <a:ext cx="103327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5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mesma água, a mesma pergunta, duas crianças: o que muda entre os 5 e os 7?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48640" y="4572000"/>
            <a:ext cx="3017520" cy="402336"/>
          </a:xfrm>
          <a:prstGeom prst="roundRect">
            <a:avLst>
              <a:gd name="adj" fmla="val 18182"/>
            </a:avLst>
          </a:prstGeom>
          <a:solidFill>
            <a:srgbClr val="56365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6E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 V6 · CONSERVAÇÃO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3703320" y="4572000"/>
            <a:ext cx="2286000" cy="402336"/>
          </a:xfrm>
          <a:prstGeom prst="roundRect">
            <a:avLst>
              <a:gd name="adj" fmla="val 18182"/>
            </a:avLst>
          </a:prstGeom>
          <a:solidFill>
            <a:srgbClr val="E9603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APOSTA DA PLATEIA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172200" y="4617720"/>
            <a:ext cx="54864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Votem: o que a de 5 vai responder, e com que grau de convicção?</a:t>
            </a:r>
            <a:endParaRPr lang="en-US" sz="13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5636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3 · 5-7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138928" y="1965960"/>
            <a:ext cx="1920240" cy="1920240"/>
          </a:xfrm>
          <a:prstGeom prst="ellipse">
            <a:avLst/>
          </a:prstGeom>
          <a:solidFill>
            <a:srgbClr val="E96030"/>
          </a:solidFill>
          <a:ln/>
        </p:spPr>
      </p:sp>
      <p:sp>
        <p:nvSpPr>
          <p:cNvPr id="5" name="Shape 3"/>
          <p:cNvSpPr/>
          <p:nvPr/>
        </p:nvSpPr>
        <p:spPr>
          <a:xfrm rot="5400000">
            <a:off x="5806440" y="2487168"/>
            <a:ext cx="777240" cy="868680"/>
          </a:xfrm>
          <a:prstGeom prst="triangle">
            <a:avLst/>
          </a:prstGeom>
          <a:solidFill>
            <a:srgbClr val="F6EFF2"/>
          </a:solidFill>
          <a:ln/>
        </p:spPr>
      </p:sp>
      <p:sp>
        <p:nvSpPr>
          <p:cNvPr id="6" name="Text 4"/>
          <p:cNvSpPr/>
          <p:nvPr/>
        </p:nvSpPr>
        <p:spPr>
          <a:xfrm>
            <a:off x="0" y="416052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CB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 V6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2011680" y="4663440"/>
            <a:ext cx="816559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F6E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Conservação de líquido: criança de ~5 erra com convicção; criança de ~7 acerta e justifica.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2011680" y="5486400"/>
            <a:ext cx="81655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pausar entre as duas: “o que mudou entre elas não foi treino”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0" y="6400800"/>
            <a:ext cx="11457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acervo público · nunca paciente próprio</a:t>
            </a:r>
            <a:endParaRPr lang="en-US" sz="10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3 · 5-7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Não foi a resposta que mudou, foi a lógica: reversibilidade e descentração inauguram o operatório concreto.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468880"/>
            <a:ext cx="2834640" cy="1005840"/>
          </a:xfrm>
          <a:prstGeom prst="roundRect">
            <a:avLst>
              <a:gd name="adj" fmla="val 6364"/>
            </a:avLst>
          </a:prstGeom>
          <a:solidFill>
            <a:srgbClr val="DDC9E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IDENTIDADE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 entrou, nada saiu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3931920" y="2468880"/>
            <a:ext cx="2834640" cy="1005840"/>
          </a:xfrm>
          <a:prstGeom prst="roundRect">
            <a:avLst>
              <a:gd name="adj" fmla="val 6364"/>
            </a:avLst>
          </a:prstGeom>
          <a:solidFill>
            <a:srgbClr val="DDC9E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COMPENSAÇÃO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alto, porém mais fino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040880" y="2468880"/>
            <a:ext cx="2834640" cy="1005840"/>
          </a:xfrm>
          <a:prstGeom prst="roundRect">
            <a:avLst>
              <a:gd name="adj" fmla="val 6364"/>
            </a:avLst>
          </a:prstGeom>
          <a:solidFill>
            <a:srgbClr val="DDC9E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REVERSIBILIDADE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dá para despejar de volta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822960" y="3584448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descentração = considerar mais de uma dimensão ao mesmo tempo; a compensação é ela em ação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22960" y="3977640"/>
            <a:ext cx="1051560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7280" y="4297680"/>
            <a:ext cx="1005840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chega em ondas (décalage): massa ~7 · peso ~8 · volume só ~11. No longitudinal de Tomlinson-Keasey, o salto acontece perto dos 7, onde Piaget o colocou.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48640" y="6437376"/>
            <a:ext cx="8686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 &amp; Boyd, cap. 7, p. 182-183; cap. 9, p. 240-241</a:t>
            </a:r>
            <a:endParaRPr lang="en-US" sz="11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3 · 5-7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3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escola é o primeiro ambiente que exige autorregulação sem oferecer co-regulação.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1280160" y="2468880"/>
            <a:ext cx="4206240" cy="2743200"/>
          </a:xfrm>
          <a:prstGeom prst="roundRect">
            <a:avLst>
              <a:gd name="adj" fmla="val 2333"/>
            </a:avLst>
          </a:prstGeom>
          <a:solidFill>
            <a:srgbClr val="EDE2F0"/>
          </a:solidFill>
          <a:ln w="12700">
            <a:solidFill>
              <a:srgbClr val="EDE2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743200"/>
            <a:ext cx="3657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8A659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1:1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1554480" y="3931920"/>
            <a:ext cx="3657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CASA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regulação sob demanda,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individualizada, disponível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583680" y="2468880"/>
            <a:ext cx="420624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 w="25400">
            <a:solidFill>
              <a:srgbClr val="E9603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0" y="2743200"/>
            <a:ext cx="3657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E96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1:25</a:t>
            </a:r>
            <a:endParaRPr lang="en-US" sz="5400" dirty="0"/>
          </a:p>
        </p:txBody>
      </p:sp>
      <p:sp>
        <p:nvSpPr>
          <p:cNvPr id="11" name="Text 9"/>
          <p:cNvSpPr/>
          <p:nvPr/>
        </p:nvSpPr>
        <p:spPr>
          <a:xfrm>
            <a:off x="6858000" y="3931920"/>
            <a:ext cx="3657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 DE AULA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esperar a vez, ficar sentado,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atenção sustentada em tarefa chata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48640" y="6437376"/>
            <a:ext cx="8686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 &amp; Boyd, cap. 10, p. 271: autorregular = conformar-se ao padrão SEM supervisão direta, esperado aos 6-12</a:t>
            </a:r>
            <a:endParaRPr lang="en-US" sz="11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3 · 5-7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TDAH não aparece aos 6 anos: ele fica visível quando a curva da demanda cruza a curva do freio.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1463040" y="5394960"/>
            <a:ext cx="8961120" cy="0"/>
          </a:xfrm>
          <a:prstGeom prst="line">
            <a:avLst/>
          </a:prstGeom>
          <a:noFill/>
          <a:ln w="19050">
            <a:solidFill>
              <a:srgbClr val="8A659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463040" y="2377440"/>
            <a:ext cx="0" cy="3017520"/>
          </a:xfrm>
          <a:prstGeom prst="line">
            <a:avLst/>
          </a:prstGeom>
          <a:noFill/>
          <a:ln w="19050">
            <a:solidFill>
              <a:srgbClr val="8A659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63040" y="5257800"/>
            <a:ext cx="3108960" cy="-914400"/>
          </a:xfrm>
          <a:prstGeom prst="line">
            <a:avLst/>
          </a:prstGeom>
          <a:noFill/>
          <a:ln w="50800">
            <a:solidFill>
              <a:srgbClr val="ECB84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0" y="4343400"/>
            <a:ext cx="2926080" cy="-822960"/>
          </a:xfrm>
          <a:prstGeom prst="line">
            <a:avLst/>
          </a:prstGeom>
          <a:noFill/>
          <a:ln w="50800">
            <a:solidFill>
              <a:srgbClr val="ECB84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498080" y="3520440"/>
            <a:ext cx="2834640" cy="-594360"/>
          </a:xfrm>
          <a:prstGeom prst="line">
            <a:avLst/>
          </a:prstGeom>
          <a:noFill/>
          <a:ln w="50800">
            <a:solidFill>
              <a:srgbClr val="ECB84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01000" y="356616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freio típico (maturação contínua)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463040" y="5349240"/>
            <a:ext cx="4023360" cy="-685800"/>
          </a:xfrm>
          <a:prstGeom prst="line">
            <a:avLst/>
          </a:prstGeom>
          <a:noFill/>
          <a:ln w="44450">
            <a:solidFill>
              <a:srgbClr val="8A6594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5486400" y="4663440"/>
            <a:ext cx="4846320" cy="-640080"/>
          </a:xfrm>
          <a:prstGeom prst="line">
            <a:avLst/>
          </a:prstGeom>
          <a:noFill/>
          <a:ln w="44450">
            <a:solidFill>
              <a:srgbClr val="8A6594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8001000" y="489204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freio TDAH: já era mais baixo antes;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escola só revelou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1463040" y="4846320"/>
            <a:ext cx="1554480" cy="0"/>
          </a:xfrm>
          <a:prstGeom prst="line">
            <a:avLst/>
          </a:prstGeom>
          <a:noFill/>
          <a:ln w="50800">
            <a:solidFill>
              <a:srgbClr val="E9603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017520" y="4572000"/>
            <a:ext cx="0" cy="274320"/>
          </a:xfrm>
          <a:prstGeom prst="line">
            <a:avLst/>
          </a:prstGeom>
          <a:noFill/>
          <a:ln w="50800">
            <a:solidFill>
              <a:srgbClr val="E9603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017520" y="4572000"/>
            <a:ext cx="2011680" cy="0"/>
          </a:xfrm>
          <a:prstGeom prst="line">
            <a:avLst/>
          </a:prstGeom>
          <a:noFill/>
          <a:ln w="50800">
            <a:solidFill>
              <a:srgbClr val="E9603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029200" y="3017520"/>
            <a:ext cx="0" cy="1554480"/>
          </a:xfrm>
          <a:prstGeom prst="line">
            <a:avLst/>
          </a:prstGeom>
          <a:noFill/>
          <a:ln w="50800">
            <a:solidFill>
              <a:srgbClr val="E960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9200" y="3017520"/>
            <a:ext cx="5303520" cy="-274320"/>
          </a:xfrm>
          <a:prstGeom prst="line">
            <a:avLst/>
          </a:prstGeom>
          <a:noFill/>
          <a:ln w="50800">
            <a:solidFill>
              <a:srgbClr val="E9603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257800" y="2395728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demanda por autorregulação (escada)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3063240" y="4645152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pré-escola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160520" y="548640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ENTRADA NA ESCOLA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029200" y="2880360"/>
            <a:ext cx="2743200" cy="1234440"/>
          </a:xfrm>
          <a:prstGeom prst="rect">
            <a:avLst/>
          </a:prstGeom>
          <a:solidFill>
            <a:srgbClr val="E96030">
              <a:alpha val="18000"/>
            </a:srgbClr>
          </a:solidFill>
          <a:ln/>
        </p:spPr>
      </p:sp>
      <p:sp>
        <p:nvSpPr>
          <p:cNvPr id="24" name="Text 22"/>
          <p:cNvSpPr/>
          <p:nvPr/>
        </p:nvSpPr>
        <p:spPr>
          <a:xfrm>
            <a:off x="5212080" y="3063240"/>
            <a:ext cx="24688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área entre as curvas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onde vira queixa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48640" y="6437376"/>
            <a:ext cx="8686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 &amp; Boyd, cap. 9, p. 255-257 · em muitas tarefas de atenção, não diferem dos pares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897112" y="6455664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aprofundamento: apêndice B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3 · 5-7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064240" cy="2834640"/>
          </a:xfrm>
          <a:prstGeom prst="roundRect">
            <a:avLst>
              <a:gd name="adj" fmla="val 2581"/>
            </a:avLst>
          </a:prstGeom>
          <a:solidFill>
            <a:srgbClr val="DDC9E3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783080"/>
            <a:ext cx="103327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5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uma criança de 4 anos sozinha com um doce diz sobre o resto da vida dela?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48640" y="4572000"/>
            <a:ext cx="3017520" cy="402336"/>
          </a:xfrm>
          <a:prstGeom prst="roundRect">
            <a:avLst>
              <a:gd name="adj" fmla="val 18182"/>
            </a:avLst>
          </a:prstGeom>
          <a:solidFill>
            <a:srgbClr val="56365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6E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 V7 · DELAY OF GRATIFICATION</a:t>
            </a:r>
            <a:endParaRPr lang="en-US" sz="11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5636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3 · 5-7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138928" y="1965960"/>
            <a:ext cx="1920240" cy="1920240"/>
          </a:xfrm>
          <a:prstGeom prst="ellipse">
            <a:avLst/>
          </a:prstGeom>
          <a:solidFill>
            <a:srgbClr val="E96030"/>
          </a:solidFill>
          <a:ln/>
        </p:spPr>
      </p:sp>
      <p:sp>
        <p:nvSpPr>
          <p:cNvPr id="5" name="Shape 3"/>
          <p:cNvSpPr/>
          <p:nvPr/>
        </p:nvSpPr>
        <p:spPr>
          <a:xfrm rot="5400000">
            <a:off x="5806440" y="2487168"/>
            <a:ext cx="777240" cy="868680"/>
          </a:xfrm>
          <a:prstGeom prst="triangle">
            <a:avLst/>
          </a:prstGeom>
          <a:solidFill>
            <a:srgbClr val="F6EFF2"/>
          </a:solidFill>
          <a:ln/>
        </p:spPr>
      </p:sp>
      <p:sp>
        <p:nvSpPr>
          <p:cNvPr id="6" name="Text 4"/>
          <p:cNvSpPr/>
          <p:nvPr/>
        </p:nvSpPr>
        <p:spPr>
          <a:xfrm>
            <a:off x="0" y="416052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CB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 V7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2011680" y="4663440"/>
            <a:ext cx="816559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F6E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Paradigma de Mischel: as estratégias de espera visíveis (tampar os olhos, cantar, cheirar o doce).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0" y="6400800"/>
            <a:ext cx="11457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acervo público · nunca paciente próprio</a:t>
            </a:r>
            <a:endParaRPr lang="en-US" sz="10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3 · 5-7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Menos do que se sonhou: com controles adequados o efeito encolhe; esperar é termômetro do freio, não oráculo do destino.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2468880" y="2468880"/>
            <a:ext cx="1920240" cy="2560320"/>
          </a:xfrm>
          <a:prstGeom prst="rect">
            <a:avLst/>
          </a:prstGeom>
          <a:solidFill>
            <a:srgbClr val="DDC9E3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512064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675120" y="4114800"/>
            <a:ext cx="1920240" cy="914400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9" name="Text 7"/>
          <p:cNvSpPr/>
          <p:nvPr/>
        </p:nvSpPr>
        <p:spPr>
          <a:xfrm>
            <a:off x="6126480" y="512064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controles de família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cognição (Watts 2018)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548640" y="6437376"/>
            <a:ext cx="8686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Watts, Duncan &amp; Quan (2018), Psychological Science · replicação com amostra maior e diversa</a:t>
            </a:r>
            <a:endParaRPr lang="en-US" sz="11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3 · 5-7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064240" cy="2834640"/>
          </a:xfrm>
          <a:prstGeom prst="roundRect">
            <a:avLst>
              <a:gd name="adj" fmla="val 2581"/>
            </a:avLst>
          </a:prstGeom>
          <a:solidFill>
            <a:srgbClr val="DDC9E3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783080"/>
            <a:ext cx="103327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5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Uma criança de 7 anos fazendo lição: conte quantas vezes ela se corrige sozinha, sem som.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48640" y="4572000"/>
            <a:ext cx="3017520" cy="402336"/>
          </a:xfrm>
          <a:prstGeom prst="roundRect">
            <a:avLst>
              <a:gd name="adj" fmla="val 18182"/>
            </a:avLst>
          </a:prstGeom>
          <a:solidFill>
            <a:srgbClr val="56365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6E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 V8 · DNPM NORMAL</a:t>
            </a:r>
            <a:endParaRPr lang="en-US" sz="11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5636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3 · 5-7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138928" y="1965960"/>
            <a:ext cx="1920240" cy="1920240"/>
          </a:xfrm>
          <a:prstGeom prst="ellipse">
            <a:avLst/>
          </a:prstGeom>
          <a:solidFill>
            <a:srgbClr val="E96030"/>
          </a:solidFill>
          <a:ln/>
        </p:spPr>
      </p:sp>
      <p:sp>
        <p:nvSpPr>
          <p:cNvPr id="5" name="Shape 3"/>
          <p:cNvSpPr/>
          <p:nvPr/>
        </p:nvSpPr>
        <p:spPr>
          <a:xfrm rot="5400000">
            <a:off x="5806440" y="2487168"/>
            <a:ext cx="777240" cy="868680"/>
          </a:xfrm>
          <a:prstGeom prst="triangle">
            <a:avLst/>
          </a:prstGeom>
          <a:solidFill>
            <a:srgbClr val="F6EFF2"/>
          </a:solidFill>
          <a:ln/>
        </p:spPr>
      </p:sp>
      <p:sp>
        <p:nvSpPr>
          <p:cNvPr id="6" name="Text 4"/>
          <p:cNvSpPr/>
          <p:nvPr/>
        </p:nvSpPr>
        <p:spPr>
          <a:xfrm>
            <a:off x="0" y="416052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CB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 V8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2011680" y="4663440"/>
            <a:ext cx="816559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F6E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Criança de 6-7 anos escrevendo, apagando e corrigindo sozinha, em silêncio. 15-30 segundos.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0" y="6400800"/>
            <a:ext cx="11457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acervo público · nunca paciente próprio</a:t>
            </a:r>
            <a:endParaRPr lang="en-US" sz="10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3 · 5-7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autocorreção silenciosa é a fala privada já internalizada: o volante passou para dentro.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3017520"/>
            <a:ext cx="3200400" cy="777240"/>
          </a:xfrm>
          <a:prstGeom prst="roundRect">
            <a:avLst>
              <a:gd name="adj" fmla="val 8235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FALA DO ADULTO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069080" y="3401568"/>
            <a:ext cx="457200" cy="0"/>
          </a:xfrm>
          <a:prstGeom prst="line">
            <a:avLst/>
          </a:prstGeom>
          <a:noFill/>
          <a:ln w="38100">
            <a:solidFill>
              <a:srgbClr val="8A6594"/>
            </a:solidFill>
            <a:prstDash val="solid"/>
            <a:tailEnd type="triangle"/>
          </a:ln>
        </p:spPr>
      </p:sp>
      <p:sp>
        <p:nvSpPr>
          <p:cNvPr id="8" name="Text 6"/>
          <p:cNvSpPr/>
          <p:nvPr/>
        </p:nvSpPr>
        <p:spPr>
          <a:xfrm>
            <a:off x="4572000" y="3017520"/>
            <a:ext cx="3200400" cy="777240"/>
          </a:xfrm>
          <a:prstGeom prst="roundRect">
            <a:avLst>
              <a:gd name="adj" fmla="val 8235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FALA PRIVADA (3a)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818120" y="3401568"/>
            <a:ext cx="457200" cy="0"/>
          </a:xfrm>
          <a:prstGeom prst="line">
            <a:avLst/>
          </a:prstGeom>
          <a:noFill/>
          <a:ln w="38100">
            <a:solidFill>
              <a:srgbClr val="8A6594"/>
            </a:solidFill>
            <a:prstDash val="solid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8321040" y="3017520"/>
            <a:ext cx="3200400" cy="777240"/>
          </a:xfrm>
          <a:prstGeom prst="roundRect">
            <a:avLst>
              <a:gd name="adj" fmla="val 8235"/>
            </a:avLst>
          </a:prstGeom>
          <a:solidFill>
            <a:srgbClr val="E9603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PENSAMENTO VERBAL (6-7a)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22960" y="41148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seta do Ato 2, agora completa (estágio de crescimento interno, Vygotsky)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48640" y="6437376"/>
            <a:ext cx="8686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 &amp; Boyd, cap. 7, p. 188</a:t>
            </a:r>
            <a:endParaRPr lang="en-US" sz="11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5636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3 · 5-7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66928" y="1188720"/>
            <a:ext cx="1554480" cy="45720"/>
          </a:xfrm>
          <a:prstGeom prst="rect">
            <a:avLst/>
          </a:prstGeom>
          <a:solidFill>
            <a:srgbClr val="ECB841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554480"/>
            <a:ext cx="1097280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3000" b="1" dirty="0">
                <a:solidFill>
                  <a:srgbClr val="F6EF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Autorregulada na sala, Alice levanta os olhos do caderno e olha para os lados. O que ela vê?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828800" y="510235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DO VOLANTE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828800" y="5394960"/>
            <a:ext cx="2148840" cy="420624"/>
          </a:xfrm>
          <a:prstGeom prst="roundRect">
            <a:avLst>
              <a:gd name="adj" fmla="val 13043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014216" y="5605272"/>
            <a:ext cx="219456" cy="0"/>
          </a:xfrm>
          <a:prstGeom prst="line">
            <a:avLst/>
          </a:prstGeom>
          <a:noFill/>
          <a:ln w="19050">
            <a:solidFill>
              <a:srgbClr val="DDC9E3"/>
            </a:solidFill>
            <a:prstDash val="solid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4270248" y="5394960"/>
            <a:ext cx="2148840" cy="420624"/>
          </a:xfrm>
          <a:prstGeom prst="roundRect">
            <a:avLst>
              <a:gd name="adj" fmla="val 13043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LINGUAGEM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455664" y="5605272"/>
            <a:ext cx="219456" cy="0"/>
          </a:xfrm>
          <a:prstGeom prst="line">
            <a:avLst/>
          </a:prstGeom>
          <a:noFill/>
          <a:ln w="19050">
            <a:solidFill>
              <a:srgbClr val="DDC9E3"/>
            </a:solidFill>
            <a:prstDash val="solid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6711696" y="5394960"/>
            <a:ext cx="2148840" cy="420624"/>
          </a:xfrm>
          <a:prstGeom prst="roundRect">
            <a:avLst>
              <a:gd name="adj" fmla="val 13043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FREIO INTERNO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897112" y="5605272"/>
            <a:ext cx="219456" cy="0"/>
          </a:xfrm>
          <a:prstGeom prst="line">
            <a:avLst/>
          </a:prstGeom>
          <a:noFill/>
          <a:ln w="19050">
            <a:solidFill>
              <a:srgbClr val="DDC9E3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9153144" y="5394960"/>
            <a:ext cx="2148840" cy="420624"/>
          </a:xfrm>
          <a:prstGeom prst="roundRect">
            <a:avLst>
              <a:gd name="adj" fmla="val 13043"/>
            </a:avLst>
          </a:prstGeom>
          <a:solidFill>
            <a:srgbClr val="E9603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</a:t>
            </a:r>
            <a:endParaRPr lang="en-US" sz="11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4 · 7 ANOS → PUBERDADE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0" y="1965960"/>
            <a:ext cx="12188952" cy="3977640"/>
          </a:xfrm>
          <a:prstGeom prst="rect">
            <a:avLst/>
          </a:prstGeom>
          <a:solidFill>
            <a:srgbClr val="EDE2F0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1965960"/>
            <a:ext cx="128016" cy="3977640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92608"/>
            <a:ext cx="2834640" cy="365760"/>
          </a:xfrm>
          <a:prstGeom prst="roundRect">
            <a:avLst>
              <a:gd name="adj" fmla="val 20000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CENA · ALICE, 9 ANOS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868680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Alice, 9 anos, avisa: “eu sou a tímida da sala, e a Júlia é melhor que eu em matemática”.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77240" y="2377440"/>
            <a:ext cx="106070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i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Consulta de rotina. A mãe agora senta mais atrás e quase não fala. Pergunto da escola e é Alice quem responde, com um relatório: “sou a tímida da sala. A Júlia é melhor em matemática, mas eu desenho melhor. A Bia contou meu segredo, então agora é só amiga”.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77240" y="55321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narrada ao vivo · Alice é normal do início ao fim</a:t>
            </a:r>
            <a:endParaRPr lang="en-US" sz="12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4 · 7 ANOS → PUBERDADE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autoconceito virou psicológico e comparativo: a criança se descreve por dentro, e sempre em ranking.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377440"/>
            <a:ext cx="5120640" cy="2377440"/>
          </a:xfrm>
          <a:prstGeom prst="roundRect">
            <a:avLst>
              <a:gd name="adj" fmla="val 2692"/>
            </a:avLst>
          </a:prstGeom>
          <a:solidFill>
            <a:srgbClr val="EDE2F0"/>
          </a:solidFill>
          <a:ln w="12700">
            <a:solidFill>
              <a:srgbClr val="EDE2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25603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ANOS (superfície)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97280" y="301752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i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“tenho cabelo castanho, moro na rua tal, jogo futebol”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263640" y="2377440"/>
            <a:ext cx="5120640" cy="2377440"/>
          </a:xfrm>
          <a:prstGeom prst="roundRect">
            <a:avLst>
              <a:gd name="adj" fmla="val 2692"/>
            </a:avLst>
          </a:prstGeom>
          <a:solidFill>
            <a:srgbClr val="FFFFFF"/>
          </a:solidFill>
          <a:ln w="25400">
            <a:solidFill>
              <a:srgbClr val="E9603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37960" y="25603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ANOS (psicológico e comparativo)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537960" y="301752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i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“sou verdadeira, perco a paciência, não sou muito querida por algumas meninas”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22960" y="4983480"/>
            <a:ext cx="10561320" cy="777240"/>
          </a:xfrm>
          <a:prstGeom prst="roundRect">
            <a:avLst>
              <a:gd name="adj" fmla="val 8235"/>
            </a:avLst>
          </a:prstGeom>
          <a:solidFill>
            <a:srgbClr val="DDC9E3"/>
          </a:solidFill>
          <a:ln w="12700">
            <a:solidFill>
              <a:srgbClr val="DDC9E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97280" y="516636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Autoestima global só emerge ~7-8 anos, de 2 fontes: discrepância ideal-real NO QUE ELA VALORIZA + suporte percebido (Harter).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48640" y="6437376"/>
            <a:ext cx="8686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 &amp; Boyd, cap. 10, p. 265-267 (Montemayor &amp; Eisen 1977, “Who am I?”)</a:t>
            </a:r>
            <a:endParaRPr lang="en-US" sz="11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4 · 7 ANOS → PUBERDADE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amizade vira contrato de confiança recíproca: amigo é quem guarda segredo, não quem mora perto.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651760"/>
            <a:ext cx="40233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E96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50-75%</a:t>
            </a:r>
            <a:endParaRPr lang="en-US" sz="6400" dirty="0"/>
          </a:p>
        </p:txBody>
      </p:sp>
      <p:sp>
        <p:nvSpPr>
          <p:cNvPr id="7" name="Text 5"/>
          <p:cNvSpPr/>
          <p:nvPr/>
        </p:nvSpPr>
        <p:spPr>
          <a:xfrm>
            <a:off x="640080" y="393192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escolares têm melhor amigo estável,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isso protege inclusive a criança tímida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0" y="2560320"/>
            <a:ext cx="5669280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0" y="2788920"/>
            <a:ext cx="51206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ATÉ ~9a: amigo = quem brinca perto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~10a: amigo = confiança recíproca, lealdade, apoio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amigos há MAIS conflito, e mais empenho em resolver: a amizade é a academia do manejo de conflito.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6437376"/>
            <a:ext cx="8686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 &amp; Boyd, cap. 10, p. 272-273 (Selman; Chen 1997; Hartup 1996)</a:t>
            </a:r>
            <a:endParaRPr lang="en-US" sz="11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4 · 7 ANOS → PUBERDADE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moral sai da heteronomia: entre os 7 e os 10, a regra deixa de ser sagrada e a intenção passa a contar.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468880"/>
            <a:ext cx="5120640" cy="2651760"/>
          </a:xfrm>
          <a:prstGeom prst="roundRect">
            <a:avLst>
              <a:gd name="adj" fmla="val 2414"/>
            </a:avLst>
          </a:prstGeom>
          <a:solidFill>
            <a:srgbClr val="EDE2F0"/>
          </a:solidFill>
          <a:ln w="12700">
            <a:solidFill>
              <a:srgbClr val="EDE2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2697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REALISMO MORAL (até ~8)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097280" y="3154680"/>
            <a:ext cx="45720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regras imutáveis, ditadas por autoridade; justiça imanente (o riacho pune); vale o TAMANHO do estrago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263640" y="2468880"/>
            <a:ext cx="5120640" cy="2651760"/>
          </a:xfrm>
          <a:prstGeom prst="roundRect">
            <a:avLst>
              <a:gd name="adj" fmla="val 2414"/>
            </a:avLst>
          </a:prstGeom>
          <a:solidFill>
            <a:srgbClr val="FFFFFF"/>
          </a:solidFill>
          <a:ln w="25400">
            <a:solidFill>
              <a:srgbClr val="E9603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37960" y="2697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RELATIVISMO MORAL (após ~8)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537960" y="3154680"/>
            <a:ext cx="45720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regras são combináveis se todos concordarem; a INTENÇÃO pesa mais que a consequência (sair sem pagar por engano ≠ roubar)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48640" y="6437376"/>
            <a:ext cx="8686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 &amp; Boyd, cap. 10, p. 269-270 (Piaget, 1932)</a:t>
            </a:r>
            <a:endParaRPr lang="en-US" sz="11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4 · 7 ANOS → PUBERDADE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grupo de pares assume parte do volante: aceitação e rejeição regulam com força de lei.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514600"/>
            <a:ext cx="2560320" cy="685800"/>
          </a:xfrm>
          <a:prstGeom prst="roundRect">
            <a:avLst>
              <a:gd name="adj" fmla="val 9333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57600" y="2514600"/>
            <a:ext cx="2560320" cy="685800"/>
          </a:xfrm>
          <a:prstGeom prst="roundRect">
            <a:avLst>
              <a:gd name="adj" fmla="val 9333"/>
            </a:avLst>
          </a:prstGeom>
          <a:solidFill>
            <a:srgbClr val="DDC9E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REJEITADA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92240" y="2514600"/>
            <a:ext cx="2560320" cy="685800"/>
          </a:xfrm>
          <a:prstGeom prst="roundRect">
            <a:avLst>
              <a:gd name="adj" fmla="val 9333"/>
            </a:avLst>
          </a:prstGeom>
          <a:solidFill>
            <a:srgbClr val="DDC9E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NEGLIGENCIADA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3383280"/>
            <a:ext cx="105156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negligenciada = ignorada PELOS PARES, sem rejeição ativa (não confundir com negligência parental). A moeda da aceitação é o que os atos anteriores construíram: regular a expressão emocional + ler mentes.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22960" y="4114800"/>
            <a:ext cx="1051560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25400">
            <a:solidFill>
              <a:srgbClr val="E9603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7280" y="443484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Neuroimagem: a exclusão social ativa a mesma área cerebral da dor física (Eisenberger, 2003). </a:t>
            </a:r>
            <a:pPr indent="0" marL="0">
              <a:buNone/>
            </a:pPr>
            <a:r>
              <a:rPr lang="en-US" sz="155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grupo pune com dor de verdade.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548640" y="6437376"/>
            <a:ext cx="8686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 &amp; Boyd, cap. 10, p. 274-278 · segregação por gênero como marca universal do período</a:t>
            </a:r>
            <a:endParaRPr lang="en-US" sz="11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4 · 7 ANOS → PUBERDADE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064240" cy="2834640"/>
          </a:xfrm>
          <a:prstGeom prst="roundRect">
            <a:avLst>
              <a:gd name="adj" fmla="val 2581"/>
            </a:avLst>
          </a:prstGeom>
          <a:solidFill>
            <a:srgbClr val="DDC9E3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783080"/>
            <a:ext cx="103327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5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Nesta cena de recreio, responda: quem está com o volante?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48640" y="4572000"/>
            <a:ext cx="3017520" cy="402336"/>
          </a:xfrm>
          <a:prstGeom prst="roundRect">
            <a:avLst>
              <a:gd name="adj" fmla="val 18182"/>
            </a:avLst>
          </a:prstGeom>
          <a:solidFill>
            <a:srgbClr val="56365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6E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 V9 · DNPM NORMAL</a:t>
            </a:r>
            <a:endParaRPr lang="en-US" sz="115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5636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4 · 7 ANOS → PUBERDADE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138928" y="1965960"/>
            <a:ext cx="1920240" cy="1920240"/>
          </a:xfrm>
          <a:prstGeom prst="ellipse">
            <a:avLst/>
          </a:prstGeom>
          <a:solidFill>
            <a:srgbClr val="E96030"/>
          </a:solidFill>
          <a:ln/>
        </p:spPr>
      </p:sp>
      <p:sp>
        <p:nvSpPr>
          <p:cNvPr id="5" name="Shape 3"/>
          <p:cNvSpPr/>
          <p:nvPr/>
        </p:nvSpPr>
        <p:spPr>
          <a:xfrm rot="5400000">
            <a:off x="5806440" y="2487168"/>
            <a:ext cx="777240" cy="868680"/>
          </a:xfrm>
          <a:prstGeom prst="triangle">
            <a:avLst/>
          </a:prstGeom>
          <a:solidFill>
            <a:srgbClr val="F6EFF2"/>
          </a:solidFill>
          <a:ln/>
        </p:spPr>
      </p:sp>
      <p:sp>
        <p:nvSpPr>
          <p:cNvPr id="6" name="Text 4"/>
          <p:cNvSpPr/>
          <p:nvPr/>
        </p:nvSpPr>
        <p:spPr>
          <a:xfrm>
            <a:off x="0" y="416052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CB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 V9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2011680" y="4663440"/>
            <a:ext cx="816559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F6E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de crianças de 9-10 anos negociando regras de um jogo, sem adulto. 15-30 segundos.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2011680" y="5486400"/>
            <a:ext cx="81655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congelar 1x: “quem está com o volante?”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0" y="6400800"/>
            <a:ext cx="11457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acervo público · nunca paciente próprio</a:t>
            </a:r>
            <a:endParaRPr lang="en-US" sz="105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4 · 7 ANOS → PUBERDADE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Ninguém ali obedece a um adulto: regras negociadas, papéis distribuídos, sanções aplicadas. O grupo dirige.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834640"/>
            <a:ext cx="3017520" cy="1097280"/>
          </a:xfrm>
          <a:prstGeom prst="roundRect">
            <a:avLst>
              <a:gd name="adj" fmla="val 5833"/>
            </a:avLst>
          </a:prstGeom>
          <a:solidFill>
            <a:srgbClr val="DDC9E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NEGOCIAÇÃO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regra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4572000" y="2834640"/>
            <a:ext cx="3017520" cy="1097280"/>
          </a:xfrm>
          <a:prstGeom prst="roundRect">
            <a:avLst>
              <a:gd name="adj" fmla="val 5833"/>
            </a:avLst>
          </a:prstGeom>
          <a:solidFill>
            <a:srgbClr val="DDC9E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DISTRIBUIÇÃO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papéis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8046720" y="2834640"/>
            <a:ext cx="3017520" cy="1097280"/>
          </a:xfrm>
          <a:prstGeom prst="roundRect">
            <a:avLst>
              <a:gd name="adj" fmla="val 5833"/>
            </a:avLst>
          </a:prstGeom>
          <a:solidFill>
            <a:srgbClr val="DDC9E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SANÇÃO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aplicada pelo grupo</a:t>
            </a:r>
            <a:endParaRPr lang="en-US" sz="145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4 · 7 ANOS → PUBERDADE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10896"/>
            <a:ext cx="3931920" cy="365760"/>
          </a:xfrm>
          <a:prstGeom prst="roundRect">
            <a:avLst>
              <a:gd name="adj" fmla="val 20000"/>
            </a:avLst>
          </a:prstGeom>
          <a:solidFill>
            <a:srgbClr val="E9603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DEVERIA TE TIRAR O SONO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3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deveria te tirar o sono agora: a criança que o grupo devolve, e a que some sem fazer barulho.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822960" y="2514600"/>
            <a:ext cx="3291840" cy="2468880"/>
          </a:xfrm>
          <a:prstGeom prst="roundRect">
            <a:avLst>
              <a:gd name="adj" fmla="val 2593"/>
            </a:avLst>
          </a:prstGeom>
          <a:solidFill>
            <a:srgbClr val="FFFFFF"/>
          </a:solidFill>
          <a:ln w="19050">
            <a:solidFill>
              <a:srgbClr val="E9603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05840" y="2743200"/>
            <a:ext cx="2926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AGRESSIVA + REJEITADA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005840" y="3474720"/>
            <a:ext cx="29260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pior trajetória: maior chance de agressão estável até a vida adulta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4480560" y="2514600"/>
            <a:ext cx="3291840" cy="2468880"/>
          </a:xfrm>
          <a:prstGeom prst="roundRect">
            <a:avLst>
              <a:gd name="adj" fmla="val 2593"/>
            </a:avLst>
          </a:prstGeom>
          <a:solidFill>
            <a:srgbClr val="FFFFFF"/>
          </a:solidFill>
          <a:ln w="19050">
            <a:solidFill>
              <a:srgbClr val="E9603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663440" y="2743200"/>
            <a:ext cx="2926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RETRAÍDA / REJEITADA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4663440" y="3474720"/>
            <a:ext cx="29260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sabe que é malquista, desiste, se isola; solidão e depressão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8138160" y="2514600"/>
            <a:ext cx="3291840" cy="2468880"/>
          </a:xfrm>
          <a:prstGeom prst="roundRect">
            <a:avLst>
              <a:gd name="adj" fmla="val 2593"/>
            </a:avLst>
          </a:prstGeom>
          <a:solidFill>
            <a:srgbClr val="FFFFFF"/>
          </a:solidFill>
          <a:ln w="19050">
            <a:solidFill>
              <a:srgbClr val="E9603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321040" y="2743200"/>
            <a:ext cx="2926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VÍTIMA HABITUAL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8321040" y="3474720"/>
            <a:ext cx="29260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ansiosa, passiva, baixa autoestima, poucos amigos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548640" y="6437376"/>
            <a:ext cx="8686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 &amp; Boyd, cap. 10, p. 276-278</a:t>
            </a:r>
            <a:endParaRPr lang="en-US" sz="11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4 · 7 ANOS → PUBERDADE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Antes de a estrada mudar, o carro treme: o pré-púbere sente o corpo começar a mudar, e compara isso também.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Text 4"/>
          <p:cNvSpPr/>
          <p:nvPr/>
        </p:nvSpPr>
        <p:spPr>
          <a:xfrm>
            <a:off x="1463040" y="2560320"/>
            <a:ext cx="32918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E96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94%</a:t>
            </a:r>
            <a:endParaRPr lang="en-US" sz="6600" dirty="0"/>
          </a:p>
        </p:txBody>
      </p:sp>
      <p:sp>
        <p:nvSpPr>
          <p:cNvPr id="7" name="Text 5"/>
          <p:cNvSpPr/>
          <p:nvPr/>
        </p:nvSpPr>
        <p:spPr>
          <a:xfrm>
            <a:off x="1463040" y="379476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altura adulta: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meninas aos 12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223760" y="2560320"/>
            <a:ext cx="32918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8A659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84%</a:t>
            </a:r>
            <a:endParaRPr lang="en-US" sz="6600" dirty="0"/>
          </a:p>
        </p:txBody>
      </p:sp>
      <p:sp>
        <p:nvSpPr>
          <p:cNvPr id="9" name="Text 7"/>
          <p:cNvSpPr/>
          <p:nvPr/>
        </p:nvSpPr>
        <p:spPr>
          <a:xfrm>
            <a:off x="7223760" y="379476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altura adulta: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meninos aos 12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914400" y="4709160"/>
            <a:ext cx="10332720" cy="868680"/>
          </a:xfrm>
          <a:prstGeom prst="roundRect">
            <a:avLst>
              <a:gd name="adj" fmla="val 7368"/>
            </a:avLst>
          </a:prstGeom>
          <a:solidFill>
            <a:srgbClr val="EDE2F0"/>
          </a:solidFill>
          <a:ln w="12700">
            <a:solidFill>
              <a:srgbClr val="EDE2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0" y="4919472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Mudar ANTES ou DEPOIS da turma entra na mesma máquina de comparação do eu. O detalhe do timing puberal fica para a próxima aula.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48640" y="6437376"/>
            <a:ext cx="8686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 &amp; Boyd, cap. 9, p. 234 (Tanner, 1990)</a:t>
            </a:r>
            <a:endParaRPr lang="en-US" sz="11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5636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4 · 7 ANOS → PUBERDADE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292608"/>
            <a:ext cx="3108960" cy="365760"/>
          </a:xfrm>
          <a:prstGeom prst="roundRect">
            <a:avLst>
              <a:gd name="adj" fmla="val 20000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CENA · ALICE, QUASE 11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F6EF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Alice, quase 11, pede que a mãe espere lá fora. E a puberdade, que sacode o carro inteiro, é onde a próxima aula começa.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822960" y="2651760"/>
            <a:ext cx="105156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900" i="1" dirty="0">
                <a:solidFill>
                  <a:srgbClr val="DDC9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“A consulta que começou nove anos atrás com a mãe respondendo até a idade dela termina sem a mãe na sala. O volante está com Alice. E é exatamente agora que a puberdade liga o terremoto.”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1280160" y="5257800"/>
            <a:ext cx="8778240" cy="0"/>
          </a:xfrm>
          <a:prstGeom prst="line">
            <a:avLst/>
          </a:prstGeom>
          <a:noFill/>
          <a:ln w="31750">
            <a:solidFill>
              <a:srgbClr val="8A659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0149840" y="5074920"/>
            <a:ext cx="128016" cy="274320"/>
          </a:xfrm>
          <a:prstGeom prst="line">
            <a:avLst/>
          </a:prstGeom>
          <a:noFill/>
          <a:ln w="38100">
            <a:solidFill>
              <a:srgbClr val="E9603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277856" y="5074920"/>
            <a:ext cx="128016" cy="365760"/>
          </a:xfrm>
          <a:prstGeom prst="line">
            <a:avLst/>
          </a:prstGeom>
          <a:noFill/>
          <a:ln w="38100">
            <a:solidFill>
              <a:srgbClr val="E9603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10405872" y="5166360"/>
            <a:ext cx="128016" cy="274320"/>
          </a:xfrm>
          <a:prstGeom prst="line">
            <a:avLst/>
          </a:prstGeom>
          <a:noFill/>
          <a:ln w="38100">
            <a:solidFill>
              <a:srgbClr val="E9603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784080" y="564184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PUBERDADE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975104" y="5129784"/>
            <a:ext cx="256032" cy="256032"/>
          </a:xfrm>
          <a:prstGeom prst="ellipse">
            <a:avLst/>
          </a:prstGeom>
          <a:solidFill>
            <a:srgbClr val="ECB841"/>
          </a:solidFill>
          <a:ln w="12700">
            <a:solidFill>
              <a:srgbClr val="56365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88720" y="545896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51560" y="5760720"/>
            <a:ext cx="21031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corpo que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ganha símbolo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443984" y="5129784"/>
            <a:ext cx="256032" cy="256032"/>
          </a:xfrm>
          <a:prstGeom prst="ellipse">
            <a:avLst/>
          </a:prstGeom>
          <a:solidFill>
            <a:srgbClr val="ECB841"/>
          </a:solidFill>
          <a:ln w="12700">
            <a:solidFill>
              <a:srgbClr val="56365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0" y="545896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3-5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520440" y="5760720"/>
            <a:ext cx="21031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mente que descobre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outras mentes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912864" y="5129784"/>
            <a:ext cx="256032" cy="256032"/>
          </a:xfrm>
          <a:prstGeom prst="ellipse">
            <a:avLst/>
          </a:prstGeom>
          <a:solidFill>
            <a:srgbClr val="ECB841"/>
          </a:solidFill>
          <a:ln w="12700">
            <a:solidFill>
              <a:srgbClr val="56365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26480" y="545896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5-7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989320" y="5760720"/>
            <a:ext cx="21031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grande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virada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9381744" y="5129784"/>
            <a:ext cx="256032" cy="256032"/>
          </a:xfrm>
          <a:prstGeom prst="ellipse">
            <a:avLst/>
          </a:prstGeom>
          <a:solidFill>
            <a:srgbClr val="ECB841"/>
          </a:solidFill>
          <a:ln w="12700">
            <a:solidFill>
              <a:srgbClr val="56365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95360" y="545896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→ puberdade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458200" y="5760720"/>
            <a:ext cx="21031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eu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comparado</a:t>
            </a:r>
            <a:endParaRPr lang="en-US" sz="11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história em uma tela: ambiente → linguagem → outras mentes → freio interno → grupo. O volante nunca parou de mudar de mão.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1280160" y="4251960"/>
            <a:ext cx="9601200" cy="0"/>
          </a:xfrm>
          <a:prstGeom prst="line">
            <a:avLst/>
          </a:prstGeom>
          <a:noFill/>
          <a:ln w="31750">
            <a:solidFill>
              <a:srgbClr val="8A659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975104" y="4123944"/>
            <a:ext cx="256032" cy="256032"/>
          </a:xfrm>
          <a:prstGeom prst="ellipse">
            <a:avLst/>
          </a:prstGeom>
          <a:solidFill>
            <a:srgbClr val="ECB841"/>
          </a:solidFill>
          <a:ln w="12700">
            <a:solidFill>
              <a:srgbClr val="5636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0" y="44531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2-3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51560" y="4754880"/>
            <a:ext cx="21031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corpo que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ganha símbolo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443984" y="4123944"/>
            <a:ext cx="256032" cy="256032"/>
          </a:xfrm>
          <a:prstGeom prst="ellipse">
            <a:avLst/>
          </a:prstGeom>
          <a:solidFill>
            <a:srgbClr val="ECB841"/>
          </a:solidFill>
          <a:ln w="12700">
            <a:solidFill>
              <a:srgbClr val="5636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0" y="44531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3-5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520440" y="4754880"/>
            <a:ext cx="21031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mente que descobre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outras mentes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912864" y="4123944"/>
            <a:ext cx="256032" cy="256032"/>
          </a:xfrm>
          <a:prstGeom prst="ellipse">
            <a:avLst/>
          </a:prstGeom>
          <a:solidFill>
            <a:srgbClr val="ECB841"/>
          </a:solidFill>
          <a:ln w="12700">
            <a:solidFill>
              <a:srgbClr val="56365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26480" y="44531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5-7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989320" y="4754880"/>
            <a:ext cx="21031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grande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virada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381744" y="4123944"/>
            <a:ext cx="256032" cy="256032"/>
          </a:xfrm>
          <a:prstGeom prst="ellipse">
            <a:avLst/>
          </a:prstGeom>
          <a:solidFill>
            <a:srgbClr val="ECB841"/>
          </a:solidFill>
          <a:ln w="12700">
            <a:solidFill>
              <a:srgbClr val="56365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95360" y="44531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→ puberdade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458200" y="4754880"/>
            <a:ext cx="21031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eu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comparado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280160" y="5166360"/>
            <a:ext cx="9601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posição no mapa = etapa da transferência que costuma falhar, NÃO idade de início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60120" y="2468880"/>
            <a:ext cx="228600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60120" y="2468880"/>
            <a:ext cx="2286000" cy="6400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22" name="Text 20"/>
          <p:cNvSpPr/>
          <p:nvPr/>
        </p:nvSpPr>
        <p:spPr>
          <a:xfrm>
            <a:off x="1005840" y="260604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1005840" y="3035808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janela do apontar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2103120" y="3703320"/>
            <a:ext cx="0" cy="384048"/>
          </a:xfrm>
          <a:prstGeom prst="line">
            <a:avLst/>
          </a:prstGeom>
          <a:noFill/>
          <a:ln w="12700">
            <a:solidFill>
              <a:srgbClr val="8A6594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3429000" y="2468880"/>
            <a:ext cx="228600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429000" y="2468880"/>
            <a:ext cx="2286000" cy="6400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27" name="Text 25"/>
          <p:cNvSpPr/>
          <p:nvPr/>
        </p:nvSpPr>
        <p:spPr>
          <a:xfrm>
            <a:off x="3474720" y="260604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 · sinais TDAH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3474720" y="3035808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resistir funciona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4572000" y="3703320"/>
            <a:ext cx="0" cy="384048"/>
          </a:xfrm>
          <a:prstGeom prst="line">
            <a:avLst/>
          </a:prstGeom>
          <a:noFill/>
          <a:ln w="12700">
            <a:solidFill>
              <a:srgbClr val="8A6594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5897880" y="2468880"/>
            <a:ext cx="228600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897880" y="2468880"/>
            <a:ext cx="2286000" cy="6400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32" name="Text 30"/>
          <p:cNvSpPr/>
          <p:nvPr/>
        </p:nvSpPr>
        <p:spPr>
          <a:xfrm>
            <a:off x="5943600" y="260604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TDAH visível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5943600" y="3035808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demanda cruza o freio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7040880" y="3703320"/>
            <a:ext cx="0" cy="384048"/>
          </a:xfrm>
          <a:prstGeom prst="line">
            <a:avLst/>
          </a:prstGeom>
          <a:noFill/>
          <a:ln w="12700">
            <a:solidFill>
              <a:srgbClr val="8A6594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8366760" y="2468880"/>
            <a:ext cx="228600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366760" y="2468880"/>
            <a:ext cx="2286000" cy="6400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37" name="Text 35"/>
          <p:cNvSpPr/>
          <p:nvPr/>
        </p:nvSpPr>
        <p:spPr>
          <a:xfrm>
            <a:off x="8412480" y="260604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Ansiedade · Depressão</a:t>
            </a:r>
            <a:endParaRPr lang="en-US" sz="1350" dirty="0"/>
          </a:p>
        </p:txBody>
      </p:sp>
      <p:sp>
        <p:nvSpPr>
          <p:cNvPr id="38" name="Text 36"/>
          <p:cNvSpPr/>
          <p:nvPr/>
        </p:nvSpPr>
        <p:spPr>
          <a:xfrm>
            <a:off x="8412480" y="3035808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grupo devolve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9509760" y="3703320"/>
            <a:ext cx="0" cy="384048"/>
          </a:xfrm>
          <a:prstGeom prst="line">
            <a:avLst/>
          </a:prstGeom>
          <a:noFill/>
          <a:ln w="12700">
            <a:solidFill>
              <a:srgbClr val="8A6594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28800" y="569671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DO VOLANTE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1828800" y="5989320"/>
            <a:ext cx="2148840" cy="420624"/>
          </a:xfrm>
          <a:prstGeom prst="roundRect">
            <a:avLst>
              <a:gd name="adj" fmla="val 13043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PAIS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4014216" y="6199632"/>
            <a:ext cx="219456" cy="0"/>
          </a:xfrm>
          <a:prstGeom prst="line">
            <a:avLst/>
          </a:prstGeom>
          <a:noFill/>
          <a:ln w="19050">
            <a:solidFill>
              <a:srgbClr val="8A6594"/>
            </a:solidFill>
            <a:prstDash val="solid"/>
            <a:tailEnd type="triangle"/>
          </a:ln>
        </p:spPr>
      </p:sp>
      <p:sp>
        <p:nvSpPr>
          <p:cNvPr id="43" name="Text 41"/>
          <p:cNvSpPr/>
          <p:nvPr/>
        </p:nvSpPr>
        <p:spPr>
          <a:xfrm>
            <a:off x="4270248" y="5989320"/>
            <a:ext cx="2148840" cy="420624"/>
          </a:xfrm>
          <a:prstGeom prst="roundRect">
            <a:avLst>
              <a:gd name="adj" fmla="val 13043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LINGUAGEM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6455664" y="6199632"/>
            <a:ext cx="219456" cy="0"/>
          </a:xfrm>
          <a:prstGeom prst="line">
            <a:avLst/>
          </a:prstGeom>
          <a:noFill/>
          <a:ln w="19050">
            <a:solidFill>
              <a:srgbClr val="8A6594"/>
            </a:solidFill>
            <a:prstDash val="solid"/>
            <a:tailEnd type="triangle"/>
          </a:ln>
        </p:spPr>
      </p:sp>
      <p:sp>
        <p:nvSpPr>
          <p:cNvPr id="45" name="Text 43"/>
          <p:cNvSpPr/>
          <p:nvPr/>
        </p:nvSpPr>
        <p:spPr>
          <a:xfrm>
            <a:off x="6711696" y="5989320"/>
            <a:ext cx="2148840" cy="420624"/>
          </a:xfrm>
          <a:prstGeom prst="roundRect">
            <a:avLst>
              <a:gd name="adj" fmla="val 13043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FREIO INTERNO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8897112" y="6199632"/>
            <a:ext cx="219456" cy="0"/>
          </a:xfrm>
          <a:prstGeom prst="line">
            <a:avLst/>
          </a:prstGeom>
          <a:noFill/>
          <a:ln w="19050">
            <a:solidFill>
              <a:srgbClr val="8A6594"/>
            </a:solidFill>
            <a:prstDash val="solid"/>
            <a:tailEnd type="triangle"/>
          </a:ln>
        </p:spPr>
      </p:sp>
      <p:sp>
        <p:nvSpPr>
          <p:cNvPr id="47" name="Text 45"/>
          <p:cNvSpPr/>
          <p:nvPr/>
        </p:nvSpPr>
        <p:spPr>
          <a:xfrm>
            <a:off x="9153144" y="5989320"/>
            <a:ext cx="2148840" cy="420624"/>
          </a:xfrm>
          <a:prstGeom prst="roundRect">
            <a:avLst>
              <a:gd name="adj" fmla="val 13043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</a:t>
            </a:r>
            <a:endParaRPr lang="en-US" sz="115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Diante de qualquer criança, a primeira pergunta é: de quem é o volante nessa idade, e como vai a transferência?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graphicFrame>
        <p:nvGraphicFramePr>
          <p:cNvPr id="6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48840"/>
          <a:ext cx="1106424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4892040"/>
                <a:gridCol w="493776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6EF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IDADE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636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6EF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NORMAL QUE TRANQUILIZA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636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6EF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DEVERIA TIRAR O SONO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6365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5636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2-3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636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birra, “não”, faz de conta, explosão de palavras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636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apontar que só pede e nunca mostra; sem faz de conta; não responde ao nome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5636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3-5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2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636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mentira instrumental, fala sozinho, iniciativa com culpa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2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636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oposição que cresce porque funciona; intensidade igual em todo contexto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2F0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5636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5-7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636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cansaço regulatório (desabar em casa); erro de conservação aos 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636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freio abaixo da demanda em TODA tarefa chata, em casa E na escola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5636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→ pub.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2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636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comparação, panelinhas, melhor amigo, moral de combinado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2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636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criança que o grupo devolve; a que some em silêncio; a vítima habitual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2F0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8897112" y="6455664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aprofundamento: apêndice D</a:t>
            </a:r>
            <a:endParaRPr lang="en-US" sz="10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3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Fontes e material de apoio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1031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 PRIMÁRIA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107899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Bee, H. &amp; Boyd, D. Lifespan Development.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Caps. 7-10 (pp. 173-286): primeira infância e infância intermediária, desenvolvimento físico, cognitivo, social e de personalidade.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37033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COMPLEMENTOS PONTUAIS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4114800"/>
            <a:ext cx="107899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Watts, Duncan &amp; Quan (2018), Psychological Science · replicação do delay of gratification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Baron-Cohen, Leslie &amp; Frith (1985) · falsa crença (Sally-Anne)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Amsterdam (1972) · autorreconhecimento no espelho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 (1965) · o “5-to-7 shift”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M-CHAT-R/F · atenção compartilhada no rastreio do segundo ano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5623560"/>
            <a:ext cx="10881360" cy="868680"/>
          </a:xfrm>
          <a:prstGeom prst="roundRect">
            <a:avLst>
              <a:gd name="adj" fmla="val 7368"/>
            </a:avLst>
          </a:prstGeom>
          <a:solidFill>
            <a:srgbClr val="DDC9E3"/>
          </a:solidFill>
          <a:ln w="12700">
            <a:solidFill>
              <a:srgbClr val="DDC9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5760720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 de apoio completo (páginas, scripts e ressalvas) na plataforma. Aprofundamento no apêndice: A anatomia da birra · B as duas curvas do TDAH · C falsa crença · D perguntas frequentes.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897112" y="6455664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aprofundamento: apêndice D</a:t>
            </a:r>
            <a:endParaRPr lang="en-US" sz="10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5636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6EF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Apêndice de aprofundamento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283464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DDC9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Desenvolvimento normal: dos 2 anos ao início da puberdade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658368" y="3611880"/>
            <a:ext cx="1554480" cy="45720"/>
          </a:xfrm>
          <a:prstGeom prst="rect">
            <a:avLst/>
          </a:prstGeom>
          <a:solidFill>
            <a:srgbClr val="ECB841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384048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CB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Módulos de aprofundamento. Não fazem parte da sequência principal: entram se a turma pedir, ou circulam depois como material de estudo.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4892040"/>
            <a:ext cx="2560320" cy="1005840"/>
          </a:xfrm>
          <a:prstGeom prst="roundRect">
            <a:avLst>
              <a:gd name="adj" fmla="val 6364"/>
            </a:avLst>
          </a:prstGeom>
          <a:solidFill>
            <a:srgbClr val="8A6594"/>
          </a:solidFill>
          <a:ln w="12700">
            <a:solidFill>
              <a:srgbClr val="8A659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502920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ECB8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280160" y="5047488"/>
            <a:ext cx="1828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6E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Anatomia de uma birra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429000" y="4892040"/>
            <a:ext cx="2560320" cy="1005840"/>
          </a:xfrm>
          <a:prstGeom prst="roundRect">
            <a:avLst>
              <a:gd name="adj" fmla="val 6364"/>
            </a:avLst>
          </a:prstGeom>
          <a:solidFill>
            <a:srgbClr val="8A6594"/>
          </a:solidFill>
          <a:ln w="12700">
            <a:solidFill>
              <a:srgbClr val="8A659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66160" y="502920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ECB8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069080" y="5047488"/>
            <a:ext cx="1828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6E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duas curvas do TDAH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17920" y="4892040"/>
            <a:ext cx="2560320" cy="1005840"/>
          </a:xfrm>
          <a:prstGeom prst="roundRect">
            <a:avLst>
              <a:gd name="adj" fmla="val 6364"/>
            </a:avLst>
          </a:prstGeom>
          <a:solidFill>
            <a:srgbClr val="8A6594"/>
          </a:solidFill>
          <a:ln w="12700">
            <a:solidFill>
              <a:srgbClr val="8A659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55080" y="502920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ECB8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6858000" y="5047488"/>
            <a:ext cx="1828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6E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Falsa crença quadro a quadro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9006840" y="4892040"/>
            <a:ext cx="2560320" cy="1005840"/>
          </a:xfrm>
          <a:prstGeom prst="roundRect">
            <a:avLst>
              <a:gd name="adj" fmla="val 6364"/>
            </a:avLst>
          </a:prstGeom>
          <a:solidFill>
            <a:srgbClr val="8A6594"/>
          </a:solidFill>
          <a:ln w="12700">
            <a:solidFill>
              <a:srgbClr val="8A659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0" y="502920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ECB8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9646920" y="5047488"/>
            <a:ext cx="1828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6E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Apêndice anti-pergunta</a:t>
            </a:r>
            <a:endParaRPr lang="en-US" sz="125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5636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91440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ECB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SATÉLITE A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F6EF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Anatomia de uma birra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85216" y="2971800"/>
            <a:ext cx="1554480" cy="45720"/>
          </a:xfrm>
          <a:prstGeom prst="rect">
            <a:avLst/>
          </a:prstGeom>
          <a:solidFill>
            <a:srgbClr val="ECB84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324612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50" b="1" dirty="0">
                <a:solidFill>
                  <a:srgbClr val="ECB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isso se liga à tese do volante: </a:t>
            </a:r>
            <a:pPr indent="0" marL="0">
              <a:lnSpc>
                <a:spcPct val="120000"/>
              </a:lnSpc>
              <a:buNone/>
            </a:pPr>
            <a:r>
              <a:rPr lang="en-US" sz="1550" dirty="0">
                <a:solidFill>
                  <a:srgbClr val="F6E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aos 2-3 anos o freio mora no adulto; ler uma birra é ler como está a regulação externa. É também a base para entender, no Ato 2, a oposição que aprende a funcionar.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566928" y="4343400"/>
            <a:ext cx="1097280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i="1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Ferramenta deste módulo: o esquema A-B-C da análise do comportamento (Antecedente, o que veio antes; Comportamento; Consequência, o que o comportamento produziu no ambiente). Atenção ao termo: consequência aqui NÃO é castigo. E o esquema aplicado a um episódio único gera hipótese, não diagnóstico.</a:t>
            </a:r>
            <a:endParaRPr lang="en-US" sz="135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897112" y="256032"/>
            <a:ext cx="278892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SATÉLITE A · BIRRA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Uma birra não é um evento, é uma sequência: e cada elo é um lugar diferente de intervir.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2331720"/>
            <a:ext cx="3383280" cy="3017520"/>
          </a:xfrm>
          <a:prstGeom prst="roundRect">
            <a:avLst>
              <a:gd name="adj" fmla="val 2121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2331720"/>
            <a:ext cx="3383280" cy="73152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51460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· ANTECEDENTE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" y="297180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veio imediatamente antes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822960" y="356616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ex.: mãe diz “não” ao doce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22960" y="420624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intervir aqui = prevenção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(avisos, escolhas limitadas)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389120" y="2331720"/>
            <a:ext cx="3383280" cy="3017520"/>
          </a:xfrm>
          <a:prstGeom prst="roundRect">
            <a:avLst>
              <a:gd name="adj" fmla="val 2121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389120" y="2331720"/>
            <a:ext cx="3383280" cy="73152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0" y="251460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· COMPORTAMENTO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72000" y="297180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 criança faz, observável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572000" y="356616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ex.: joga-se no chão, grita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72000" y="420624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intervir aqui = segurança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(retirar perigos, presença)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138160" y="2331720"/>
            <a:ext cx="3383280" cy="3017520"/>
          </a:xfrm>
          <a:prstGeom prst="roundRect">
            <a:avLst>
              <a:gd name="adj" fmla="val 2121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38160" y="2331720"/>
            <a:ext cx="3383280" cy="73152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20" name="Text 18"/>
          <p:cNvSpPr/>
          <p:nvPr/>
        </p:nvSpPr>
        <p:spPr>
          <a:xfrm>
            <a:off x="8321040" y="251460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· CONSEQUÊNCIA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321040" y="297180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o comportamento produziu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8321040" y="356616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ex.: mãe cede o doce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321040" y="420624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intervir aqui = consistência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 elo que ensina)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40080" y="5577840"/>
            <a:ext cx="10881360" cy="685800"/>
          </a:xfrm>
          <a:prstGeom prst="roundRect">
            <a:avLst>
              <a:gd name="adj" fmla="val 9333"/>
            </a:avLst>
          </a:prstGeom>
          <a:solidFill>
            <a:srgbClr val="DDC9E3"/>
          </a:solidFill>
          <a:ln w="12700">
            <a:solidFill>
              <a:srgbClr val="DDC9E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5742432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Consequência = o que o comportamento produziu no ambiente. NÃO é sinônimo de castigo.</a:t>
            </a:r>
            <a:endParaRPr lang="en-US" sz="14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897112" y="256032"/>
            <a:ext cx="278892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SATÉLITE A · BIRRA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3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antecedente tem dois níveis: o disparo do momento e o terreno que baixa o limiar.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2286000"/>
            <a:ext cx="5257800" cy="32004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468880"/>
            <a:ext cx="475488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DISPAROS (o gatilho do momento)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914400" y="2926080"/>
            <a:ext cx="475488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Transição: interromper algo bom (“hora de sair da casa da avó”)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Negativa: o “não” ao pedido (doce no mercado)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Atenção do cuidador desviada: mãe no telefone, irmão no colo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Demanda acima da capacidade: tarefa que a mão ou a fala ainda não alcança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263640" y="2286000"/>
            <a:ext cx="5257800" cy="3200400"/>
          </a:xfrm>
          <a:prstGeom prst="roundRect">
            <a:avLst>
              <a:gd name="adj" fmla="val 2000"/>
            </a:avLst>
          </a:prstGeom>
          <a:solidFill>
            <a:srgbClr val="EDE2F0"/>
          </a:solidFill>
          <a:ln w="12700">
            <a:solidFill>
              <a:srgbClr val="EDE2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37960" y="2468880"/>
            <a:ext cx="475488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TERRENO (baixa o limiar para qualquer disparo)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537960" y="2926080"/>
            <a:ext cx="475488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Fome e sono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Dor e doença começando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Sobrecarga sensorial (mercado, festa)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Linguagem aquém do que a criança quer dizer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terreno não dispara a birra: torna qualquer disparo suficiente.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" y="5715000"/>
            <a:ext cx="10881360" cy="594360"/>
          </a:xfrm>
          <a:prstGeom prst="roundRect">
            <a:avLst>
              <a:gd name="adj" fmla="val 10769"/>
            </a:avLst>
          </a:prstGeom>
          <a:solidFill>
            <a:srgbClr val="DDC9E3"/>
          </a:solidFill>
          <a:ln w="12700">
            <a:solidFill>
              <a:srgbClr val="DDC9E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585216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Esses grupos cobrem a maioria das birras, não todas. Birra que não se encaixa não é, por si, sinal de doença.</a:t>
            </a:r>
            <a:endParaRPr lang="en-US" sz="135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897112" y="256032"/>
            <a:ext cx="278892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SATÉLITE A · BIRRA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Existe um ponto em que negociar para de funcionar: antes dele, prevenção; depois, proteção e presença.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1097280" y="5212080"/>
            <a:ext cx="6583680" cy="0"/>
          </a:xfrm>
          <a:prstGeom prst="line">
            <a:avLst/>
          </a:prstGeom>
          <a:noFill/>
          <a:ln w="19050">
            <a:solidFill>
              <a:srgbClr val="8A659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97280" y="2377440"/>
            <a:ext cx="0" cy="2834640"/>
          </a:xfrm>
          <a:prstGeom prst="line">
            <a:avLst/>
          </a:prstGeom>
          <a:noFill/>
          <a:ln w="19050">
            <a:solidFill>
              <a:srgbClr val="8A659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43000" y="2240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intensidade (esquemática)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040880" y="5303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1097280" y="5074920"/>
            <a:ext cx="1463040" cy="-822960"/>
          </a:xfrm>
          <a:prstGeom prst="line">
            <a:avLst/>
          </a:prstGeom>
          <a:noFill/>
          <a:ln w="50800">
            <a:solidFill>
              <a:srgbClr val="ECB84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560320" y="4251960"/>
            <a:ext cx="1097280" cy="-1371600"/>
          </a:xfrm>
          <a:prstGeom prst="line">
            <a:avLst/>
          </a:prstGeom>
          <a:noFill/>
          <a:ln w="50800">
            <a:solidFill>
              <a:srgbClr val="E960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57600" y="2880360"/>
            <a:ext cx="1463040" cy="228600"/>
          </a:xfrm>
          <a:prstGeom prst="line">
            <a:avLst/>
          </a:prstGeom>
          <a:noFill/>
          <a:ln w="50800">
            <a:solidFill>
              <a:srgbClr val="E9603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120640" y="3108960"/>
            <a:ext cx="2194560" cy="1737360"/>
          </a:xfrm>
          <a:prstGeom prst="line">
            <a:avLst/>
          </a:prstGeom>
          <a:noFill/>
          <a:ln w="50800">
            <a:solidFill>
              <a:srgbClr val="ECB84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395728" y="4087368"/>
            <a:ext cx="329184" cy="329184"/>
          </a:xfrm>
          <a:prstGeom prst="ellipse">
            <a:avLst/>
          </a:prstGeom>
          <a:solidFill>
            <a:srgbClr val="E96030"/>
          </a:solidFill>
          <a:ln/>
        </p:spPr>
      </p:sp>
      <p:sp>
        <p:nvSpPr>
          <p:cNvPr id="15" name="Text 13"/>
          <p:cNvSpPr/>
          <p:nvPr/>
        </p:nvSpPr>
        <p:spPr>
          <a:xfrm>
            <a:off x="2057400" y="45262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ponto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1234440" y="3017520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PREVENÇÃO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 aqui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749040" y="2286000"/>
            <a:ext cx="1463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pico: intervir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prolonga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577840" y="4206240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pós-pico: janela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acolhimento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955280" y="2240280"/>
            <a:ext cx="3611880" cy="32004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9050">
            <a:solidFill>
              <a:srgbClr val="E9603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183880" y="2423160"/>
            <a:ext cx="3200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RECONHECER QUE O PONTO PASSOU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183880" y="3063240"/>
            <a:ext cx="32004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não responde mais ao nome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recusa a própria coisa que pedia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movimento descoordenado, sem direção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DEPOIS DO PONTO: retirar perigos, ficar perto, pouca fala, tom baixo. Esperar perto não é ignorar.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48640" y="6437376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curva esquemática (didática); a anatomia empírica descreve raiva com pico precoce e angústia mais longa (Potegal &amp; Davison, 2003)</a:t>
            </a:r>
            <a:endParaRPr lang="en-US" sz="11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897112" y="256032"/>
            <a:ext cx="278892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SATÉLITE A · BIRRA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3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maioria das birras serve a obter ou evitar; algumas são só transbordamento.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2377440"/>
            <a:ext cx="3383280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56032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OBTER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30175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objeto ou atenção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3520440"/>
            <a:ext cx="30175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ex.: o doce; o colo que foi para o irmão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89120" y="2377440"/>
            <a:ext cx="3383280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0" y="256032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EVITAR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572000" y="30175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demanda ou transição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0" y="3520440"/>
            <a:ext cx="30175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ex.: escovar os dentes; sair do parquinho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38160" y="2377440"/>
            <a:ext cx="3383280" cy="2286000"/>
          </a:xfrm>
          <a:prstGeom prst="roundRect">
            <a:avLst>
              <a:gd name="adj" fmla="val 2800"/>
            </a:avLst>
          </a:prstGeom>
          <a:solidFill>
            <a:srgbClr val="EDE2F0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21040" y="256032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TRANSBORDAMENTO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321040" y="30175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função operante clara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321040" y="3520440"/>
            <a:ext cx="30175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ex.: fim de dia, fome + sono: o sistema só transborda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0080" y="4937760"/>
            <a:ext cx="10881360" cy="1188720"/>
          </a:xfrm>
          <a:prstGeom prst="roundRect">
            <a:avLst>
              <a:gd name="adj" fmla="val 5385"/>
            </a:avLst>
          </a:prstGeom>
          <a:solidFill>
            <a:srgbClr val="DDC9E3"/>
          </a:solidFill>
          <a:ln w="12700">
            <a:solidFill>
              <a:srgbClr val="DDC9E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512064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Função não é intenção. </a:t>
            </a:r>
            <a:pPr indent="0" marL="0"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Criança de 2 anos não planeja: o ambiente selecionou o que funcionou, por repetição. As funções podem ser múltiplas e mudar dentro do mesmo episódio (começa pelo doce, mantém-se pela atenção).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48640" y="6437376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análise formal usa 4 classes: atenção, tangível, fuga/esquiva e sensorial/automática; obter/evitar é o resumo didático</a:t>
            </a:r>
            <a:endParaRPr lang="en-US" sz="11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897112" y="256032"/>
            <a:ext cx="278892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SATÉLITE A · BIRRA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3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 cena do mercado, o reforço rodou dos DOIS lados: e é isso que arma a armadilha.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2148840"/>
            <a:ext cx="10881360" cy="777240"/>
          </a:xfrm>
          <a:prstGeom prst="roundRect">
            <a:avLst>
              <a:gd name="adj" fmla="val 8235"/>
            </a:avLst>
          </a:prstGeom>
          <a:solidFill>
            <a:srgbClr val="EDE2F0"/>
          </a:solidFill>
          <a:ln w="12700">
            <a:solidFill>
              <a:srgbClr val="EDE2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28600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cena-tipo (padrão do vídeo V2 da aula; confirme que o clipe escolhido contém o ciclo completo): criança de ~2 anos pede doce no caixa; mãe diz não; grito e chão; a mãe entrega o doce e o grito para.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3200400"/>
            <a:ext cx="5257800" cy="2377440"/>
          </a:xfrm>
          <a:prstGeom prst="roundRect">
            <a:avLst>
              <a:gd name="adj" fmla="val 2692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3364992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LINHA DA CRIANÇA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914400" y="3767328"/>
            <a:ext cx="47548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 “não” ao doce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B: grito + chão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C: ganhou o doce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reforço POSITIVO (ganhou algo)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263640" y="3200400"/>
            <a:ext cx="5257800" cy="2377440"/>
          </a:xfrm>
          <a:prstGeom prst="roundRect">
            <a:avLst>
              <a:gd name="adj" fmla="val 2692"/>
            </a:avLst>
          </a:prstGeom>
          <a:solidFill>
            <a:srgbClr val="FFFFFF"/>
          </a:solidFill>
          <a:ln w="19050">
            <a:solidFill>
              <a:srgbClr val="E9603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37960" y="3364992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LINHA DA MÃE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6537960" y="3767328"/>
            <a:ext cx="47548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 grito no mercado, plateia olhando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B: entregou o doce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C: o grito PAROU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reforço NEGATIVO (algo aversivo cessou)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40080" y="5760720"/>
            <a:ext cx="10881360" cy="594360"/>
          </a:xfrm>
          <a:prstGeom prst="roundRect">
            <a:avLst>
              <a:gd name="adj" fmla="val 10769"/>
            </a:avLst>
          </a:prstGeom>
          <a:solidFill>
            <a:srgbClr val="DDC9E3"/>
          </a:solidFill>
          <a:ln w="12700">
            <a:solidFill>
              <a:srgbClr val="DDC9E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5888736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Reforço negativo NÃO é punição: é alívio que fortalece o comportamento que o produziu. Os dois lados saem treinados.</a:t>
            </a:r>
            <a:endParaRPr lang="en-US" sz="135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897112" y="256032"/>
            <a:ext cx="278892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SATÉLITE A · BIRRA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3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pergunta que muda a consulta: o que a birra produziu, dos dois lados?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2286000"/>
            <a:ext cx="10881360" cy="1737360"/>
          </a:xfrm>
          <a:prstGeom prst="roundRect">
            <a:avLst>
              <a:gd name="adj" fmla="val 3684"/>
            </a:avLst>
          </a:prstGeom>
          <a:solidFill>
            <a:srgbClr val="FFFFFF"/>
          </a:solidFill>
          <a:ln w="25400">
            <a:solidFill>
              <a:srgbClr val="E9603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256032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resistir produz recuo do adulto, repetidamente e em vários contextos, a oposição vira </a:t>
            </a:r>
            <a:pPr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comportamento aprendido</a:t>
            </a:r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(sem intenção consciente, sem vilão). Esse ciclo é FATOR DE RISCO e de manutenção do transtorno opositivo-desafiador (TOD), não causa suficiente: temperamento e carga familiar entram na equação.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40080" y="4343400"/>
            <a:ext cx="10881360" cy="1188720"/>
          </a:xfrm>
          <a:prstGeom prst="roundRect">
            <a:avLst>
              <a:gd name="adj" fmla="val 5385"/>
            </a:avLst>
          </a:prstGeom>
          <a:solidFill>
            <a:srgbClr val="EDE2F0"/>
          </a:solidFill>
          <a:ln w="12700">
            <a:solidFill>
              <a:srgbClr val="EDE2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4572000"/>
            <a:ext cx="103327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anamnese, três perguntas operacionais: O que acontece imediatamente depois da birra? Quem cede, com que frequência? A oposição já se espalhou para fora de casa?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548640" y="6437376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ponte com a aula principal: contracena do Ato 2 (quando resistir funciona)</a:t>
            </a:r>
            <a:endParaRPr lang="en-US" sz="11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5636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91440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ECB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SATÉLITE B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F6EF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 duas curvas do TDAH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85216" y="2971800"/>
            <a:ext cx="1554480" cy="45720"/>
          </a:xfrm>
          <a:prstGeom prst="rect">
            <a:avLst/>
          </a:prstGeom>
          <a:solidFill>
            <a:srgbClr val="ECB84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324612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50" b="1" dirty="0">
                <a:solidFill>
                  <a:srgbClr val="ECB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isso se liga à tese do volante: </a:t>
            </a:r>
            <a:pPr indent="0" marL="0">
              <a:lnSpc>
                <a:spcPct val="120000"/>
              </a:lnSpc>
              <a:buNone/>
            </a:pPr>
            <a:r>
              <a:rPr lang="en-US" sz="1550" dirty="0">
                <a:solidFill>
                  <a:srgbClr val="F6E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Ato 3 afirma que o TDAH fica visível quando a demanda cruza o freio. Este módulo desmonta o gráfico em passos e acrescenta o que ele NÃO diz.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566928" y="4343400"/>
            <a:ext cx="1097280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i="1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Vocabulário do módulo: “freio” é o apelido didático das funções executivas (inibir impulso, segurar informação na cabeça, trocar de plano). O gráfico é esquemático: os eixos não têm unidade comum; é uma retórica visual, e assumimos isso. O que ele explica é QUANDO o transtorno chega à consulta, nunca O QUE ele é.</a:t>
            </a:r>
            <a:endParaRPr lang="en-US" sz="135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897112" y="256032"/>
            <a:ext cx="278892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SATÉLITE B · TDAH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freio amadurece devagar, e continua amadurecendo muito depois desta aula: até a vida adulta jovem.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1188720" y="5212080"/>
            <a:ext cx="9509760" cy="0"/>
          </a:xfrm>
          <a:prstGeom prst="line">
            <a:avLst/>
          </a:prstGeom>
          <a:noFill/>
          <a:ln w="19050">
            <a:solidFill>
              <a:srgbClr val="8A659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88720" y="2377440"/>
            <a:ext cx="0" cy="2834640"/>
          </a:xfrm>
          <a:prstGeom prst="line">
            <a:avLst/>
          </a:prstGeom>
          <a:noFill/>
          <a:ln w="19050">
            <a:solidFill>
              <a:srgbClr val="8A659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88720" y="5029200"/>
            <a:ext cx="2926080" cy="-1005840"/>
          </a:xfrm>
          <a:prstGeom prst="line">
            <a:avLst/>
          </a:prstGeom>
          <a:noFill/>
          <a:ln w="50800">
            <a:solidFill>
              <a:srgbClr val="ECB84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0" y="4023360"/>
            <a:ext cx="2926080" cy="-777240"/>
          </a:xfrm>
          <a:prstGeom prst="line">
            <a:avLst/>
          </a:prstGeom>
          <a:noFill/>
          <a:ln w="50800">
            <a:solidFill>
              <a:srgbClr val="ECB84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040880" y="3246120"/>
            <a:ext cx="2011680" cy="-365760"/>
          </a:xfrm>
          <a:prstGeom prst="line">
            <a:avLst/>
          </a:prstGeom>
          <a:noFill/>
          <a:ln w="50800">
            <a:solidFill>
              <a:srgbClr val="ECB84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052560" y="2880360"/>
            <a:ext cx="1554480" cy="-228600"/>
          </a:xfrm>
          <a:prstGeom prst="line">
            <a:avLst/>
          </a:prstGeom>
          <a:noFill/>
          <a:ln w="50800">
            <a:solidFill>
              <a:srgbClr val="ECB841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914400" y="534924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108960" y="534924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6a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303520" y="534924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12a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498080" y="534924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puberdade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692640" y="534924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adulto jovem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63840" y="4023360"/>
            <a:ext cx="3657600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92440" y="4206240"/>
            <a:ext cx="32004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Âncoras: aos 3, não espera a vez nem com ajuda; aos 8, espera; aos 15, planeja a semana (mais ou menos).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48640" y="6437376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curva média didática: inibição, memória de trabalho e flexibilidade têm trajetórias distintas, e a variância individual é enorme</a:t>
            </a:r>
            <a:endParaRPr lang="en-US" sz="11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897112" y="256032"/>
            <a:ext cx="278892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SATÉLITE B · TDAH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3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demanda não sobe em rampa, sobe em escada: e o degrau dos 6 anos é o mais alto.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1188720" y="5212080"/>
            <a:ext cx="9509760" cy="0"/>
          </a:xfrm>
          <a:prstGeom prst="line">
            <a:avLst/>
          </a:prstGeom>
          <a:noFill/>
          <a:ln w="19050">
            <a:solidFill>
              <a:srgbClr val="8A659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88720" y="2377440"/>
            <a:ext cx="0" cy="2834640"/>
          </a:xfrm>
          <a:prstGeom prst="line">
            <a:avLst/>
          </a:prstGeom>
          <a:noFill/>
          <a:ln w="19050">
            <a:solidFill>
              <a:srgbClr val="8A659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88720" y="4892040"/>
            <a:ext cx="2377440" cy="0"/>
          </a:xfrm>
          <a:prstGeom prst="line">
            <a:avLst/>
          </a:prstGeom>
          <a:noFill/>
          <a:ln w="50800">
            <a:solidFill>
              <a:srgbClr val="E9603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566160" y="4434840"/>
            <a:ext cx="0" cy="457200"/>
          </a:xfrm>
          <a:prstGeom prst="line">
            <a:avLst/>
          </a:prstGeom>
          <a:noFill/>
          <a:ln w="50800">
            <a:solidFill>
              <a:srgbClr val="E9603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566160" y="4434840"/>
            <a:ext cx="1737360" cy="0"/>
          </a:xfrm>
          <a:prstGeom prst="line">
            <a:avLst/>
          </a:prstGeom>
          <a:noFill/>
          <a:ln w="50800">
            <a:solidFill>
              <a:srgbClr val="E9603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303520" y="3246120"/>
            <a:ext cx="0" cy="1188720"/>
          </a:xfrm>
          <a:prstGeom prst="line">
            <a:avLst/>
          </a:prstGeom>
          <a:noFill/>
          <a:ln w="50800">
            <a:solidFill>
              <a:srgbClr val="E960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303520" y="3246120"/>
            <a:ext cx="2651760" cy="0"/>
          </a:xfrm>
          <a:prstGeom prst="line">
            <a:avLst/>
          </a:prstGeom>
          <a:noFill/>
          <a:ln w="50800">
            <a:solidFill>
              <a:srgbClr val="E9603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955280" y="2697480"/>
            <a:ext cx="0" cy="548640"/>
          </a:xfrm>
          <a:prstGeom prst="line">
            <a:avLst/>
          </a:prstGeom>
          <a:noFill/>
          <a:ln w="50800">
            <a:solidFill>
              <a:srgbClr val="E9603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955280" y="2697480"/>
            <a:ext cx="2377440" cy="0"/>
          </a:xfrm>
          <a:prstGeom prst="line">
            <a:avLst/>
          </a:prstGeom>
          <a:noFill/>
          <a:ln w="50800">
            <a:solidFill>
              <a:srgbClr val="E9603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49834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casa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611880" y="4526280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pré-escola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0" y="2395728"/>
            <a:ext cx="32918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FUNDAMENTAL I (6a): sentar horas, instrução única para 30, sem adulto dedicado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046720" y="214884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FUNDAMENTAL II: organização, vários professores (a desatenção aflora aqui)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48640" y="6437376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hiperatividade grave já é visível aos 3-4 na pré-escola; a apresentação desatenta costuma aflorar no fundamental II</a:t>
            </a:r>
            <a:endParaRPr lang="en-US" sz="11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897112" y="256032"/>
            <a:ext cx="278892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SATÉLITE B · TDAH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3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vão entre as curvas explica QUANDO o TDAH chega à consulta, não O QUE ele é.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1188720" y="5212080"/>
            <a:ext cx="9509760" cy="0"/>
          </a:xfrm>
          <a:prstGeom prst="line">
            <a:avLst/>
          </a:prstGeom>
          <a:noFill/>
          <a:ln w="19050">
            <a:solidFill>
              <a:srgbClr val="8A659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88720" y="2377440"/>
            <a:ext cx="0" cy="2834640"/>
          </a:xfrm>
          <a:prstGeom prst="line">
            <a:avLst/>
          </a:prstGeom>
          <a:noFill/>
          <a:ln w="19050">
            <a:solidFill>
              <a:srgbClr val="8A659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88720" y="4754880"/>
            <a:ext cx="3291840" cy="0"/>
          </a:xfrm>
          <a:prstGeom prst="line">
            <a:avLst/>
          </a:prstGeom>
          <a:noFill/>
          <a:ln w="44450">
            <a:solidFill>
              <a:srgbClr val="E9603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480560" y="3246120"/>
            <a:ext cx="0" cy="1508760"/>
          </a:xfrm>
          <a:prstGeom prst="line">
            <a:avLst/>
          </a:prstGeom>
          <a:noFill/>
          <a:ln w="44450">
            <a:solidFill>
              <a:srgbClr val="E9603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80560" y="3246120"/>
            <a:ext cx="6035040" cy="-320040"/>
          </a:xfrm>
          <a:prstGeom prst="line">
            <a:avLst/>
          </a:prstGeom>
          <a:noFill/>
          <a:ln w="44450">
            <a:solidFill>
              <a:srgbClr val="E9603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88720" y="4983480"/>
            <a:ext cx="4754880" cy="-1463040"/>
          </a:xfrm>
          <a:prstGeom prst="line">
            <a:avLst/>
          </a:prstGeom>
          <a:noFill/>
          <a:ln w="44450">
            <a:solidFill>
              <a:srgbClr val="ECB84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943600" y="3520440"/>
            <a:ext cx="4572000" cy="-960120"/>
          </a:xfrm>
          <a:prstGeom prst="line">
            <a:avLst/>
          </a:prstGeom>
          <a:noFill/>
          <a:ln w="44450">
            <a:solidFill>
              <a:srgbClr val="ECB84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88720" y="5120640"/>
            <a:ext cx="4754880" cy="-914400"/>
          </a:xfrm>
          <a:prstGeom prst="line">
            <a:avLst/>
          </a:prstGeom>
          <a:noFill/>
          <a:ln w="44450">
            <a:solidFill>
              <a:srgbClr val="8A6594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5943600" y="4206240"/>
            <a:ext cx="4572000" cy="-685800"/>
          </a:xfrm>
          <a:prstGeom prst="line">
            <a:avLst/>
          </a:prstGeom>
          <a:noFill/>
          <a:ln w="44450">
            <a:solidFill>
              <a:srgbClr val="8A6594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4480560" y="3127248"/>
            <a:ext cx="4206240" cy="960120"/>
          </a:xfrm>
          <a:prstGeom prst="rect">
            <a:avLst/>
          </a:prstGeom>
          <a:solidFill>
            <a:srgbClr val="E96030">
              <a:alpha val="18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10607040" y="27889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demanda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10607040" y="233172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freio típico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0607040" y="342900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freio TDAH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572000" y="3200400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vão clínico: maior, persistente, em 2+ contextos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5532120"/>
            <a:ext cx="10881360" cy="77724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9050">
            <a:solidFill>
              <a:srgbClr val="E9603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566928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Aviso na direção oposta: os mais novos da turma recebem mais diagnóstico (efeito de idade relativa). O mesmo vão que revela TDAH também rotula imaturidade normal.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640" y="6437376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diagnóstico segue exigindo prejuízo em 2+ contextos e início na infância; o gráfico não substitui critério</a:t>
            </a:r>
            <a:endParaRPr lang="en-US" sz="11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897112" y="256032"/>
            <a:ext cx="278892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SATÉLITE B · TDAH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Acomodação abaixa o degrau; tratamento sobe o freio. São alavancas diferentes, e complementares.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1188720" y="5212080"/>
            <a:ext cx="9509760" cy="0"/>
          </a:xfrm>
          <a:prstGeom prst="line">
            <a:avLst/>
          </a:prstGeom>
          <a:noFill/>
          <a:ln w="19050">
            <a:solidFill>
              <a:srgbClr val="8A659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88720" y="2377440"/>
            <a:ext cx="0" cy="2834640"/>
          </a:xfrm>
          <a:prstGeom prst="line">
            <a:avLst/>
          </a:prstGeom>
          <a:noFill/>
          <a:ln w="19050">
            <a:solidFill>
              <a:srgbClr val="8A659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88720" y="4754880"/>
            <a:ext cx="3291840" cy="0"/>
          </a:xfrm>
          <a:prstGeom prst="line">
            <a:avLst/>
          </a:prstGeom>
          <a:noFill/>
          <a:ln w="44450">
            <a:solidFill>
              <a:srgbClr val="E9603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480560" y="3246120"/>
            <a:ext cx="0" cy="1508760"/>
          </a:xfrm>
          <a:prstGeom prst="line">
            <a:avLst/>
          </a:prstGeom>
          <a:noFill/>
          <a:ln w="44450">
            <a:solidFill>
              <a:srgbClr val="E9603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80560" y="3246120"/>
            <a:ext cx="6035040" cy="-274320"/>
          </a:xfrm>
          <a:prstGeom prst="line">
            <a:avLst/>
          </a:prstGeom>
          <a:noFill/>
          <a:ln w="44450">
            <a:solidFill>
              <a:srgbClr val="E9603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80560" y="3977640"/>
            <a:ext cx="6035040" cy="-274320"/>
          </a:xfrm>
          <a:prstGeom prst="line">
            <a:avLst/>
          </a:prstGeom>
          <a:noFill/>
          <a:ln w="38100">
            <a:solidFill>
              <a:srgbClr val="E96030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7589520" y="40690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acomodações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abaixam o degrau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188720" y="5120640"/>
            <a:ext cx="9326880" cy="-1554480"/>
          </a:xfrm>
          <a:prstGeom prst="line">
            <a:avLst/>
          </a:prstGeom>
          <a:noFill/>
          <a:ln w="44450">
            <a:solidFill>
              <a:srgbClr val="8A6594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1188720" y="4892040"/>
            <a:ext cx="9326880" cy="-1965960"/>
          </a:xfrm>
          <a:prstGeom prst="line">
            <a:avLst/>
          </a:prstGeom>
          <a:noFill/>
          <a:ln w="44450">
            <a:solidFill>
              <a:srgbClr val="ECB84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949440" y="2331720"/>
            <a:ext cx="40233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tratamento (comportamental + farmacológico)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sobe a curva do freio, funcionalmente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5532120"/>
            <a:ext cx="10881360" cy="777240"/>
          </a:xfrm>
          <a:prstGeom prst="roundRect">
            <a:avLst>
              <a:gd name="adj" fmla="val 8235"/>
            </a:avLst>
          </a:prstGeom>
          <a:solidFill>
            <a:srgbClr val="EDE2F0"/>
          </a:solidFill>
          <a:ln w="12700">
            <a:solidFill>
              <a:srgbClr val="EDE2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5650992"/>
            <a:ext cx="10332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Acomodações (sentar longe da janela, instrução fracionada, pausas de movimento): evidência individual modesta; pedem-se por relatório médico à escola. Não substituem tratamento, nem o contrário.</a:t>
            </a:r>
            <a:endParaRPr lang="en-US" sz="125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5636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91440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ECB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SATÉLITE C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F6EF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Falsa crença quadro a quadro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85216" y="2971800"/>
            <a:ext cx="1554480" cy="45720"/>
          </a:xfrm>
          <a:prstGeom prst="rect">
            <a:avLst/>
          </a:prstGeom>
          <a:solidFill>
            <a:srgbClr val="ECB84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324612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50" b="1" dirty="0">
                <a:solidFill>
                  <a:srgbClr val="ECB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isso se liga à tese do volante: </a:t>
            </a:r>
            <a:pPr indent="0" marL="0">
              <a:lnSpc>
                <a:spcPct val="120000"/>
              </a:lnSpc>
              <a:buNone/>
            </a:pPr>
            <a:r>
              <a:rPr lang="en-US" sz="1550" dirty="0">
                <a:solidFill>
                  <a:srgbClr val="F6E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 pré-requisito cognitivo da vida em grupo: sem representar a mente do outro, não há amizade recíproca (Ato 4) nem convivência escolar. Este módulo desmonta o experimento do Ato 2.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566928" y="4343400"/>
            <a:ext cx="1097280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i="1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cenário: uma criança ASSISTE a uma encenação com duas bonecas (Sally e Anne) e responde a UMA pergunta no final. Quem é testada é a criança da plateia, não as bonecas. Paradigma da transferência inesperada (Sally-Anne, Baron-Cohen et al., 1985); o livro-fonte usa o paradigma irmão da caixa de doces. “Falsa crença” = agir por uma representação do mundo que ficou desatualizada.</a:t>
            </a:r>
            <a:endParaRPr lang="en-US" sz="135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897112" y="256032"/>
            <a:ext cx="278892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SATÉLITE C · FALSA CRENÇA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3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Quadro 1: Sally guarda a bolinha na cesta e sai para brincar.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2377440" y="2651760"/>
            <a:ext cx="502920" cy="502920"/>
          </a:xfrm>
          <a:prstGeom prst="ellipse">
            <a:avLst/>
          </a:prstGeom>
          <a:solidFill>
            <a:srgbClr val="8A6594"/>
          </a:solidFill>
          <a:ln/>
        </p:spPr>
      </p:sp>
      <p:sp>
        <p:nvSpPr>
          <p:cNvPr id="7" name="Shape 5"/>
          <p:cNvSpPr/>
          <p:nvPr/>
        </p:nvSpPr>
        <p:spPr>
          <a:xfrm>
            <a:off x="2304288" y="3200400"/>
            <a:ext cx="640080" cy="822960"/>
          </a:xfrm>
          <a:prstGeom prst="roundRect">
            <a:avLst>
              <a:gd name="adj" fmla="val 14286"/>
            </a:avLst>
          </a:prstGeom>
          <a:solidFill>
            <a:srgbClr val="8A6594"/>
          </a:solidFill>
          <a:ln/>
        </p:spPr>
      </p:sp>
      <p:sp>
        <p:nvSpPr>
          <p:cNvPr id="8" name="Text 6"/>
          <p:cNvSpPr/>
          <p:nvPr/>
        </p:nvSpPr>
        <p:spPr>
          <a:xfrm>
            <a:off x="1965960" y="406908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Sally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9052560" y="2651760"/>
            <a:ext cx="502920" cy="502920"/>
          </a:xfrm>
          <a:prstGeom prst="ellipse">
            <a:avLst/>
          </a:prstGeom>
          <a:solidFill>
            <a:srgbClr val="ECB841"/>
          </a:solidFill>
          <a:ln/>
        </p:spPr>
      </p:sp>
      <p:sp>
        <p:nvSpPr>
          <p:cNvPr id="10" name="Shape 8"/>
          <p:cNvSpPr/>
          <p:nvPr/>
        </p:nvSpPr>
        <p:spPr>
          <a:xfrm>
            <a:off x="8979408" y="3200400"/>
            <a:ext cx="640080" cy="822960"/>
          </a:xfrm>
          <a:prstGeom prst="roundRect">
            <a:avLst>
              <a:gd name="adj" fmla="val 14286"/>
            </a:avLst>
          </a:prstGeom>
          <a:solidFill>
            <a:srgbClr val="ECB841"/>
          </a:solidFill>
          <a:ln/>
        </p:spPr>
      </p:sp>
      <p:sp>
        <p:nvSpPr>
          <p:cNvPr id="11" name="Text 9"/>
          <p:cNvSpPr/>
          <p:nvPr/>
        </p:nvSpPr>
        <p:spPr>
          <a:xfrm>
            <a:off x="8641080" y="406908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566160" y="4023360"/>
            <a:ext cx="1463040" cy="822960"/>
          </a:xfrm>
          <a:prstGeom prst="roundRect">
            <a:avLst>
              <a:gd name="adj" fmla="val 27778"/>
            </a:avLst>
          </a:prstGeom>
          <a:solidFill>
            <a:srgbClr val="DDC9E3"/>
          </a:solidFill>
          <a:ln w="12700">
            <a:solidFill>
              <a:srgbClr val="8A659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66160" y="489204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cesta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160520" y="4160520"/>
            <a:ext cx="320040" cy="320040"/>
          </a:xfrm>
          <a:prstGeom prst="ellipse">
            <a:avLst/>
          </a:prstGeom>
          <a:solidFill>
            <a:srgbClr val="E96030"/>
          </a:solidFill>
          <a:ln/>
        </p:spPr>
      </p:sp>
      <p:sp>
        <p:nvSpPr>
          <p:cNvPr id="15" name="Shape 13"/>
          <p:cNvSpPr/>
          <p:nvPr/>
        </p:nvSpPr>
        <p:spPr>
          <a:xfrm>
            <a:off x="7223760" y="3977640"/>
            <a:ext cx="13716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8A659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223760" y="48920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caixa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5577840"/>
            <a:ext cx="10881360" cy="685800"/>
          </a:xfrm>
          <a:prstGeom prst="roundRect">
            <a:avLst>
              <a:gd name="adj" fmla="val 9333"/>
            </a:avLst>
          </a:prstGeom>
          <a:solidFill>
            <a:srgbClr val="EDE2F0"/>
          </a:solidFill>
          <a:ln w="12700">
            <a:solidFill>
              <a:srgbClr val="EDE2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5733288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criança da plateia assiste a tudo, do começo ao fim. Guarde isso.</a:t>
            </a:r>
            <a:endParaRPr lang="en-US" sz="135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897112" y="256032"/>
            <a:ext cx="278892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SATÉLITE C · FALSA CRENÇA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3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Quadro 2: com Sally fora, Anne muda a bolinha para a caixa.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Text 4"/>
          <p:cNvSpPr/>
          <p:nvPr/>
        </p:nvSpPr>
        <p:spPr>
          <a:xfrm>
            <a:off x="1554480" y="301752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Sally saiu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cena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9052560" y="2651760"/>
            <a:ext cx="502920" cy="502920"/>
          </a:xfrm>
          <a:prstGeom prst="ellipse">
            <a:avLst/>
          </a:prstGeom>
          <a:solidFill>
            <a:srgbClr val="ECB841"/>
          </a:solidFill>
          <a:ln/>
        </p:spPr>
      </p:sp>
      <p:sp>
        <p:nvSpPr>
          <p:cNvPr id="8" name="Shape 6"/>
          <p:cNvSpPr/>
          <p:nvPr/>
        </p:nvSpPr>
        <p:spPr>
          <a:xfrm>
            <a:off x="8979408" y="3200400"/>
            <a:ext cx="640080" cy="822960"/>
          </a:xfrm>
          <a:prstGeom prst="roundRect">
            <a:avLst>
              <a:gd name="adj" fmla="val 14286"/>
            </a:avLst>
          </a:prstGeom>
          <a:solidFill>
            <a:srgbClr val="ECB841"/>
          </a:solidFill>
          <a:ln/>
        </p:spPr>
      </p:sp>
      <p:sp>
        <p:nvSpPr>
          <p:cNvPr id="9" name="Text 7"/>
          <p:cNvSpPr/>
          <p:nvPr/>
        </p:nvSpPr>
        <p:spPr>
          <a:xfrm>
            <a:off x="8641080" y="406908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566160" y="4023360"/>
            <a:ext cx="1463040" cy="822960"/>
          </a:xfrm>
          <a:prstGeom prst="roundRect">
            <a:avLst>
              <a:gd name="adj" fmla="val 27778"/>
            </a:avLst>
          </a:prstGeom>
          <a:solidFill>
            <a:srgbClr val="DDC9E3"/>
          </a:solidFill>
          <a:ln w="12700">
            <a:solidFill>
              <a:srgbClr val="8A659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83280" y="48920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cesta (vazia)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223760" y="3977640"/>
            <a:ext cx="1371600" cy="868680"/>
          </a:xfrm>
          <a:prstGeom prst="rect">
            <a:avLst/>
          </a:prstGeom>
          <a:solidFill>
            <a:srgbClr val="FFFFFF"/>
          </a:solidFill>
          <a:ln w="25400">
            <a:solidFill>
              <a:srgbClr val="E9603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6680" y="4206240"/>
            <a:ext cx="320040" cy="320040"/>
          </a:xfrm>
          <a:prstGeom prst="ellipse">
            <a:avLst/>
          </a:prstGeom>
          <a:solidFill>
            <a:srgbClr val="E96030"/>
          </a:solidFill>
          <a:ln/>
        </p:spPr>
      </p:sp>
      <p:sp>
        <p:nvSpPr>
          <p:cNvPr id="14" name="Text 12"/>
          <p:cNvSpPr/>
          <p:nvPr/>
        </p:nvSpPr>
        <p:spPr>
          <a:xfrm>
            <a:off x="7223760" y="48920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caixa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120640" y="4343400"/>
            <a:ext cx="2011680" cy="0"/>
          </a:xfrm>
          <a:prstGeom prst="line">
            <a:avLst/>
          </a:prstGeom>
          <a:noFill/>
          <a:ln w="38100">
            <a:solidFill>
              <a:srgbClr val="E96030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640080" y="5577840"/>
            <a:ext cx="10881360" cy="685800"/>
          </a:xfrm>
          <a:prstGeom prst="roundRect">
            <a:avLst>
              <a:gd name="adj" fmla="val 9333"/>
            </a:avLst>
          </a:prstGeom>
          <a:solidFill>
            <a:srgbClr val="EDE2F0"/>
          </a:solidFill>
          <a:ln w="12700">
            <a:solidFill>
              <a:srgbClr val="EDE2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5733288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Assimetria que carrega o teste: a criança da plateia VIU a mudança; Sally, não.</a:t>
            </a:r>
            <a:endParaRPr lang="en-US" sz="135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897112" y="256032"/>
            <a:ext cx="278892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SATÉLITE C · FALSA CRENÇA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3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Quadro 3, a pergunta: onde Sally vai PROCURAR a bolinha?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1463040" y="2468880"/>
            <a:ext cx="9235440" cy="2011680"/>
          </a:xfrm>
          <a:prstGeom prst="roundRect">
            <a:avLst>
              <a:gd name="adj" fmla="val 3182"/>
            </a:avLst>
          </a:prstGeom>
          <a:solidFill>
            <a:srgbClr val="DDC9E3"/>
          </a:solidFill>
          <a:ln w="12700">
            <a:solidFill>
              <a:srgbClr val="DDC9E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828800" y="2971800"/>
            <a:ext cx="8503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“Onde Sally vai </a:t>
            </a:r>
            <a:pPr indent="0" marL="0">
              <a:buNone/>
            </a:pPr>
            <a:r>
              <a:rPr lang="en-US" sz="2800" b="1" dirty="0">
                <a:solidFill>
                  <a:srgbClr val="B84A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PROCURAR</a:t>
            </a:r>
            <a:pPr indent="0" marL="0">
              <a:buNone/>
            </a:pPr>
            <a:r>
              <a:rPr lang="en-US" sz="2800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 bolinha?”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828800" y="3794760"/>
            <a:ext cx="85039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feita à criança da plateia, não às bonecas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1463040" y="4846320"/>
            <a:ext cx="9235440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E9603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783080" y="5074920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verbo é o teste: “onde a bolinha ESTÁ?” pergunta sobre o mundo; “onde ela vai PROCURAR?” pergunta sobre a CABEÇA de Sally.</a:t>
            </a:r>
            <a:endParaRPr lang="en-US" sz="145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897112" y="256032"/>
            <a:ext cx="278892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SATÉLITE C · FALSA CRENÇA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proporção de acertos cruza a metade por volta dos 4 anos: transição gradual, não interruptor.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2377440"/>
            <a:ext cx="5257800" cy="2651760"/>
          </a:xfrm>
          <a:prstGeom prst="roundRect">
            <a:avLst>
              <a:gd name="adj" fmla="val 2414"/>
            </a:avLst>
          </a:prstGeom>
          <a:solidFill>
            <a:srgbClr val="EDE2F0"/>
          </a:solidFill>
          <a:ln w="12700">
            <a:solidFill>
              <a:srgbClr val="EDE2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56032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AOS 3, A MAIORIA ERRA: “na caixa”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914400" y="3063240"/>
            <a:ext cx="475488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é memória fraca nem desatenção: a criança responde com a única versão do mundo que consegue sustentar, a dela. A crença desatualizada de Sally ainda não cabe na conta.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263640" y="2377440"/>
            <a:ext cx="5257800" cy="2651760"/>
          </a:xfrm>
          <a:prstGeom prst="roundRect">
            <a:avLst>
              <a:gd name="adj" fmla="val 2414"/>
            </a:avLst>
          </a:prstGeom>
          <a:solidFill>
            <a:srgbClr val="FFFFFF"/>
          </a:solidFill>
          <a:ln w="19050">
            <a:solidFill>
              <a:srgbClr val="E9603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37960" y="256032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AOS 5, A MAIORIA ACERTA: “na cesta”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537960" y="3063240"/>
            <a:ext cx="475488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criança agora sustenta duas representações ao mesmo tempo: onde a bolinha está, e onde Sally ACREDITA que está. E prevê o comportamento pela crença, não pelo fato.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" y="5303520"/>
            <a:ext cx="10881360" cy="777240"/>
          </a:xfrm>
          <a:prstGeom prst="roundRect">
            <a:avLst>
              <a:gd name="adj" fmla="val 8235"/>
            </a:avLst>
          </a:prstGeom>
          <a:solidFill>
            <a:srgbClr val="DDC9E3"/>
          </a:solidFill>
          <a:ln w="12700">
            <a:solidFill>
              <a:srgbClr val="DDC9E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5468112"/>
            <a:ext cx="103327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Aos 4, o desempenho fica perto do meio a meio: uma criança de 4 que erra NÃO está atrasada por isso.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48640" y="6437376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meta-análise de Wellman, Cross &amp; Watson (2001): transição gradual, sensível à forma da tarefa, linguagem e cultura</a:t>
            </a:r>
            <a:endParaRPr lang="en-US" sz="11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897112" y="256032"/>
            <a:ext cx="278892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SATÉLITE C · FALSA CRENÇA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protocolo controla a memória com perguntas-controle; o que falha aos 3 é outra coisa.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2286000"/>
            <a:ext cx="5257800" cy="3017520"/>
          </a:xfrm>
          <a:prstGeom prst="roundRect">
            <a:avLst>
              <a:gd name="adj" fmla="val 2121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468880"/>
            <a:ext cx="475488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PERGUNTAS-CONTROLE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2926080"/>
            <a:ext cx="475488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“Onde a bolinha está de verdade?” e “onde estava no começo?”: a criança de 3 ACERTA as duas. Memória e realidade estão intactas; o que falta é a crença do outro.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263640" y="2286000"/>
            <a:ext cx="5257800" cy="3017520"/>
          </a:xfrm>
          <a:prstGeom prst="roundRect">
            <a:avLst>
              <a:gd name="adj" fmla="val 2121"/>
            </a:avLst>
          </a:prstGeom>
          <a:solidFill>
            <a:srgbClr val="EDE2F0"/>
          </a:solidFill>
          <a:ln w="12700">
            <a:solidFill>
              <a:srgbClr val="EDE2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37960" y="2468880"/>
            <a:ext cx="475488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DUAS LEITURAS HONESTAS DO ERRO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537960" y="2926080"/>
            <a:ext cx="475488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Representacional: ainda não sustenta a crença falsa do outro.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Executiva/pragmática: até representa, mas não inibe a resposta pela realidade.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Falhar no teste NÃO é sinônimo de não ter teoria da mente.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" y="5532120"/>
            <a:ext cx="10881360" cy="77724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9050">
            <a:solidFill>
              <a:srgbClr val="E9603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5687568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Ponte clínica: o paradigma nasceu na pesquisa do autismo, mas NÃO é teste diagnóstico: passar não exclui TEA, falhar não o diagnostica.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548640" y="6437376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versão do livro-fonte: caixa de doces (conteúdo inesperado; Perner et al. 1987; descrita no Bee &amp; Boyd via Flavell), paradigma irmão do Sally-Anne</a:t>
            </a:r>
            <a:endParaRPr lang="en-US" sz="11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5636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91440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ECB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SATÉLITE D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F6EF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Apêndice anti-pergunta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85216" y="2971800"/>
            <a:ext cx="1554480" cy="45720"/>
          </a:xfrm>
          <a:prstGeom prst="rect">
            <a:avLst/>
          </a:prstGeom>
          <a:solidFill>
            <a:srgbClr val="ECB84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324612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50" b="1" dirty="0">
                <a:solidFill>
                  <a:srgbClr val="ECB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isso se liga à tese do volante: </a:t>
            </a:r>
            <a:pPr indent="0" marL="0">
              <a:lnSpc>
                <a:spcPct val="120000"/>
              </a:lnSpc>
              <a:buNone/>
            </a:pPr>
            <a:r>
              <a:rPr lang="en-US" sz="1550" dirty="0">
                <a:solidFill>
                  <a:srgbClr val="F6E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respostas prontas para as perguntas mais prováveis da turma. Ficam depois das referências; nunca se apresentam, salta-se até elas quando a pergunta vier.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566928" y="4343400"/>
            <a:ext cx="1097280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i="1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 de cada slide: a pergunta como título, a resposta em três tempos (o que é verdade, o que é exagero, o que responder na prática).</a:t>
            </a:r>
            <a:endParaRPr lang="en-US" sz="135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897112" y="256032"/>
            <a:ext cx="278892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SATÉLITE D · APÊNDICE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10896"/>
            <a:ext cx="2468880" cy="365760"/>
          </a:xfrm>
          <a:prstGeom prst="roundRect">
            <a:avLst>
              <a:gd name="adj" fmla="val 20000"/>
            </a:avLst>
          </a:prstGeom>
          <a:solidFill>
            <a:srgbClr val="E9603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PERGUNTAREM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“Piaget foi superado?”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40080" y="2331720"/>
            <a:ext cx="3383280" cy="3246120"/>
          </a:xfrm>
          <a:prstGeom prst="roundRect">
            <a:avLst>
              <a:gd name="adj" fmla="val 1972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51460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VERDADE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822960" y="2971800"/>
            <a:ext cx="30175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SEQUÊNCIA replica: conservação, erros clássicos e a ordem das aquisições aparecem em qualquer cultura testada.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89120" y="2331720"/>
            <a:ext cx="3383280" cy="3246120"/>
          </a:xfrm>
          <a:prstGeom prst="roundRect">
            <a:avLst>
              <a:gd name="adj" fmla="val 1972"/>
            </a:avLst>
          </a:prstGeom>
          <a:solidFill>
            <a:srgbClr val="EDE2F0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0" y="251460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EXAGERO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0" y="2971800"/>
            <a:ext cx="30175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calendário e os estágios como blocos: competências surgem antes com tarefas simplificadas, e a mesma lógica chega em tempos diferentes por conteúdo (décalage: conserva número anos antes de conservar volume).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138160" y="2331720"/>
            <a:ext cx="3383280" cy="3246120"/>
          </a:xfrm>
          <a:prstGeom prst="roundRect">
            <a:avLst>
              <a:gd name="adj" fmla="val 1972"/>
            </a:avLst>
          </a:prstGeom>
          <a:solidFill>
            <a:srgbClr val="DDC9E3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21040" y="251460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PRÁTICA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8321040" y="2971800"/>
            <a:ext cx="30175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Piaget como mapa, não como mecanismo. O motor é experiência + processamento (Siegler: a criança adquire regras cada vez melhores conforme pratica, sem saltos de estágio).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48640" y="6437376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 &amp; Boyd cap. 9, p. 240-242</a:t>
            </a:r>
            <a:endParaRPr lang="en-US" sz="11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897112" y="256032"/>
            <a:ext cx="278892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SATÉLITE D · APÊNDICE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10896"/>
            <a:ext cx="2468880" cy="365760"/>
          </a:xfrm>
          <a:prstGeom prst="roundRect">
            <a:avLst>
              <a:gd name="adj" fmla="val 20000"/>
            </a:avLst>
          </a:prstGeom>
          <a:solidFill>
            <a:srgbClr val="E9603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PERGUNTAREM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“Qual a prevalência real de TDAH?”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40080" y="2331720"/>
            <a:ext cx="3383280" cy="3246120"/>
          </a:xfrm>
          <a:prstGeom prst="roundRect">
            <a:avLst>
              <a:gd name="adj" fmla="val 1972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51460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VERDADE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822960" y="2971800"/>
            <a:ext cx="30175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critérios padronizados e método fixo, a prevalência fica perto de 5% em idade escolar e é estável entre décadas e países (meta-análise de Polanczyk et al.).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89120" y="2331720"/>
            <a:ext cx="3383280" cy="3246120"/>
          </a:xfrm>
          <a:prstGeom prst="roundRect">
            <a:avLst>
              <a:gd name="adj" fmla="val 1972"/>
            </a:avLst>
          </a:prstGeom>
          <a:solidFill>
            <a:srgbClr val="EDE2F0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0" y="251460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EXAGERO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0" y="2971800"/>
            <a:ext cx="30175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“até 10%” citado pelo livro é prevalência de DIAGNÓSTICO relatado por pais nos EUA: mede prática diagnóstica, não o transtorno. A diferença entre os dois números É a resposta.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138160" y="2331720"/>
            <a:ext cx="3383280" cy="3246120"/>
          </a:xfrm>
          <a:prstGeom prst="roundRect">
            <a:avLst>
              <a:gd name="adj" fmla="val 1972"/>
            </a:avLst>
          </a:prstGeom>
          <a:solidFill>
            <a:srgbClr val="DDC9E3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21040" y="251460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PRÁTICA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8321040" y="2971800"/>
            <a:ext cx="30175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“Diagnostica-se mais do que existe em alguns lugares, e menos em outros. O transtorno em si: ~5% das crianças em idade escolar, qualquer país.”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48640" y="6437376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 &amp; Boyd cap. 9, p. 255 (Gahagan 2011) + Polanczyk et al.</a:t>
            </a:r>
            <a:endParaRPr lang="en-US" sz="110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897112" y="256032"/>
            <a:ext cx="278892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SATÉLITE D · APÊNDICE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10896"/>
            <a:ext cx="2468880" cy="365760"/>
          </a:xfrm>
          <a:prstGeom prst="roundRect">
            <a:avLst>
              <a:gd name="adj" fmla="val 20000"/>
            </a:avLst>
          </a:prstGeom>
          <a:solidFill>
            <a:srgbClr val="E9603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PERGUNTAREM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“Palmada funciona?”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40080" y="2331720"/>
            <a:ext cx="3383280" cy="3246120"/>
          </a:xfrm>
          <a:prstGeom prst="roundRect">
            <a:avLst>
              <a:gd name="adj" fmla="val 1972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51460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VERDADE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822960" y="2971800"/>
            <a:ext cx="30175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associação com desfechos piores (mais agressão, pior relação, clima de rejeição) é consistente na meta-análise específica de palmada (Gershoff &amp; Grogan-Kaylor, 2016), sem nenhum benefício demonstrado.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89120" y="2331720"/>
            <a:ext cx="3383280" cy="3246120"/>
          </a:xfrm>
          <a:prstGeom prst="roundRect">
            <a:avLst>
              <a:gd name="adj" fmla="val 1972"/>
            </a:avLst>
          </a:prstGeom>
          <a:solidFill>
            <a:srgbClr val="EDE2F0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0" y="251460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EXAGERO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0" y="2971800"/>
            <a:ext cx="30175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“Palmada causa transtorno”: a evidência é majoritariamente correlacional, com efeitos pequenos a moderados. A recomendação de não usar vem da convergência + ausência de benefício, não de causa provada.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138160" y="2331720"/>
            <a:ext cx="3383280" cy="3246120"/>
          </a:xfrm>
          <a:prstGeom prst="roundRect">
            <a:avLst>
              <a:gd name="adj" fmla="val 1972"/>
            </a:avLst>
          </a:prstGeom>
          <a:solidFill>
            <a:srgbClr val="DDC9E3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21040" y="251460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PRÁTICA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8321040" y="2971800"/>
            <a:ext cx="30175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ensinar no lugar: consequência calma e consistente (o elo C do satélite A). E no Brasil, castigo físico é vedado por lei (Lei Menino Bernardo, 13.010/2014).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48640" y="6437376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 &amp; Boyd cap. 8, p. 217</a:t>
            </a:r>
            <a:endParaRPr lang="en-US" sz="11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897112" y="256032"/>
            <a:ext cx="278892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SATÉLITE D · APÊNDICE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10896"/>
            <a:ext cx="2468880" cy="365760"/>
          </a:xfrm>
          <a:prstGeom prst="roundRect">
            <a:avLst>
              <a:gd name="adj" fmla="val 20000"/>
            </a:avLst>
          </a:prstGeom>
          <a:solidFill>
            <a:srgbClr val="E9603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PERGUNTAREM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“Telas causam TDAH?”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40080" y="2331720"/>
            <a:ext cx="3383280" cy="3246120"/>
          </a:xfrm>
          <a:prstGeom prst="roundRect">
            <a:avLst>
              <a:gd name="adj" fmla="val 1972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51460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VERDADE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822960" y="2971800"/>
            <a:ext cx="30175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associação entre uso de telas e sintomas de desatenção é FRACA e provavelmente bidirecional: crianças com TDAH também buscam mais telas.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89120" y="2331720"/>
            <a:ext cx="3383280" cy="3246120"/>
          </a:xfrm>
          <a:prstGeom prst="roundRect">
            <a:avLst>
              <a:gd name="adj" fmla="val 1972"/>
            </a:avLst>
          </a:prstGeom>
          <a:solidFill>
            <a:srgbClr val="EDE2F0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0" y="251460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EXAGERO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0" y="2971800"/>
            <a:ext cx="30175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Qualquer resposta causal firme, para qualquer lado. A fonte desta aula não cobre o tema, e a literatura não fecha a conta.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138160" y="2331720"/>
            <a:ext cx="3383280" cy="3246120"/>
          </a:xfrm>
          <a:prstGeom prst="roundRect">
            <a:avLst>
              <a:gd name="adj" fmla="val 1972"/>
            </a:avLst>
          </a:prstGeom>
          <a:solidFill>
            <a:srgbClr val="DDC9E3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21040" y="251460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PRÁTICA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8321040" y="2971800"/>
            <a:ext cx="30175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 funcional que substitui o número: o que a tela está substituindo? (1h de tablet no jantar = 1h a menos de conversa). Diretrizes por idade existem (SBP); use-as como teto, não como álibi.</a:t>
            </a:r>
            <a:endParaRPr lang="en-US" sz="125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897112" y="256032"/>
            <a:ext cx="278892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SATÉLITE D · APÊNDICE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10896"/>
            <a:ext cx="2468880" cy="365760"/>
          </a:xfrm>
          <a:prstGeom prst="roundRect">
            <a:avLst>
              <a:gd name="adj" fmla="val 20000"/>
            </a:avLst>
          </a:prstGeom>
          <a:solidFill>
            <a:srgbClr val="E9603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PERGUNTAREM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“Bilinguismo atrasa a fala?”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40080" y="2331720"/>
            <a:ext cx="3383280" cy="3246120"/>
          </a:xfrm>
          <a:prstGeom prst="roundRect">
            <a:avLst>
              <a:gd name="adj" fmla="val 1972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51460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VERDADE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822960" y="2971800"/>
            <a:ext cx="30175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vocabulário POR língua pode ser menor, e misturar códigos na mesma frase é normal. O vocabulário conceitual SOMADO é comparável ao do monolíngue.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89120" y="2331720"/>
            <a:ext cx="3383280" cy="3246120"/>
          </a:xfrm>
          <a:prstGeom prst="roundRect">
            <a:avLst>
              <a:gd name="adj" fmla="val 1972"/>
            </a:avLst>
          </a:prstGeom>
          <a:solidFill>
            <a:srgbClr val="EDE2F0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0" y="251460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EXAGERO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0" y="2971800"/>
            <a:ext cx="30175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“Bilinguismo não muda nada”: nega o que o pai observa (menos palavras em cada língua) e queima credibilidade. Valide a observação antes de corrigir a conclusão.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138160" y="2331720"/>
            <a:ext cx="3383280" cy="3246120"/>
          </a:xfrm>
          <a:prstGeom prst="roundRect">
            <a:avLst>
              <a:gd name="adj" fmla="val 1972"/>
            </a:avLst>
          </a:prstGeom>
          <a:solidFill>
            <a:srgbClr val="DDC9E3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21040" y="251460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PRÁTICA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8321040" y="2971800"/>
            <a:ext cx="30175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Alarmes que não dependem de língua: nenhuma palavra aos 18 meses, nenhuma combinação de 2 palavras aos 2 anos, perda de habilidades em qualquer idade. Isso avalia igual, em qualquer casa.</a:t>
            </a:r>
            <a:endParaRPr lang="en-US" sz="125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897112" y="256032"/>
            <a:ext cx="278892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SATÉLITE D · APÊNDICE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10896"/>
            <a:ext cx="2468880" cy="365760"/>
          </a:xfrm>
          <a:prstGeom prst="roundRect">
            <a:avLst>
              <a:gd name="adj" fmla="val 20000"/>
            </a:avLst>
          </a:prstGeom>
          <a:solidFill>
            <a:srgbClr val="E9603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PERGUNTAREM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“Birra até que idade é normal?”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40080" y="2331720"/>
            <a:ext cx="3383280" cy="3246120"/>
          </a:xfrm>
          <a:prstGeom prst="roundRect">
            <a:avLst>
              <a:gd name="adj" fmla="val 1972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51460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VERDADE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822960" y="2971800"/>
            <a:ext cx="30175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Pico por volta de 18 meses a 3 anos (birras diárias e curtas são esperadas), declínio de frequência e intensidade até os 4-5. Aos 5-6: raras, curtas e proporcionais, não zero.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89120" y="2331720"/>
            <a:ext cx="3383280" cy="3246120"/>
          </a:xfrm>
          <a:prstGeom prst="roundRect">
            <a:avLst>
              <a:gd name="adj" fmla="val 1972"/>
            </a:avLst>
          </a:prstGeom>
          <a:solidFill>
            <a:srgbClr val="EDE2F0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0" y="251460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EXAGERO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0" y="2971800"/>
            <a:ext cx="30175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Qualquer corte por idade absoluta (“birra depois dos 5 = doença”). A trajetória vale mais que o número.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138160" y="2331720"/>
            <a:ext cx="3383280" cy="3246120"/>
          </a:xfrm>
          <a:prstGeom prst="roundRect">
            <a:avLst>
              <a:gd name="adj" fmla="val 1972"/>
            </a:avLst>
          </a:prstGeom>
          <a:solidFill>
            <a:srgbClr val="DDC9E3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21040" y="251460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PRÁTICA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8321040" y="2971800"/>
            <a:ext cx="30175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flags de QUALIDADE, além da trajetória: autoagressão, agressão dirigida ao cuidador, episódios muito longos (20-25+ min), não se acalma nem com ajuda, birras iguais com adultos de fora da família.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48640" y="6437376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 &amp; Boyd cap. 8, p. 226 + literatura de birra clínica (Wakschlag, Belden)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86</Slides>
  <Notes>86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86</vt:i4>
      </vt:variant>
    </vt:vector>
  </HeadingPairs>
  <TitlesOfParts>
    <vt:vector size="8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2026-07-05T21:24:59Z</dcterms:created>
  <dcterms:modified xsi:type="dcterms:W3CDTF">2026-07-05T21:24:59Z</dcterms:modified>
</cp:coreProperties>
</file>