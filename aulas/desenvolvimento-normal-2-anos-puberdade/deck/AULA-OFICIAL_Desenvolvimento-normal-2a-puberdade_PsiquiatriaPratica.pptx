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notesMasterIdLst>
    <p:notesMasterId r:id="rId8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notesMaster" Target="notesMasters/notesMaster1.xml"/><Relationship Id="rId89" Type="http://schemas.openxmlformats.org/officeDocument/2006/relationships/presProps" Target="presProps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Apresentar-se em 30s e ir direto para a tese do S2. Não ler o subtítulo: deixar que ele trabalhe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metáfora do volante e o teste que a prova: a MESMA birra no chão do mercado é fisiologia aos 2 e sintoma aos 9. O comportamento não mudou; o dono do volante mudou. Prometer que essa régua sustenta a aula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explicar os cartões ainda: 'no fim da aula, este mapa vai parecer óbvio'. Este slide volta idêntico no fim (S58): é uma promessa que a aula prova.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'Eu quero apresentar uma pessoa. Alice tem 2 anos hoje e vai fazer uns 11 até o fim da aula...'. Anunciar a fronteira puberal: a aula termina quando o corpo dela decidir, não o calendário.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Régua escondida: a mãe responde POR Alice (não anunciar). Fechar: a sopa não existe, Alice sabe que não existe, e mesmo assim a sopa funciona. É a coisa mais importante que ela fez este 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Representar é a PRIMEIRA peça da autorregulação: só se regula o que se representa. A escada do brincar é a régua clínica gratuita de qualquer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Superregularização ('fazi', 'sabo') é sinal de saúde: a criança extraiu a regra e aplicou demais. Erro que denuncia inteligência do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Instrução de olhar: reparar na mão indo à própria testa (e não ao espelho). Honestidade: o rouge test vem do capítulo de lactância do mesmo livro; trago porque a aula precisa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 do ato: sem um eu representado, não há o que autorregular.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birra é o custo operacional da regulação externa, não um sintoma. Regulação aos 2 prediz agressão aos 4 (Rubin 2003, p. 206).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Anunciar a técnica: vou exibir, congelar, perguntar e reexibir. É treino de análise funcional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'o que ela obteve?' prepara a gênese do TOD no Ato 2. Plantar sem colher ainda.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do que apareceu no clipe. Rápido: 60-90 segundos de fala.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Vigilância, não diagnóstico. Janela do segundo ano, nunca idade rígida. Encaminhar sem esperar 'amadurecer': a janela de intervenção vale mais que a certeza. Ponte com o livro: linguagem e teoria da mente andam juntas (p. 185).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de 3 segundos antes de avançar. O Ato 2 responde. Painel: quase tudo com os pais; a linguagem acabou de pegar na ponta do volante.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Régua escondida: a mãe agora CONSULTA (ainda dirige, mas pergunta o caminho). Resposta: do ponto de vista do neurodesenvolvimento, é quase motivo de brinde: para mentir, Alice calculou o que a mãe sabe e o que pode ser levada a acreditar.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Reenquadrar: a mentira dos 4 anos é marco de desenvolvimento, não de caráter. Escada fina no doc de apoio (18m intenções → 3a desejo → 4-5 crença falsa → 5-7 reciprocidade → 6a inferência).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Colher palpites em voz alta antes do play; quem apostou assiste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Preditores: faz de conta compartilhado, memória de trabalho e LINGUAGEM (limiar linguístico para passar em crença falsa). Velocidade de aquisição prediz habilidade social futura. Nuance no apêndice C: a transição é gradual (Wellman), sem idade-muro.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mais importante do ato para a TESE: é a mecânica literal da transferência. Fala privada aumenta quando a tarefa dificulta e ajuda a resolver problemas.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 freio executivo (Ato 3), existe um freio afetivo. Empatia de Hoffman se perguntarem: global → egocêntrica → pelos sentimentos → pela condição de vida.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curta. Não repetir o S25: apontar 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Gênese funcional: oposição é comportamento operante. Quando resistir desliga a ordem (reforço negativo) ou captura o adulto (reforço positivo), a oposição é selecionada. Pergunta clínica: 'o que a oposição PRODUZ nesta casa?'. Contraste: o desafio aberto normalmente DECLINA dos 2 aos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Sinais honestos: intensidade INVARIANTE a contexto; birras que não declinam com a idade; regulação sempre terceirizada; expulsões de escolinha. Dado: regulação aos 2 prediz agressão aos 4 (Rubin 2003, p. 206). Guardar o porquê da entrada escolar para o Ato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Painel: a linguagem já dirige em voz alta; o freio interno em instalação. O Ato 3 é 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Régua escondida: a mãe virou GARAGEM (o dia inteiro fora do volante, e ainda a peça mais importante do carro: onde o freio esfria). Resposta: a escola tem plateia e regra; o carro tem a mãe. O freio novo funciona a tarde inteira, mas esquenta. É o preço de um freio recém-instalado.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Honestidade: o livro descreve a convergência sem usar o nome 'shift 5-7'. Automaticidade: recuperar sem gastar memória de curto prazo; é o que a alfabetização e a tabuada exploram.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plateia costuma subestimar a CONVICÇÃO do erro pré-operatório; deixar virar surpresa.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'Piaget não foi superado?': os fenômenos replicam; a explicação mudou (Siegler: regras adquiridas por experiência + processamento). Mapa sim, mecanismo não.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primeiro estresse-teste padronizado do freio interno. Preparação direta do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[APOSTA] ANTES de mostrar: 'por que a fila do TDAH no ambulatório começa aos 6, e não aos 4?'. Colher palpites, revelar. Frase para levar: a demanda subiu antes de o freio ficar pronto. O freio já era imaturo aos 4; aos 4 ninguém precisava dele. Duas ressalvas de fala (detalhadas no apêndice B): o vão explica QUANDO chega à consulta, não O QUE o TDAH é; e o mesmo vão produz falsos positivos (efeito de idade relativa).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a plateia romantizar antes da ressalva do S42.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continua valendo: a melhor IMAGEM do freio imaturo em ação (as estratégias de distração SÃO autorregulação nascente). O que morreu: o oráculo. Ensinar o residente a citar sem folclore.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do arco da fala privada. Curto.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Painel: freio interno instalado e quente; os pais já dirigem bem menos. O Ato 4 responde.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Régua escondida: a mãe virou PLATEIA. Notar o que chegou: traço psicológico, ranking por domínio, contrato de confiança rompido com cláusula rebaixada. Nenhum adulto ensinou isso. E notem quem NÃO precisou falar nada na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ruim no futebol só derruba quem valoriza futebol. Estabilidade: r≈0,60 em meses, ≈0,40 em anos. Comparação social não é vaidade: é o instrumento de calibração do eu nessa 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Pré-requisito veio do Ato 2: reciprocidade 'você sabe que eu sei' (5-7a). Rose &amp; Asher: quem põe a relação acima do próprio status tem mais amigos.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Amarrar à tese: a regra deixou de morar no adulto (heteronomia = regulação externa) e passou a morar no ACORDO entre pares. Mais um pedaço do volante mudando de mão.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sociométrico: comportamento social pesa mais que aparência (Rodkin 2013).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Jogo de regras: o mesmo brincar que no Ato 1 anunciava o operatório concreto agora é instituição social autônoma.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Ensinar a perguntar sobre RECREIO e AMIZADES como quem ausculta o coração: é o exame físico do eu comparado. Internalização com cara escolar: queda de rendimento, dor de barriga de domingo, sumiço do recreio, 'ninguém gosta de mim' persistente.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só se anuncia o tremor. Não entrar em estadiamento.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5 narrada: a porta fecha, Alice conta que o corpo começou a mudar e ainda não contou a ninguém da turma. Passagem de bastão nominal ao professor de adolescência.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MESMO mapa do início: o slide que abriu como promessa fecha como prova. REVELAÇÃO da régua escondida: 'repararam no que a mãe da Alice fez ao longo da aula? Respondeu por ela, depois perguntou, depois virou garagem, depois plateia, e hoje ficou na sala de espera. Vocês assistiram à transferência do volante em cinco consultas.'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as 4 linhas em 90 segundos. É o handout mental que eles levam.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Fim. Agradecer e apontar o documento de apoio. Perguntas da plateia: saltar para o apêndice D (respostas prontas) quando houver slide correspondente.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satélite revisado por dois crivos: residente iniciante (clareza, jargão, exemplos) e residente avançado (precisão, ressalvas, quantificadores). As ressalvas de fala estão nas notas de cada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Crivo incorporado: definir A-B-C antes de usar (R1); deixar claro que um episódio gera hipótese, não análise funcional completa (R3).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Fala: 'isto é um esquema de leitura, não um diagnóstico do episódio'. Análise descritiva de verdade exige padrão em várias ocorrências.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 do crivo R3: fome/sono não são antecedentes discretos, são operações estabelecedoras (setting events); misturar os níveis ensina a categoria errada. R1: exemplos concretos em cada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 central (R3): negociar DURANTE a escalada de uma birra de função 'obter' é exatamente a consequência reforçadora. O que funciona antes é prevenção antecedente (aviso de transição, escolhas limitadas), não negociação intraepisódio. 'Ponto de não-retorno' é metáfora clínica, não construto validado.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 a inconsistência apontada pelo R3 entre gatilhos de terreno (fome/sono) e o binômio obter/evitar: transbordamento é a terceira coluna. R1: 'função = o que o ambiente selecionou' desarma a leitura de manipulação consciente.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faltava (os dois crivos): sem a linha da mãe, o residente sai culpando a mãe; com ela, entende a armadilha de reforçamento mútuo (Patterson). Fala: um episódio filmado gera hipótese, não estabelece função.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Correções dos crivos: TOD por extenso na primeira aparição; 'estratégia' trocado por 'comportamento aprendido'; explicitar fator de risco vs causa suficiente. Nunca dizer a um pai 'vocês produziram o TOD'.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Crivo incorporado: definir funções executivas e assumir o caráter esquemático do gráfico (R1); o modelo explica o momento do encaminhamento, não o diagnóstico (R3).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R3: não platôr na puberdade (segue até a 3ª década); R1: ancorar a curva em comportamentos observáveis.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 central do R3: degrau único aos 6 ensinaria a não procurar TDAH antes nem depois. A escada preserva o clímax dos 6 sem apagar os outros degraus.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curvas de freio (típica e mais baixa) respondem 'a escola causa TDAH?': não; a curva dessa criança já era mais baixa antes, mas ninguém precisava dela aos 4. Toda criança de 6 tem ALGUM vão: o clínico é maior, persistente e multicontexto.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 pediu o elefante: onde entra a medicação. Resposta no gráfico: tratamento desloca o freio; acomodação desloca a demanda. R3: evidência de acomodações isoladas é fraca (Harrison 2013); dizer 'modesta' 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Crivo R1: sem este setup, o residente passa 3 slides achando que a história é sobre Sally. Definir falsa crença antes dos quadros.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Encenar com voz de contador de história: o storyboard é literal de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correr aqui: a assimetria de informação é o coração do experimento.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 confessou: na primeira leitura não notaria o verbo. Destacar oralmente também. Se reproduzir no consultório, a pergunta errada ('onde está?') anula o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R3: sem idades-muro. R1: dar o mecanismo do erro dos 3 anos (senão vira 'burrice ou memória').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R3: sem as perguntas-controle, 'não mede memória' é dogma; com elas, é método. Ter na manga (para pergunta de plateia): versões implícitas com bebês estão no centro de fracassos de replicação recentes.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R1: décalage glossado no próprio slide; Siegler em frase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que os números divergem (critério, informante, corte de prejuízo) é a aula de epidemiologia em 30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R1: ensina pelo exemplo que dor resolve conflito ('modela' é jargão de Bandura). Nunca desmontar a palmada sem deixar alternativa no lugar.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cobrarem número: SBP sugere evitar telas antes dos 2 anos e limitar por faixa etária depois. O princípio funcional importa mais que o teto.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Coerente com a voz do professor: validar antes de orientar.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R1: sem o pico, 'decrescente' não desenha nada; R3: o padrão que muda de QUALIDADE alarma tanto quanto o que não declina.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235440" y="822960"/>
            <a:ext cx="2103120" cy="2103120"/>
          </a:xfrm>
          <a:prstGeom prst="ellipse">
            <a:avLst/>
          </a:prstGeom>
          <a:solidFill>
            <a:srgbClr val="56365F"/>
          </a:solidFill>
          <a:ln w="127000">
            <a:solidFill>
              <a:srgbClr val="ECB8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04120" y="1691640"/>
            <a:ext cx="365760" cy="36576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1051560"/>
            <a:ext cx="0" cy="68580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464040" y="2240280"/>
            <a:ext cx="685800" cy="32004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0" y="2240280"/>
            <a:ext cx="685800" cy="32004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Desenvolvimento normal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DC9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2 anos ao início da puberdade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58368" y="370332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862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C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história da transferência do volante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5394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Diego Alves Rosa · psiquiatria da infância e adolescência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Psiquiatria Prática · curso de residentes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Aos 2 anos, quem regula a criança é o mundo em volta; no fim desta história, o volante está quase todo por dentro, e em parte com os amigos.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3520440"/>
            <a:ext cx="9601200" cy="0"/>
          </a:xfrm>
          <a:prstGeom prst="line">
            <a:avLst/>
          </a:prstGeom>
          <a:noFill/>
          <a:ln w="317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5104" y="339242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721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 símbolo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339242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721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40233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mente que descobre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mentes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12864" y="339242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721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40233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81744" y="339242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3721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→ puberdade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40233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56052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VOLANTE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589788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14216" y="6108192"/>
            <a:ext cx="219456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270248" y="589788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55664" y="6108192"/>
            <a:ext cx="219456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711696" y="589788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INTERNO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897112" y="6108192"/>
            <a:ext cx="219456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153144" y="589788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Quase todo diagnóstico da psiquiatria infantil é falha, atraso ou desvio nessa transferência.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4343400"/>
            <a:ext cx="9601200" cy="0"/>
          </a:xfrm>
          <a:prstGeom prst="line">
            <a:avLst/>
          </a:prstGeom>
          <a:noFill/>
          <a:ln w="317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5104" y="421538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544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8463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 símbolo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421538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4544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48463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mente que descobre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mentes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12864" y="421538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4544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48463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81744" y="421538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4544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→ puberdade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48463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" y="256032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2560320"/>
            <a:ext cx="2286000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05840" y="31272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do apontar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103120" y="3794760"/>
            <a:ext cx="0" cy="384048"/>
          </a:xfrm>
          <a:prstGeom prst="line">
            <a:avLst/>
          </a:prstGeom>
          <a:noFill/>
          <a:ln w="12700">
            <a:solidFill>
              <a:srgbClr val="8A6594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429000" y="256032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2560320"/>
            <a:ext cx="2286000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 · sinais TDAH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474720" y="31272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resistir funciona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0" y="3794760"/>
            <a:ext cx="0" cy="384048"/>
          </a:xfrm>
          <a:prstGeom prst="line">
            <a:avLst/>
          </a:prstGeom>
          <a:noFill/>
          <a:ln w="12700">
            <a:solidFill>
              <a:srgbClr val="8A6594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897880" y="256032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560320"/>
            <a:ext cx="2286000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visível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943600" y="31272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cruza o freio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040880" y="3794760"/>
            <a:ext cx="0" cy="384048"/>
          </a:xfrm>
          <a:prstGeom prst="line">
            <a:avLst/>
          </a:prstGeom>
          <a:noFill/>
          <a:ln w="12700">
            <a:solidFill>
              <a:srgbClr val="8A6594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8366760" y="256032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66760" y="2560320"/>
            <a:ext cx="2286000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· Depressão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412480" y="31272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devolve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509760" y="3794760"/>
            <a:ext cx="0" cy="384048"/>
          </a:xfrm>
          <a:prstGeom prst="line">
            <a:avLst/>
          </a:prstGeom>
          <a:noFill/>
          <a:ln w="12700">
            <a:solidFill>
              <a:srgbClr val="8A6594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 aula termina num evento, não numa idade: quando o corpo de Alice começar a mudar, outro professor assume.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651760"/>
            <a:ext cx="1051560" cy="1051560"/>
          </a:xfrm>
          <a:prstGeom prst="ellipse">
            <a:avLst/>
          </a:prstGeom>
          <a:solidFill>
            <a:srgbClr val="DDC9E3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862072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2651760"/>
            <a:ext cx="1051560" cy="1051560"/>
          </a:xfrm>
          <a:prstGeom prst="ellipse">
            <a:avLst/>
          </a:prstGeom>
          <a:solidFill>
            <a:srgbClr val="DDC9E3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862072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71800" y="37947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2651760"/>
            <a:ext cx="1051560" cy="1051560"/>
          </a:xfrm>
          <a:prstGeom prst="ellipse">
            <a:avLst/>
          </a:prstGeom>
          <a:solidFill>
            <a:srgbClr val="DDC9E3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862072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0" y="37947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60920" y="2651760"/>
            <a:ext cx="1051560" cy="1051560"/>
          </a:xfrm>
          <a:prstGeom prst="ellipse">
            <a:avLst/>
          </a:prstGeom>
          <a:solidFill>
            <a:srgbClr val="DDC9E3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2862072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086600" y="37947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anos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18320" y="2651760"/>
            <a:ext cx="1051560" cy="1051560"/>
          </a:xfrm>
          <a:prstGeom prst="ellipse">
            <a:avLst/>
          </a:prstGeom>
          <a:solidFill>
            <a:srgbClr val="E96030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2862072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44000" y="37947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11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4572000"/>
            <a:ext cx="103327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75488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pPr indent="0" marL="0"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atravessa a aula inteira em cenas de consultório. Ela é rigorosamente normal do primeiro ao último slide: é a régua, não o caso. Ninguém diagnostica a Alice.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1965960"/>
            <a:ext cx="12188952" cy="3977640"/>
          </a:xfrm>
          <a:prstGeom prst="rect">
            <a:avLst/>
          </a:prstGeom>
          <a:solidFill>
            <a:srgbClr val="EDE2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965960"/>
            <a:ext cx="128016" cy="397764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ALICE, 2 ANOS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Alice, 2 anos e 2 meses, dá sopa à boneca com um bloco de madeira, e a sopa existe.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10607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Pergunto a idade e quem responde é a mãe; pergunto se dormiu bem e quem responde é a mãe. Alice, quando quer água, puxa a mãe pelo dedo até a garrafa. Em dois minutos está no tapete: bloco no copinho, colher na boca da boneca. “sopa”.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narrada ao vivo · Alice é normal do início ao fim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 18 e 24 meses nasce a função semiótica: uma coisa passa a poder representar outra.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4709160"/>
            <a:ext cx="2560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8188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Brincar construtivo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5166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anos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4050792"/>
            <a:ext cx="2560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4160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de conta substitutivo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03320" y="45079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anos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cenoura vira violino)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3392424"/>
            <a:ext cx="2560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5021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Brincar sociodramático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384962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4, quase todas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(papéis: médico, mamãe)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52560" y="2734056"/>
            <a:ext cx="2560320" cy="960120"/>
          </a:xfrm>
          <a:prstGeom prst="roundRect">
            <a:avLst>
              <a:gd name="adj" fmla="val 6667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284378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 de regras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89720" y="319125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 anos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(anuncia o próximo estágio)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7, p. 180-181 · uso de objetos substitutos aos 2-3 anos é achado universal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linguagem explode: de ~600 palavras aos 2 anos e meio para ~15.000 na entrada da escola.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5603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A6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097280" y="3794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2 anos e meio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3291840"/>
            <a:ext cx="2103120" cy="0"/>
          </a:xfrm>
          <a:prstGeom prst="line">
            <a:avLst/>
          </a:prstGeom>
          <a:noFill/>
          <a:ln w="3175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977640" y="3520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palavras novas POR DIA (fast mapping)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0" y="233172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E96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15.000</a:t>
            </a:r>
            <a:endParaRPr lang="en-US" sz="8400" dirty="0"/>
          </a:p>
        </p:txBody>
      </p:sp>
      <p:sp>
        <p:nvSpPr>
          <p:cNvPr id="11" name="Text 9"/>
          <p:cNvSpPr/>
          <p:nvPr/>
        </p:nvSpPr>
        <p:spPr>
          <a:xfrm>
            <a:off x="7132320" y="3840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 aos 5-6 anos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4709160"/>
            <a:ext cx="10332720" cy="868680"/>
          </a:xfrm>
          <a:prstGeom prst="roundRect">
            <a:avLst>
              <a:gd name="adj" fmla="val 7368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9377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ela chega EXTERNA: serve para pedir e nomear para o outro. Ainda não serve para se instruir. (Guardem isso.)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7, p. 188-189 (Bates 1994; Anglin 1995; Pinker 1994)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essa criança vê no espelho, e o que isso muda?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V1 · TESTE DO ESPELHO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test: mancha na testa, criança diante do espelho. Antes dos ~18 meses, toca o espelho; depois, toca a própria testa.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volta dos 18-24 meses a criança se reconhece: nasce um eu que pode ser representado, e portanto, um dia, regulado.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743200"/>
            <a:ext cx="103327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320040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 + eu representado</a:t>
            </a:r>
            <a:pPr indent="0" marL="0">
              <a:buNone/>
            </a:pPr>
            <a:r>
              <a:rPr lang="en-US" sz="17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as duas peças que a transferência do volante vai usar pelo resto da aula.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birra dos 2 anos é fisiologia da regulação externa: o alarme emocional está pronto, o freio ainda mora no adulto.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514600"/>
            <a:ext cx="3017520" cy="1737360"/>
          </a:xfrm>
          <a:prstGeom prst="roundRect">
            <a:avLst>
              <a:gd name="adj" fmla="val 3684"/>
            </a:avLst>
          </a:prstGeom>
          <a:solidFill>
            <a:srgbClr val="ECB841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697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3154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límbico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funcionante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2514600"/>
            <a:ext cx="3017520" cy="1737360"/>
          </a:xfrm>
          <a:prstGeom prst="roundRect">
            <a:avLst>
              <a:gd name="adj" fmla="val 3684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697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3154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pré-frontal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obra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514600"/>
            <a:ext cx="301752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697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EXTERNO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3154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adulto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(co-regulação)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572000"/>
            <a:ext cx="10104120" cy="960120"/>
          </a:xfrm>
          <a:prstGeom prst="roundRect">
            <a:avLst>
              <a:gd name="adj" fmla="val 6667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7731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Contrapeso: aos 2 anos, OBEDECER é a regra, não a exceção (Gralinski &amp; Kopp). E a agressão do pico 2-4 é instrumental: quer o objeto, não ferir.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8, p. 214 e p. 226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97112" y="64556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aprofundamento: apêndice 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Nesta cena, repare no que acontece imediatamente ANTES e imediatamente DEPOIS do grito.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V2 · CENA NATURAL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Birra real em local público, com antecedente visível.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11680" y="5486400"/>
            <a:ext cx="8165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→ congelar 3x (gatilho · pico · resolução) → perguntar → reexibir inteiro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 birra tem gramática (gatilho, escalada, função), e ler essa gramática se chama análise funcional.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651760"/>
            <a:ext cx="30175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651760"/>
            <a:ext cx="3017520" cy="73152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ANTECEDENTE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3375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imediatamente antes?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2651760"/>
            <a:ext cx="30175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651760"/>
            <a:ext cx="3017520" cy="73152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COMPORTAMENTO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33375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corpo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 fez?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651760"/>
            <a:ext cx="30175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651760"/>
            <a:ext cx="3017520" cy="73152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CONSEQUÊNCIA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33375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ela obteve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 evitou)?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97112" y="64556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aprofundamento: apêndice 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Agora, 20 segundos de uma criança de 2 anos absolutamente comum: o que já está lá?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V3 · DNPM NORMAL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de 2-3 anos: faz de conta substitutivo + fala telegráfica. 15-30 segundos.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de conta, palavras novas todo dia e birra à tarde: esse pacote inteiro é o normal dos 2 aos 3.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651760"/>
            <a:ext cx="292608" cy="29260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2615184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semiótica em uso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3520440"/>
            <a:ext cx="292608" cy="29260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3483864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explosão lexical em curso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4389120"/>
            <a:ext cx="292608" cy="29260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4352544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ainda externa (e barulhenta)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DEVERIA TE TIRAR O SONO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deveria te tirar o sono aos 2 anos não é a birra: é o apontar que só pede e nunca mostra.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822960" y="2468880"/>
            <a:ext cx="50292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6974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APONTAR PARA PEDIR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320040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“quero aquilo”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outro como ferramenta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PRESERVADO no TEA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2468880"/>
            <a:ext cx="50292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26974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APONTAR PARA MOSTRAR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0" y="320040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“olha aquilo!”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outro como MENTE com quem se divide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DEFICIENTE no TEA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5440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não responder ao nome (audição normal) · não seguir o apontar do outro · sem faz de conta · linguagem SEM gesto compensatório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compartilhada / M-CHAT · janela do segundo ano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54480"/>
            <a:ext cx="10972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 agora representa o mundo. Mas ela sabe que existe um mundo dentro da SUA cabeça?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5102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VOLANTE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14216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270248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55664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711696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8A65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INTERNO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97112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53144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8A65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1965960"/>
            <a:ext cx="12188952" cy="3977640"/>
          </a:xfrm>
          <a:prstGeom prst="rect">
            <a:avLst/>
          </a:prstGeom>
          <a:solidFill>
            <a:srgbClr val="EDE2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965960"/>
            <a:ext cx="128016" cy="397764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ALICE, 4 ANOS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Alice, 4 anos, esconde o desenho rasgado e culpa o gato: a primeira mentira é uma conquista.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10607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 rasgou sem querer o desenho da irmã. Quando a mãe pergunta, ela olha para o gato: “foi ele”. No consultório, a mãe me pergunta se deve se preocupar com o caráter da filha.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narrada ao vivo · Alice é normal do início ao fim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mentir, Alice precisou descobrir que as pessoas agem pelo que ACREDITAM, não pelo que é verdade.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560320"/>
            <a:ext cx="10332720" cy="2103120"/>
          </a:xfrm>
          <a:prstGeom prst="roundRect">
            <a:avLst>
              <a:gd name="adj" fmla="val 3478"/>
            </a:avLst>
          </a:prstGeom>
          <a:solidFill>
            <a:srgbClr val="DDC9E3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7889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MENTE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200400"/>
            <a:ext cx="9692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conjunto de ideias com que explicamos as crenças, desejos e comportamentos dos outros. O marco duro é a CRENÇA FALSA: entender que o outro pode agir por uma representação errada do mundo.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7, p. 184-185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Sally vai procurar a bolinha quando voltar?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V4 · FALSA CRENÇA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703320" y="4572000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APOSTA DA PLATEIA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72200" y="4617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Votem: com que idade a criança passa a acertar? 2, 3, 4 ou 6?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V4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Sally-Anne (ou caixa de doces): criança de 3 erra, criança de 4-5 acerta.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11680" y="5486400"/>
            <a:ext cx="8165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antes da resposta da criança de 3: “o que ela vai dizer?”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Aos 3 a criança erra, aos 4-5 acerta, e o padrão se repete em toda cultura testada.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0" y="3931920"/>
            <a:ext cx="1554480" cy="1005840"/>
          </a:xfrm>
          <a:prstGeom prst="rect">
            <a:avLst/>
          </a:prstGeom>
          <a:solidFill>
            <a:srgbClr val="DDC9E3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5029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2468880"/>
            <a:ext cx="1554480" cy="246888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9" name="Shape 7"/>
          <p:cNvSpPr/>
          <p:nvPr/>
        </p:nvSpPr>
        <p:spPr>
          <a:xfrm>
            <a:off x="1920240" y="4937760"/>
            <a:ext cx="5760720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5029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anos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2926080"/>
            <a:ext cx="320040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154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entre os Baka, caçadores-coletores de Camarões: isso não é escolarização, é maturação.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7, p. 185 (Flavell) e p. 186 (Avis &amp; Harris, 1991)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97112" y="64556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aprofundamento: apêndice C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fala privada é o volante em trânsito: a instrução do adulto vira voz alta da criança, e depois vira pensamento.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51760"/>
            <a:ext cx="320040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834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DO ADULTO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“cuidado no degrau”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69080" y="3520440"/>
            <a:ext cx="457200" cy="0"/>
          </a:xfrm>
          <a:prstGeom prst="line">
            <a:avLst/>
          </a:prstGeom>
          <a:noFill/>
          <a:ln w="38100">
            <a:solidFill>
              <a:srgbClr val="E9603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0" y="2651760"/>
            <a:ext cx="3200400" cy="1737360"/>
          </a:xfrm>
          <a:prstGeom prst="roundRect">
            <a:avLst>
              <a:gd name="adj" fmla="val 3684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834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PRIVADA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54880" y="32918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anos: ela diz “cuidado”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si mesma, em voz alta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18120" y="3520440"/>
            <a:ext cx="457200" cy="0"/>
          </a:xfrm>
          <a:prstGeom prst="line">
            <a:avLst/>
          </a:prstGeom>
          <a:noFill/>
          <a:ln w="38100">
            <a:solidFill>
              <a:srgbClr val="E9603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21040" y="2651760"/>
            <a:ext cx="320040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834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VERBAL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503920" y="32918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6-7 anos: a voz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completamente internalizada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663440"/>
            <a:ext cx="10607040" cy="822960"/>
          </a:xfrm>
          <a:prstGeom prst="roundRect">
            <a:avLst>
              <a:gd name="adj" fmla="val 7778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8646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Vygotsky contra Piaget: a fala privada não desaparece, ela vai para DENTRO. E a pesquisa moderna deu razão a Vygotsky.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7, p. 187-188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trabalho dos 3 aos 5 é ter iniciativa; a culpa que nasce junto é o primeiro freio interno.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68880"/>
            <a:ext cx="5120640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planejar, propor, testar, transgredir: o motor da idade (Erikson). A tarefa dos pais é equilibrar autonomia e proteção.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2468880"/>
            <a:ext cx="5120640" cy="2926080"/>
          </a:xfrm>
          <a:prstGeom prst="roundRect">
            <a:avLst>
              <a:gd name="adj" fmla="val 2188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CULPA · VERGONHA · ORGULHO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31546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emoções morais chegam como primeiro freio interno, de natureza afetiva. Nascem DENTRO de relações calorosas; sem confiança, saem fracas demais para regular.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8, p. 202 e p. 207-208 (Koenig 2004)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Repare no que essa criança de 4 anos faz com a boca enquanto monta o quebra-cabeça.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V5 · DNPM NORMAL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de ~4 anos sozinha em tarefa, instruindo-se em voz alta. 15-30 segundos.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 está se dirigindo com a própria voz; em dois anos, essa voz vai para dentro.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743200"/>
            <a:ext cx="103327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315468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vocês acabaram de ver tem endereço na tese: </a:t>
            </a:r>
            <a:pPr indent="0" marL="0">
              <a:buNone/>
            </a:pPr>
            <a:r>
              <a:rPr lang="en-US" sz="17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volante em trânsito, audível.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DEVERIA TE TIRAR O SONO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resistir FUNCIONA, a oposição vira estratégia: o TOD nasce como aprendizagem antes de virar rótulo.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1828800" y="2560320"/>
            <a:ext cx="33832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596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949440" y="2560320"/>
            <a:ext cx="33832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8660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OPOSIÇÃO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49440" y="4206240"/>
            <a:ext cx="33832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4480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 RECUA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828800" y="4206240"/>
            <a:ext cx="3383280" cy="1005840"/>
          </a:xfrm>
          <a:prstGeom prst="roundRect">
            <a:avLst>
              <a:gd name="adj" fmla="val 6364"/>
            </a:avLst>
          </a:prstGeom>
          <a:solidFill>
            <a:srgbClr val="DDC9E3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65960" y="4480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OPOSIÇÃO REFORÇADA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257800" y="3063240"/>
            <a:ext cx="1645920" cy="0"/>
          </a:xfrm>
          <a:prstGeom prst="line">
            <a:avLst/>
          </a:prstGeom>
          <a:noFill/>
          <a:ln w="2540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641080" y="3611880"/>
            <a:ext cx="0" cy="548640"/>
          </a:xfrm>
          <a:prstGeom prst="line">
            <a:avLst/>
          </a:prstGeom>
          <a:noFill/>
          <a:ln w="2540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257800" y="4709160"/>
            <a:ext cx="1645920" cy="0"/>
          </a:xfrm>
          <a:prstGeom prst="line">
            <a:avLst/>
          </a:prstGeom>
          <a:noFill/>
          <a:ln w="25400">
            <a:solidFill>
              <a:srgbClr val="8A6594"/>
            </a:solidFill>
            <a:prstDash val="solid"/>
            <a:headEnd type="triangle"/>
          </a:ln>
        </p:spPr>
      </p:sp>
      <p:sp>
        <p:nvSpPr>
          <p:cNvPr id="18" name="Shape 15"/>
          <p:cNvSpPr/>
          <p:nvPr/>
        </p:nvSpPr>
        <p:spPr>
          <a:xfrm>
            <a:off x="3520440" y="3611880"/>
            <a:ext cx="0" cy="548640"/>
          </a:xfrm>
          <a:prstGeom prst="line">
            <a:avLst/>
          </a:prstGeom>
          <a:noFill/>
          <a:ln w="25400">
            <a:solidFill>
              <a:srgbClr val="8A6594"/>
            </a:solidFill>
            <a:prstDash val="solid"/>
            <a:headEnd type="triangle"/>
          </a:ln>
        </p:spPr>
      </p:sp>
      <p:sp>
        <p:nvSpPr>
          <p:cNvPr id="19" name="Text 16"/>
          <p:cNvSpPr/>
          <p:nvPr/>
        </p:nvSpPr>
        <p:spPr>
          <a:xfrm>
            <a:off x="3931920" y="5486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roda em loop, e cada volta o fortalece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8, p. 214 (Patterson 1980) e p. 226 (ceder à birra reforça o padrão)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897112" y="64556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aprofundamento: apêndice A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DEVERIA TE TIRAR O SONO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pré-escolar que deveria te tirar o sono não é o levado: é o que mantém a mesma intensidade em qualquer contexto.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822960" y="2468880"/>
            <a:ext cx="502920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6974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AGITADO E NORMAL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97280" y="315468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intensidade que RESPONDE a contexto: pior no fim do dia, melhor no interesse, regulável pelo adulto. Birras em declínio ano a ano.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09360" y="2468880"/>
            <a:ext cx="502920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26974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DE ALERTA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583680" y="315468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intensidade em casa, escola, consultório e festa. Birras que não declinam. Co-regulação que nunca é dispensada.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8, p. 206-207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897112" y="64556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aprofundamento: apêndice B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54480"/>
            <a:ext cx="10972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Essa mente que descobriu outras mentes vai ser trancada numa sala com 25 iguais e um adulto só. O que acontece?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5102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VOLANTE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14216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270248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55664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711696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INTERNO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97112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53144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8A65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1965960"/>
            <a:ext cx="12188952" cy="3977640"/>
          </a:xfrm>
          <a:prstGeom prst="rect">
            <a:avLst/>
          </a:prstGeom>
          <a:solidFill>
            <a:srgbClr val="EDE2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965960"/>
            <a:ext cx="128016" cy="397764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ALICE, 6 ANOS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Alice, 6 anos, segura o choro na escola inteira e desaba no banco de trás do carro da mãe.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10607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professora diz que Alice é um doce: espera a vez, guarda o material, não chora. A mãe estranha: no carro, na saída, Alice desmonta. Chora do nada, briga com a irmã, “vira outra”. “O que a escola tem que eu não tenho?”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narrada ao vivo · Alice é normal do início ao fim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 os 5 e os 7 o cérebro troca de marcha: surto frontal, atenção que obedece e processamento mais rápido.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468880"/>
            <a:ext cx="320040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SURTO CEREBRAL 6-8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97280" y="31089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sinapses,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mais espesso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3000" y="4480560"/>
            <a:ext cx="2743200" cy="292608"/>
          </a:xfrm>
          <a:prstGeom prst="rect">
            <a:avLst/>
          </a:prstGeom>
          <a:solidFill>
            <a:srgbClr val="EDE2F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4480560"/>
            <a:ext cx="1508760" cy="292608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468880"/>
            <a:ext cx="320040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SELETIVA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54880" y="31089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mielinização formação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reticular ↔ lobo frontal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4480560"/>
            <a:ext cx="2743200" cy="292608"/>
          </a:xfrm>
          <a:prstGeom prst="rect">
            <a:avLst/>
          </a:prstGeom>
          <a:solidFill>
            <a:srgbClr val="EDE2F0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0600" y="4480560"/>
            <a:ext cx="1920240" cy="292608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2468880"/>
            <a:ext cx="320040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0" y="31089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Kail: mais rápido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cultura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58200" y="4480560"/>
            <a:ext cx="2743200" cy="292608"/>
          </a:xfrm>
          <a:prstGeom prst="rect">
            <a:avLst/>
          </a:prstGeom>
          <a:solidFill>
            <a:srgbClr val="EDE2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458200" y="4480560"/>
            <a:ext cx="2331720" cy="2926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9, p. 234-235 e p. 242 · o rótulo “shift 5-7” é da literatura clássica (White)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mesma água, a mesma pergunta, duas crianças: o que muda entre os 5 e os 7?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V6 · CONSERVAÇÃO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703320" y="4572000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APOSTA DA PLATEIA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72200" y="4617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Votem: o que a de 5 vai responder, e com que grau de convicção?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V6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Conservação de líquido: criança de ~5 erra com convicção; criança de ~7 acerta e justifica.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11680" y="5486400"/>
            <a:ext cx="8165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entre as duas: “o que mudou entre elas não foi treino”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foi a resposta que mudou, foi a lógica: reversibilidade e descentração inauguram o operatório concreto.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2834640" cy="1051560"/>
          </a:xfrm>
          <a:prstGeom prst="roundRect">
            <a:avLst>
              <a:gd name="adj" fmla="val 6087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entrou, nada saiu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0" y="2514600"/>
            <a:ext cx="2834640" cy="1051560"/>
          </a:xfrm>
          <a:prstGeom prst="roundRect">
            <a:avLst>
              <a:gd name="adj" fmla="val 6087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COMPENSAÇÃO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alto, porém mais fino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040880" y="2514600"/>
            <a:ext cx="2834640" cy="1051560"/>
          </a:xfrm>
          <a:prstGeom prst="roundRect">
            <a:avLst>
              <a:gd name="adj" fmla="val 6087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REVERSIBILIDADE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despejar de volta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10515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29768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chega em ondas (décalage): massa ~7 · peso ~8 · volume só ~11. No longitudinal de Tomlinson-Keasey, o salto acontece perto dos 7, onde Piaget o colocou.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7, p. 182-183; cap. 9, p. 240-241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escola é o primeiro ambiente que exige autorregulação sem oferecer co-regulação.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2468880"/>
            <a:ext cx="4206240" cy="2743200"/>
          </a:xfrm>
          <a:prstGeom prst="roundRect">
            <a:avLst>
              <a:gd name="adj" fmla="val 2333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743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A6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554480" y="39319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sob demanda,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individualizada, disponível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2468880"/>
            <a:ext cx="420624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743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96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1:25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858000" y="39319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AULA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a vez, ficar sentado,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sustentada em tarefa chata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10, p. 271: autorregular = conformar-se ao padrão SEM supervisão direta, esperado aos 6-12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TDAH não aparece aos 6 anos: ele fica visível quando a curva da demanda cruza a curva do freio.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5394960"/>
            <a:ext cx="8961120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377440"/>
            <a:ext cx="0" cy="301752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5257800"/>
            <a:ext cx="3108960" cy="-91440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4343400"/>
            <a:ext cx="2926080" cy="-82296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3520440"/>
            <a:ext cx="2834640" cy="-59436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maturação do freio (contínua)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463040" y="4846320"/>
            <a:ext cx="3566160" cy="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3017520"/>
            <a:ext cx="0" cy="182880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3017520"/>
            <a:ext cx="5303520" cy="-27432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3957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por autorregulação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60520" y="5486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NA ESCOLA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0" y="2880360"/>
            <a:ext cx="2743200" cy="1234440"/>
          </a:xfrm>
          <a:prstGeom prst="rect">
            <a:avLst/>
          </a:prstGeom>
          <a:solidFill>
            <a:srgbClr val="E96030">
              <a:alpha val="1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3063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área entre as curvas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onde vira queixa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9, p. 255-257 · em muitas tarefas de atenção, não diferem dos pares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97112" y="64556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aprofundamento: apêndice B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uma criança de 4 anos sozinha com um doce diz sobre o resto da vida dela?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V7 · DELAY OF GRATIFICATION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V7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de Mischel: as estratégias de espera visíveis (tampar os olhos, cantar, cheirar o doce).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do que se sonhou: com controles adequados o efeito encolhe; esperar é termômetro do freio, não oráculo do destino.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2468880" y="2468880"/>
            <a:ext cx="1920240" cy="2560320"/>
          </a:xfrm>
          <a:prstGeom prst="rect">
            <a:avLst/>
          </a:prstGeom>
          <a:solidFill>
            <a:srgbClr val="DDC9E3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5120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75120" y="4114800"/>
            <a:ext cx="1920240" cy="91440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5120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controles de família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cognição (Watts 2018)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Watts, Duncan &amp; Quan (2018), Psychological Science · replicação com amostra maior e diversa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criança de 7 anos fazendo lição: conte quantas vezes ela se corrige sozinha, sem som.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V8 · DNPM NORMAL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V8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de 6-7 anos escrevendo, apagando e corrigindo sozinha, em silêncio. 15-30 segundos.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autocorreção silenciosa é a fala privada já internalizada: o volante passou para dentro.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DO ADULTO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69080" y="3401568"/>
            <a:ext cx="457200" cy="0"/>
          </a:xfrm>
          <a:prstGeom prst="line">
            <a:avLst/>
          </a:prstGeom>
          <a:noFill/>
          <a:ln w="3810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572000" y="301752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PRIVADA (3a)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18120" y="3401568"/>
            <a:ext cx="457200" cy="0"/>
          </a:xfrm>
          <a:prstGeom prst="line">
            <a:avLst/>
          </a:prstGeom>
          <a:noFill/>
          <a:ln w="3810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321040" y="301752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VERBAL (6-7a)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seta do Ato 2, agora completa (estágio de crescimento interno, Vygotsky)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7, p. 188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54480"/>
            <a:ext cx="10972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Autorregulada na sala, Alice levanta os olhos do caderno e olha para os lados. O que ela vê?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5102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VOLANTE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14216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270248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55664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711696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INTERNO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97112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53144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1965960"/>
            <a:ext cx="12188952" cy="3977640"/>
          </a:xfrm>
          <a:prstGeom prst="rect">
            <a:avLst/>
          </a:prstGeom>
          <a:solidFill>
            <a:srgbClr val="EDE2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965960"/>
            <a:ext cx="128016" cy="397764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ALICE, 9 ANOS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Alice, 9 anos, avisa: “eu sou a tímida da sala, e a Júlia é melhor que eu em matemática”.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10607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 de rotina. A mãe agora senta mais atrás e quase não fala. Pergunto da escola e é Alice quem responde, com um relatório: “sou a tímida da sala. A Júlia é melhor em matemática, mas eu desenho melhor. A Bia contou meu segredo, então agora é só amiga”.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narrada ao vivo · Alice é normal do início ao fim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autoconceito virou psicológico e comparativo: a criança se descreve por dentro, e sempre em ranking.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5120640" cy="2377440"/>
          </a:xfrm>
          <a:prstGeom prst="roundRect">
            <a:avLst>
              <a:gd name="adj" fmla="val 2692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ANOS (superfície)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“tenho cabelo castanho, moro na rua tal, jogo futebol”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2377440"/>
            <a:ext cx="51206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ANOS (psicológico e comparativo)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30175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“sou verdadeira, perco a paciência, não sou muito querida por algumas meninas”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983480"/>
            <a:ext cx="10561320" cy="777240"/>
          </a:xfrm>
          <a:prstGeom prst="roundRect">
            <a:avLst>
              <a:gd name="adj" fmla="val 8235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166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Autoestima global só emerge ~7-8 anos, de 2 fontes: discrepância ideal-real NO QUE ELA VALORIZA + suporte percebido (Harter).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10, p. 265-267 (Montemayor &amp; Eisen 1977, “Who am I?”)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amizade vira contrato de confiança recíproca: amigo é quem guarda segredo, não quem mora perto.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5176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96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50-75%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escolares têm melhor amigo estável,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isso protege inclusive a criança tímida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2560320"/>
            <a:ext cx="56692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78892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~9a: amigo = quem brinca perto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~10a: amigo = confiança recíproca, lealdade, apoio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amigos há MAIS conflito, e mais empenho em resolver: a amizade é a academia do manejo de conflito.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10, p. 272-273 (Selman; Chen 1997; Hartup 1996)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moral sai da heteronomia: perto dos 8, a regra deixa de ser sagrada e a intenção passa a contar.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68880"/>
            <a:ext cx="5120640" cy="2651760"/>
          </a:xfrm>
          <a:prstGeom prst="roundRect">
            <a:avLst>
              <a:gd name="adj" fmla="val 2414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REALISMO MORAL (até ~8)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imutáveis, ditadas por autoridade; justiça imanente (o riacho pune); vale o TAMANHO do estrago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2468880"/>
            <a:ext cx="512064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RELATIVISMO MORAL (após ~8)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315468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são combináveis se todos concordarem; a INTENÇÃO pesa mais que a consequência (sair sem pagar por engano ≠ roubar)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10, p. 269-270 (Piaget, 1932)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grupo de pares assume parte do volante: aceitação e rejeição regulam com força de lei.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2560320" cy="685800"/>
          </a:xfrm>
          <a:prstGeom prst="roundRect">
            <a:avLst>
              <a:gd name="adj" fmla="val 933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2514600"/>
            <a:ext cx="2560320" cy="685800"/>
          </a:xfrm>
          <a:prstGeom prst="roundRect">
            <a:avLst>
              <a:gd name="adj" fmla="val 9333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2514600"/>
            <a:ext cx="2560320" cy="685800"/>
          </a:xfrm>
          <a:prstGeom prst="roundRect">
            <a:avLst>
              <a:gd name="adj" fmla="val 9333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NEGLIGENCIADA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moeda da aceitação é exatamente o que os atos anteriores construíram: regular a expressão emocional + ler mentes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105156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434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Neuroimagem: a exclusão social ativa a mesma área cerebral da dor física (Eisenberger, 2003). </a:t>
            </a:r>
            <a:pPr indent="0" marL="0">
              <a:buNone/>
            </a:pPr>
            <a:r>
              <a:rPr lang="en-US" sz="15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pune com dor de verdade.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10, p. 274-278 · segregação por gênero como marca universal do período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Nesta cena de recreio, responda: quem está com o volante?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V9 · DNPM NORMAL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V9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crianças de 9-10 anos negociando regras de um jogo, sem adulto. 15-30 segundos.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11680" y="5486400"/>
            <a:ext cx="8165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1x: “quem está com o volante?”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Ninguém ali obedece a um adulto: regras negociadas, papéis distribuídos, sanções aplicadas. O grupo dirige.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834640"/>
            <a:ext cx="3017520" cy="1097280"/>
          </a:xfrm>
          <a:prstGeom prst="roundRect">
            <a:avLst>
              <a:gd name="adj" fmla="val 5833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regra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0" y="2834640"/>
            <a:ext cx="3017520" cy="1097280"/>
          </a:xfrm>
          <a:prstGeom prst="roundRect">
            <a:avLst>
              <a:gd name="adj" fmla="val 5833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papéis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0" y="2834640"/>
            <a:ext cx="3017520" cy="1097280"/>
          </a:xfrm>
          <a:prstGeom prst="roundRect">
            <a:avLst>
              <a:gd name="adj" fmla="val 5833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SANÇÃO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 pelo grupo</a:t>
            </a:r>
            <a:endParaRPr lang="en-US" sz="14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DEVERIA TE TIRAR O SONO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deveria te tirar o sono agora: a criança que o grupo devolve, e a que some sem fazer barulho.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822960" y="2514600"/>
            <a:ext cx="32918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2743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AGRESSIVA + REJEITADA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34747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pior trajetória: maior chance de agressão estável até a vida adulta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80560" y="2514600"/>
            <a:ext cx="32918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743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RETRAÍDA / REJEITADA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63440" y="34747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que é malquista, desiste, se isola; solidão e depressão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138160" y="2514600"/>
            <a:ext cx="32918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2743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VÍTIMA HABITUAL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21040" y="34747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ansiosa, passiva, baixa autoestima, poucos amigos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10, p. 276-278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 a estrada mudar, o carro treme: o pré-púbere sente o corpo começar a mudar, e compara isso também.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5603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96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463040" y="3794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altura adulta: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meninas aos 12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223760" y="25603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8A6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7223760" y="3794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altura adulta: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meninos aos 12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4709160"/>
            <a:ext cx="10332720" cy="868680"/>
          </a:xfrm>
          <a:prstGeom prst="roundRect">
            <a:avLst>
              <a:gd name="adj" fmla="val 7368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91947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ANTES ou DEPOIS da turma entra na mesma máquina de comparação do eu. O detalhe do timing puberal fica para a próxima aula.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9, p. 234 (Tanner, 1990)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ALICE, QUASE 11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Alice, quase 11, pede que a mãe espere lá fora. E a puberdade, que sacode o carro inteiro, é onde a próxima aula começa.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DDC9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consulta que começou nove anos atrás com a mãe respondendo até a idade dela termina sem a mãe na sala. O volante está com Alice. E é exatamente agora que a puberdade liga o terremoto.”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280160" y="5257800"/>
            <a:ext cx="8778240" cy="0"/>
          </a:xfrm>
          <a:prstGeom prst="line">
            <a:avLst/>
          </a:prstGeom>
          <a:noFill/>
          <a:ln w="31750">
            <a:solidFill>
              <a:srgbClr val="8A65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149840" y="5074920"/>
            <a:ext cx="128016" cy="274320"/>
          </a:xfrm>
          <a:prstGeom prst="line">
            <a:avLst/>
          </a:prstGeom>
          <a:noFill/>
          <a:ln w="38100">
            <a:solidFill>
              <a:srgbClr val="E96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77856" y="5074920"/>
            <a:ext cx="128016" cy="365760"/>
          </a:xfrm>
          <a:prstGeom prst="line">
            <a:avLst/>
          </a:prstGeom>
          <a:noFill/>
          <a:ln w="38100">
            <a:solidFill>
              <a:srgbClr val="E96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405872" y="5166360"/>
            <a:ext cx="128016" cy="274320"/>
          </a:xfrm>
          <a:prstGeom prst="line">
            <a:avLst/>
          </a:prstGeom>
          <a:noFill/>
          <a:ln w="38100">
            <a:solidFill>
              <a:srgbClr val="E96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0" y="5641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PUBERDADE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75104" y="512978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5458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5760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 símbolo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43984" y="512978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5458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5760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mente que descobre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mentes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12864" y="512978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5458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89320" y="5760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381744" y="512978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5458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→ puberdade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58200" y="5760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história em uma tela: ambiente → linguagem → outras mentes → freio interno → grupo. O volante nunca parou de mudar de mão.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4251960"/>
            <a:ext cx="9601200" cy="0"/>
          </a:xfrm>
          <a:prstGeom prst="line">
            <a:avLst/>
          </a:prstGeom>
          <a:noFill/>
          <a:ln w="317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5104" y="412394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754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 símbolo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412394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4754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mente que descobre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mentes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12864" y="412394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4754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81744" y="412394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→ puberdade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4754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" y="246888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2468880"/>
            <a:ext cx="2286000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2606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05840" y="3035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do apontar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103120" y="3703320"/>
            <a:ext cx="0" cy="384048"/>
          </a:xfrm>
          <a:prstGeom prst="line">
            <a:avLst/>
          </a:prstGeom>
          <a:noFill/>
          <a:ln w="12700">
            <a:solidFill>
              <a:srgbClr val="8A6594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429000" y="246888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2468880"/>
            <a:ext cx="2286000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2606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 · sinais TDAH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474720" y="3035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resistir funciona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0" y="3703320"/>
            <a:ext cx="0" cy="384048"/>
          </a:xfrm>
          <a:prstGeom prst="line">
            <a:avLst/>
          </a:prstGeom>
          <a:noFill/>
          <a:ln w="12700">
            <a:solidFill>
              <a:srgbClr val="8A6594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897880" y="246888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468880"/>
            <a:ext cx="2286000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2606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visível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943600" y="3035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cruza o freio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040880" y="3703320"/>
            <a:ext cx="0" cy="384048"/>
          </a:xfrm>
          <a:prstGeom prst="line">
            <a:avLst/>
          </a:prstGeom>
          <a:noFill/>
          <a:ln w="12700">
            <a:solidFill>
              <a:srgbClr val="8A6594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8366760" y="246888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66760" y="2468880"/>
            <a:ext cx="2286000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0" y="2606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· Depressão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412480" y="3035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devolve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509760" y="3703320"/>
            <a:ext cx="0" cy="384048"/>
          </a:xfrm>
          <a:prstGeom prst="line">
            <a:avLst/>
          </a:prstGeom>
          <a:noFill/>
          <a:ln w="12700">
            <a:solidFill>
              <a:srgbClr val="8A6594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28800" y="5696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VOLANTE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28800" y="598932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014216" y="6199632"/>
            <a:ext cx="219456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4270248" y="598932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455664" y="6199632"/>
            <a:ext cx="219456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6711696" y="598932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INTERNO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897112" y="6199632"/>
            <a:ext cx="219456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9153144" y="598932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1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Diante de qualquer criança, a primeira pergunta é: de quem é o volante nessa idade, e como vai a transferência?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4892040"/>
                <a:gridCol w="49377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6EF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6EF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NORMAL QUE TRANQUILIZA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6EF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DEVERIA TIRAR O SONO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365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birra, “não”, faz de conta, explosão de palavras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apontar que só pede e nunca mostra; sem faz de conta; não responde ao nome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mentira instrumental, fala sozinho, iniciativa com culpa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oposição que cresce porque funciona; intensidade igual em todo contexto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cansaço regulatório (desabar em casa); erro de conservação aos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freio abaixo da demanda em TODA tarefa chata, em casa E na escola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→ pub.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comparação, panelinhas, melhor amigo, moral de combinado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criança que o grupo devolve; a que some em silêncio; a vítima habitual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Fontes e material de apoio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PRIMÁRIA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Bee, H. &amp; Boyd, D. Lifespan Development.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Caps. 7-10 (pp. 173-286): primeira infância e infância intermediária, desenvolvimento físico, cognitivo, social e de personalidade.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COMPLEMENTOS PONTUAIS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Watts, Duncan &amp; Quan (2018), Psychological Science · replicação do delay of gratification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Baron-Cohen, Leslie &amp; Frith (1985) · falsa crença (Sally-Anne)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Amsterdam (1972) · autorreconhecimento no espelho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(1965) · o “5-to-7 shift”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M-CHAT-R/F · atenção compartilhada no rastreio do segundo ano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806440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9436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apoio completo (com páginas, scripts e ressalvas) disponível na plataforma.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97112" y="64556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aprofundamento: apêndice D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Apêndice: módulos de aprofundamento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DC9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Desenvolvimento normal: dos 2 anos ao início da puberdade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361188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aprofundamento. Não fazem parte da sequência principal: entram se a turma pedir, ou circulam depois como material de estudo.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2560320" cy="1005840"/>
          </a:xfrm>
          <a:prstGeom prst="roundRect">
            <a:avLst>
              <a:gd name="adj" fmla="val 6364"/>
            </a:avLst>
          </a:prstGeom>
          <a:solidFill>
            <a:srgbClr val="8A6594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029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C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504748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uma birra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4892040"/>
            <a:ext cx="2560320" cy="1005840"/>
          </a:xfrm>
          <a:prstGeom prst="roundRect">
            <a:avLst>
              <a:gd name="adj" fmla="val 6364"/>
            </a:avLst>
          </a:prstGeom>
          <a:solidFill>
            <a:srgbClr val="8A6594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5029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C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69080" y="504748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curvas do TDAH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4892040"/>
            <a:ext cx="2560320" cy="1005840"/>
          </a:xfrm>
          <a:prstGeom prst="roundRect">
            <a:avLst>
              <a:gd name="adj" fmla="val 6364"/>
            </a:avLst>
          </a:prstGeom>
          <a:solidFill>
            <a:srgbClr val="8A6594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5029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C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504748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Falsa crença quadro a quadro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06840" y="4892040"/>
            <a:ext cx="2560320" cy="1005840"/>
          </a:xfrm>
          <a:prstGeom prst="roundRect">
            <a:avLst>
              <a:gd name="adj" fmla="val 6364"/>
            </a:avLst>
          </a:prstGeom>
          <a:solidFill>
            <a:srgbClr val="8A6594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5029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C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46920" y="504748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anti-pergunta</a:t>
            </a:r>
            <a:endParaRPr lang="en-US" sz="12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Anatomia de uma birra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85216" y="297180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246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se liga à tese do volante: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2-3 anos o freio mora no adulto; ler uma birra é ler como está a regulação externa. É também a base para entender, no Ato 2, a oposição que aprende a funcionar.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434340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deste módulo: o esquema A-B-C da análise do comportamento (Antecedente, o que veio antes; Comportamento; Consequência, o que o comportamento produziu no ambiente). Atenção ao termo: consequência aqui NÃO é castigo. E o esquema aplicado a um episódio único gera hipótese, não diagnóstico.</a:t>
            </a:r>
            <a:endParaRPr lang="en-US" sz="13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A · BIRRA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birra não é um evento, é uma sequência: e cada elo é um lugar diferente de intervir.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331720"/>
            <a:ext cx="338328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3383280" cy="73152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ANTECEDENTE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veio imediatamente antes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mãe diz “não” ao doce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intervir aqui = prevenção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(avisos, escolhas limitadas)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331720"/>
            <a:ext cx="338328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331720"/>
            <a:ext cx="3383280" cy="73152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COMPORTAMENTO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criança faz, observável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0" y="3566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joga-se no chão, grita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4206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intervir aqui = segurança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(retirar perigos, presença)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2331720"/>
            <a:ext cx="338328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331720"/>
            <a:ext cx="3383280" cy="73152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CONSEQUÊNCIA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comportamento produziu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21040" y="3566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mãe cede o doce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4206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intervir aqui = consistência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 elo que ensina)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10881360" cy="685800"/>
          </a:xfrm>
          <a:prstGeom prst="roundRect">
            <a:avLst>
              <a:gd name="adj" fmla="val 9333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74243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= o que o comportamento produziu no ambiente. NÃO é sinônimo de castigo.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A · BIRRA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antecedente tem dois níveis: o disparo do momento e o terreno que baixa o limiar.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86000"/>
            <a:ext cx="52578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DISPAROS (o gatilho do momento)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Transição: interromper algo bom (“hora de sair da casa da avó”)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Negativa: o “não” ao pedido (doce no mercado)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Atenção do cuidador desviada: mãe no telefone, irmão no colo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Demanda acima da capacidade: tarefa que a mão ou a fala ainda não alcança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257800" cy="3200400"/>
          </a:xfrm>
          <a:prstGeom prst="roundRect">
            <a:avLst>
              <a:gd name="adj" fmla="val 2000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468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 (baixa o limiar para qualquer disparo)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29260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Fome e sono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Dor e doença começando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Sobrecarga sensorial (mercado, festa)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Linguagem aquém do que a criança quer dizer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terreno não dispara a birra: torna qualquer disparo suficiente.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715000"/>
            <a:ext cx="10881360" cy="594360"/>
          </a:xfrm>
          <a:prstGeom prst="roundRect">
            <a:avLst>
              <a:gd name="adj" fmla="val 10769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8521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grupos cobrem a maioria das birras, não todas. Birra que não se encaixa não é, por si, sinal de doença.</a:t>
            </a:r>
            <a:endParaRPr lang="en-US" sz="13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A · BIRRA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Existe um ponto em que negociar para de funcionar: antes dele, prevenção; depois, proteção e presença.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212080"/>
            <a:ext cx="6583680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77440"/>
            <a:ext cx="0" cy="283464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intensidade (esquemática)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40880" y="5303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7280" y="5074920"/>
            <a:ext cx="1463040" cy="-82296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4251960"/>
            <a:ext cx="1097280" cy="-137160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2880360"/>
            <a:ext cx="1463040" cy="22860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3108960"/>
            <a:ext cx="2194560" cy="173736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95728" y="4087368"/>
            <a:ext cx="329184" cy="329184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15" name="Text 13"/>
          <p:cNvSpPr/>
          <p:nvPr/>
        </p:nvSpPr>
        <p:spPr>
          <a:xfrm>
            <a:off x="205740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34440" y="3017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aqui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49040" y="2286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pico: intervir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77840" y="4206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pós-pico: janela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acolhimento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0" y="2240280"/>
            <a:ext cx="361188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24231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RECONHECER QUE O PONTO PASSOU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306324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responde mais ao nome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recusa a própria coisa que pedia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movimento descoordenado, sem direção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PONTO: retirar perigos, ficar perto, pouca fala, tom baixo. Esperar perto não é ignorar.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esquemática (didática); a anatomia empírica descreve raiva com pico precoce e angústia mais longa (Potegal &amp; Davison, 2003)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A · BIRRA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maioria das birras serve a obter ou evitar; algumas são só transbordamento.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377440"/>
            <a:ext cx="33832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ou atenção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o doce; o colo que foi para o irmão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377440"/>
            <a:ext cx="33832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560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ou transição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520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escovar os dentes; sair do parquinho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383280" cy="2286000"/>
          </a:xfrm>
          <a:prstGeom prst="roundRect">
            <a:avLst>
              <a:gd name="adj" fmla="val 2800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560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TRANSBORDAMENTO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função operante clara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3520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fim de dia, fome + sono: o sistema só transborda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10881360" cy="1188720"/>
          </a:xfrm>
          <a:prstGeom prst="roundRect">
            <a:avLst>
              <a:gd name="adj" fmla="val 5385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1206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não é intenção. </a:t>
            </a:r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de 2 anos não planeja: o ambiente selecionou o que funcionou, por repetição. As funções podem ser múltiplas e mudar dentro do mesmo episódio (começa pelo doce, mantém-se pela atenção).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formal usa 4 classes: atenção, tangível, fuga/esquiva e sensorial/automática; obter/evitar é o resumo didático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A · BIRRA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cena do mercado, o reforço rodou dos DOIS lados: e é isso que arma a armadilha.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488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cena (do vídeo da aula): criança de ~2 anos pede doce no caixa; mãe diz não; grito e chão; após 90 segundos, a mãe entrega o doce e o grito para.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525780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DA CRIANÇA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767328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“não” ao doce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grito + chão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ganhou o doce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reforço POSITIVO (ganhou algo)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3200400"/>
            <a:ext cx="525780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DA MÃE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3767328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grito no mercado, plateia olhando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entregou o doce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o grito PAROU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reforço NEGATIVO (algo aversivo cessou)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10769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888736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negativo NÃO é punição: é alívio que fortalece o comportamento que o produziu. Os dois lados saem treinados.</a:t>
            </a:r>
            <a:endParaRPr lang="en-US" sz="13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A · BIRRA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pergunta que muda a consulta: o que a birra produziu, dos dois lados?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86000"/>
            <a:ext cx="108813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6032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resistir produz recuo do adulto, repetidamente e em vários contextos, a oposição vira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aprendido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(sem intenção consciente, sem vilão). Esse ciclo é FATOR DE RISCO e de manutenção do transtorno opositivo-desafiador (TOD), não causa suficiente: temperamento e carga familiar entram na equação.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10881360" cy="1188720"/>
          </a:xfrm>
          <a:prstGeom prst="roundRect">
            <a:avLst>
              <a:gd name="adj" fmla="val 5385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572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anamnese, três perguntas operacionais: O que acontece imediatamente depois da birra? Quem cede, com que frequência? A oposição já se espalhou para fora de casa?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com a aula principal: contracena do Ato 2 (quando resistir funciona)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duas curvas do TDAH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85216" y="297180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246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se liga à tese do volante: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Ato 3 afirma que o TDAH fica visível quando a demanda cruza o freio. Este módulo desmonta o gráfico em passos e acrescenta o que ele NÃO diz.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434340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 do módulo: “freio” é o apelido didático das funções executivas (inibir impulso, segurar informação na cabeça, trocar de plano). O gráfico é esquemático: os eixos não têm unidade comum; é uma retórica visual, e assumimos isso. O que ele explica é QUANDO o transtorno chega à consulta, nunca O QUE ele é.</a:t>
            </a:r>
            <a:endParaRPr lang="en-US" sz="13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B · TDAH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freio amadurece devagar, e continua amadurecendo muito depois desta aula: até a vida adulta jovem.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5212080"/>
            <a:ext cx="9509760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377440"/>
            <a:ext cx="0" cy="283464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5029200"/>
            <a:ext cx="2926080" cy="-100584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4023360"/>
            <a:ext cx="2926080" cy="-77724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3246120"/>
            <a:ext cx="2011680" cy="-36576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0" y="2880360"/>
            <a:ext cx="1554480" cy="-228600"/>
          </a:xfrm>
          <a:prstGeom prst="line">
            <a:avLst/>
          </a:prstGeom>
          <a:noFill/>
          <a:ln w="50800">
            <a:solidFill>
              <a:srgbClr val="ECB84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14400" y="5349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5349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5349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5349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puberdade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92640" y="5349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 jovem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0" y="4023360"/>
            <a:ext cx="36576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42062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Âncoras: aos 3, não espera a vez nem com ajuda; aos 8, espera; aos 15, planeja a semana (mais ou menos).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média didática: inibição, memória de trabalho e flexibilidade têm trajetórias distintas, e a variância individual é enorme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B · TDAH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demanda não sobe em rampa, sobe em escada: e o degrau dos 6 anos é o mais alto.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5212080"/>
            <a:ext cx="9509760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377440"/>
            <a:ext cx="0" cy="283464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4892040"/>
            <a:ext cx="2377440" cy="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4434840"/>
            <a:ext cx="0" cy="45720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4434840"/>
            <a:ext cx="1737360" cy="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246120"/>
            <a:ext cx="0" cy="118872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3246120"/>
            <a:ext cx="2651760" cy="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2697480"/>
            <a:ext cx="0" cy="54864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2697480"/>
            <a:ext cx="2377440" cy="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4983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pré-escola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39572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I (6a): sentar horas, instrução única para 30, sem adulto dedicado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0" y="2148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II: organização, vários professores (a desatenção aflora aqui)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hiperatividade grave já é visível aos 3-4 na pré-escola; a apresentação desatenta costuma aflorar no fundamental II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B · TDAH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vão entre as curvas explica QUANDO o TDAH chega à consulta, não O QUE ele é.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5212080"/>
            <a:ext cx="9509760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377440"/>
            <a:ext cx="0" cy="283464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4754880"/>
            <a:ext cx="3291840" cy="0"/>
          </a:xfrm>
          <a:prstGeom prst="line">
            <a:avLst/>
          </a:prstGeom>
          <a:noFill/>
          <a:ln w="44450">
            <a:solidFill>
              <a:srgbClr val="E96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3246120"/>
            <a:ext cx="0" cy="1508760"/>
          </a:xfrm>
          <a:prstGeom prst="line">
            <a:avLst/>
          </a:prstGeom>
          <a:noFill/>
          <a:ln w="44450">
            <a:solidFill>
              <a:srgbClr val="E96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3246120"/>
            <a:ext cx="6035040" cy="-320040"/>
          </a:xfrm>
          <a:prstGeom prst="line">
            <a:avLst/>
          </a:prstGeom>
          <a:noFill/>
          <a:ln w="44450">
            <a:solidFill>
              <a:srgbClr val="E96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4983480"/>
            <a:ext cx="4754880" cy="-1463040"/>
          </a:xfrm>
          <a:prstGeom prst="line">
            <a:avLst/>
          </a:prstGeom>
          <a:noFill/>
          <a:ln w="44450">
            <a:solidFill>
              <a:srgbClr val="ECB8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3520440"/>
            <a:ext cx="4572000" cy="-960120"/>
          </a:xfrm>
          <a:prstGeom prst="line">
            <a:avLst/>
          </a:prstGeom>
          <a:noFill/>
          <a:ln w="44450">
            <a:solidFill>
              <a:srgbClr val="ECB8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5120640"/>
            <a:ext cx="4754880" cy="-914400"/>
          </a:xfrm>
          <a:prstGeom prst="line">
            <a:avLst/>
          </a:prstGeom>
          <a:noFill/>
          <a:ln w="44450">
            <a:solidFill>
              <a:srgbClr val="8A6594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943600" y="4206240"/>
            <a:ext cx="4572000" cy="-685800"/>
          </a:xfrm>
          <a:prstGeom prst="line">
            <a:avLst/>
          </a:prstGeom>
          <a:noFill/>
          <a:ln w="44450">
            <a:solidFill>
              <a:srgbClr val="8A659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480560" y="3127248"/>
            <a:ext cx="4206240" cy="960120"/>
          </a:xfrm>
          <a:prstGeom prst="rect">
            <a:avLst/>
          </a:prstGeom>
          <a:solidFill>
            <a:srgbClr val="E96030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60704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60704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típico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607040" y="3429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TDAH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0" y="3200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vão clínico: maior, persistente, em 2+ contextos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na direção oposta: os mais novos da turma recebem mais diagnóstico (efeito de idade relativa). O mesmo vão que revela TDAH também rotula imaturidade normal.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diagnóstico segue exigindo prejuízo em 2+ contextos e início na infância; o gráfico não substitui critério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B · TDAH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Acomodação abaixa o degrau; tratamento sobe o freio. São alavancas diferentes, e complementares.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5212080"/>
            <a:ext cx="9509760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377440"/>
            <a:ext cx="0" cy="283464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4754880"/>
            <a:ext cx="3291840" cy="0"/>
          </a:xfrm>
          <a:prstGeom prst="line">
            <a:avLst/>
          </a:prstGeom>
          <a:noFill/>
          <a:ln w="44450">
            <a:solidFill>
              <a:srgbClr val="E96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3246120"/>
            <a:ext cx="0" cy="1508760"/>
          </a:xfrm>
          <a:prstGeom prst="line">
            <a:avLst/>
          </a:prstGeom>
          <a:noFill/>
          <a:ln w="44450">
            <a:solidFill>
              <a:srgbClr val="E96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3246120"/>
            <a:ext cx="6035040" cy="-274320"/>
          </a:xfrm>
          <a:prstGeom prst="line">
            <a:avLst/>
          </a:prstGeom>
          <a:noFill/>
          <a:ln w="44450">
            <a:solidFill>
              <a:srgbClr val="E96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3977640"/>
            <a:ext cx="6035040" cy="-274320"/>
          </a:xfrm>
          <a:prstGeom prst="line">
            <a:avLst/>
          </a:prstGeom>
          <a:noFill/>
          <a:ln w="38100">
            <a:solidFill>
              <a:srgbClr val="E9603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589520" y="4069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acomodações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abaixam o degrau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88720" y="5120640"/>
            <a:ext cx="9326880" cy="-1554480"/>
          </a:xfrm>
          <a:prstGeom prst="line">
            <a:avLst/>
          </a:prstGeom>
          <a:noFill/>
          <a:ln w="44450">
            <a:solidFill>
              <a:srgbClr val="8A6594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188720" y="4892040"/>
            <a:ext cx="9326880" cy="-1965960"/>
          </a:xfrm>
          <a:prstGeom prst="line">
            <a:avLst/>
          </a:prstGeom>
          <a:noFill/>
          <a:ln w="44450">
            <a:solidFill>
              <a:srgbClr val="ECB8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3317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(comportamental + farmacológico)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a curva do freio, funcionalmente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65099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Acomodações (sentar longe da janela, instrução fracionada, pausas de movimento): evidência individual modesta; pedem-se por relatório médico à escola. Não substituem tratamento, nem o contrário.</a:t>
            </a:r>
            <a:endParaRPr lang="en-US" sz="12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Falsa crença quadro a quadro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85216" y="297180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246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se liga à tese do volante: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pré-requisito cognitivo da vida em grupo: sem representar a mente do outro, não há amizade recíproca (Ato 4) nem convivência escolar. Este módulo desmonta o experimento do Ato 2.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434340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cenário: uma criança ASSISTE a uma encenação com duas bonecas (Sally e Anne) e responde a UMA pergunta no final. Quem é testada é a criança da plateia, não as bonecas. Paradigma da transferência inesperada (Sally-Anne, Baron-Cohen et al., 1985); o livro-fonte usa o paradigma irmão da caixa de doces. “Falsa crença” = agir por uma representação do mundo que ficou desatualizada.</a:t>
            </a:r>
            <a:endParaRPr lang="en-US" sz="13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C · FALSA CRENÇA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Quadro 1: Sally guarda a bolinha na cesta e sai para brincar.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0" y="2651760"/>
            <a:ext cx="502920" cy="502920"/>
          </a:xfrm>
          <a:prstGeom prst="ellipse">
            <a:avLst/>
          </a:prstGeom>
          <a:solidFill>
            <a:srgbClr val="8A6594"/>
          </a:solidFill>
          <a:ln/>
        </p:spPr>
      </p:sp>
      <p:sp>
        <p:nvSpPr>
          <p:cNvPr id="7" name="Shape 5"/>
          <p:cNvSpPr/>
          <p:nvPr/>
        </p:nvSpPr>
        <p:spPr>
          <a:xfrm>
            <a:off x="2304288" y="3200400"/>
            <a:ext cx="640080" cy="822960"/>
          </a:xfrm>
          <a:prstGeom prst="roundRect">
            <a:avLst>
              <a:gd name="adj" fmla="val 14286"/>
            </a:avLst>
          </a:prstGeom>
          <a:solidFill>
            <a:srgbClr val="8A6594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4069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52560" y="2651760"/>
            <a:ext cx="502920" cy="502920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0" name="Shape 8"/>
          <p:cNvSpPr/>
          <p:nvPr/>
        </p:nvSpPr>
        <p:spPr>
          <a:xfrm>
            <a:off x="8979408" y="3200400"/>
            <a:ext cx="640080" cy="822960"/>
          </a:xfrm>
          <a:prstGeom prst="roundRect">
            <a:avLst>
              <a:gd name="adj" fmla="val 14286"/>
            </a:avLst>
          </a:prstGeom>
          <a:solidFill>
            <a:srgbClr val="ECB841"/>
          </a:solidFill>
          <a:ln/>
        </p:spPr>
      </p:sp>
      <p:sp>
        <p:nvSpPr>
          <p:cNvPr id="11" name="Text 9"/>
          <p:cNvSpPr/>
          <p:nvPr/>
        </p:nvSpPr>
        <p:spPr>
          <a:xfrm>
            <a:off x="8641080" y="4069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4023360"/>
            <a:ext cx="1463040" cy="822960"/>
          </a:xfrm>
          <a:prstGeom prst="roundRect">
            <a:avLst>
              <a:gd name="adj" fmla="val 27778"/>
            </a:avLst>
          </a:prstGeom>
          <a:solidFill>
            <a:srgbClr val="DDC9E3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4892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4160520"/>
            <a:ext cx="320040" cy="3200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15" name="Shape 13"/>
          <p:cNvSpPr/>
          <p:nvPr/>
        </p:nvSpPr>
        <p:spPr>
          <a:xfrm>
            <a:off x="7223760" y="397764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4892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577840"/>
            <a:ext cx="10881360" cy="685800"/>
          </a:xfrm>
          <a:prstGeom prst="roundRect">
            <a:avLst>
              <a:gd name="adj" fmla="val 9333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73328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criança da plateia assiste a tudo, do começo ao fim. Guarde isso.</a:t>
            </a:r>
            <a:endParaRPr lang="en-US" sz="13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C · FALSA CRENÇA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Quadro 2: com Sally fora, Anne muda a bolinha para a caixa.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3017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Sally saiu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cena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052560" y="2651760"/>
            <a:ext cx="502920" cy="502920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8" name="Shape 6"/>
          <p:cNvSpPr/>
          <p:nvPr/>
        </p:nvSpPr>
        <p:spPr>
          <a:xfrm>
            <a:off x="8979408" y="3200400"/>
            <a:ext cx="640080" cy="822960"/>
          </a:xfrm>
          <a:prstGeom prst="roundRect">
            <a:avLst>
              <a:gd name="adj" fmla="val 14286"/>
            </a:avLst>
          </a:prstGeom>
          <a:solidFill>
            <a:srgbClr val="ECB841"/>
          </a:solidFill>
          <a:ln/>
        </p:spPr>
      </p:sp>
      <p:sp>
        <p:nvSpPr>
          <p:cNvPr id="9" name="Text 7"/>
          <p:cNvSpPr/>
          <p:nvPr/>
        </p:nvSpPr>
        <p:spPr>
          <a:xfrm>
            <a:off x="8641080" y="4069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4023360"/>
            <a:ext cx="1463040" cy="822960"/>
          </a:xfrm>
          <a:prstGeom prst="roundRect">
            <a:avLst>
              <a:gd name="adj" fmla="val 27778"/>
            </a:avLst>
          </a:prstGeom>
          <a:solidFill>
            <a:srgbClr val="DDC9E3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cesta (vazia)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3977640"/>
            <a:ext cx="13716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4206240"/>
            <a:ext cx="320040" cy="3200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4892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4343400"/>
            <a:ext cx="2011680" cy="0"/>
          </a:xfrm>
          <a:prstGeom prst="line">
            <a:avLst/>
          </a:prstGeom>
          <a:noFill/>
          <a:ln w="38100">
            <a:solidFill>
              <a:srgbClr val="E9603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5577840"/>
            <a:ext cx="10881360" cy="685800"/>
          </a:xfrm>
          <a:prstGeom prst="roundRect">
            <a:avLst>
              <a:gd name="adj" fmla="val 9333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73328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 que carrega o teste: a criança da plateia VIU a mudança; Sally, não.</a:t>
            </a:r>
            <a:endParaRPr lang="en-US" sz="13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C · FALSA CRENÇA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Quadro 3, a pergunta: onde Sally vai PROCURAR a bolinha?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468880"/>
            <a:ext cx="9235440" cy="2011680"/>
          </a:xfrm>
          <a:prstGeom prst="roundRect">
            <a:avLst>
              <a:gd name="adj" fmla="val 3182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97180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“Onde Sally vai </a:t>
            </a:r>
            <a:pPr indent="0" marL="0">
              <a:buNone/>
            </a:pPr>
            <a:r>
              <a:rPr lang="en-US" sz="2800" b="1" dirty="0">
                <a:solidFill>
                  <a:srgbClr val="B84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PROCURAR</a:t>
            </a:r>
            <a:pPr indent="0" marL="0">
              <a:buNone/>
            </a:pPr>
            <a:r>
              <a:rPr lang="en-US" sz="2800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bolinha?”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37947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feita à criança da plateia, não às bonecas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463040" y="4846320"/>
            <a:ext cx="92354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5074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verbo é o teste: “onde a bolinha ESTÁ?” pergunta sobre o mundo; “onde ela vai PROCURAR?” pergunta sobre a CABEÇA de Sally.</a:t>
            </a:r>
            <a:endParaRPr lang="en-US" sz="14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C · FALSA CRENÇA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proporção de acertos cruza a metade por volta dos 4 anos: transição gradual, não interruptor.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377440"/>
            <a:ext cx="5257800" cy="2651760"/>
          </a:xfrm>
          <a:prstGeom prst="roundRect">
            <a:avLst>
              <a:gd name="adj" fmla="val 2414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3, A MAIORIA ERRA: “na caixa”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memória fraca nem desatenção: a criança responde com a única versão do mundo que consegue sustentar, a dela. A crença desatualizada de Sally ainda não cabe na conta.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377440"/>
            <a:ext cx="525780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5, A MAIORIA ACERTA: “na cesta”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30632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criança agora sustenta duas representações ao mesmo tempo: onde a bolinha está, e onde Sally ACREDITA que está. E prevê o comportamento pela crença, não pelo fato.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3035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46811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4, o desempenho fica perto do meio a meio: uma criança de 4 que erra NÃO está atrasada por isso.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meta-análise de Wellman, Cross &amp; Watson (2001): transição gradual, sensível à forma da tarefa, linguagem e cultura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C · FALSA CRENÇA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protocolo controla a memória com perguntas-controle; o que falha aos 3 é outra coisa.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86000"/>
            <a:ext cx="525780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PERGUNTAS-CONTROLE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“Onde a bolinha está de verdade?” e “onde estava no começo?”: a criança de 3 ACERTA as duas. Memória e realidade estão intactas; o que falta é a crença do outro.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257800" cy="3017520"/>
          </a:xfrm>
          <a:prstGeom prst="roundRect">
            <a:avLst>
              <a:gd name="adj" fmla="val 2121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468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LEITURAS HONESTAS DO ERRO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92608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Representacional: ainda não sustenta a crença falsa do outro.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Executiva/pragmática: até representa, mas não inibe a resposta pela realidade.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Falhar no teste NÃO é sinônimo de não ter teoria da mente.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6875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clínica: o paradigma nasceu na pesquisa do autismo, mas NÃO é teste diagnóstico: passar não exclui TEA, falhar não o diagnostica.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do livro-fonte: caixa de doces (conteúdo inesperado; Perner et al. 1987; descrita no Bee &amp; Boyd via Flavell), paradigma irmão do Sally-Anne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Apêndice anti-pergunta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85216" y="297180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246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se liga à tese do volante: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respostas prontas para as perguntas mais prováveis da turma. Ficam depois das referências; nunca se apresentam, salta-se até elas quando a pergunta vier.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434340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cada slide: a pergunta como título, a resposta em três tempos (o que é verdade, o que é exagero, o que responder na prática).</a:t>
            </a:r>
            <a:endParaRPr lang="en-US" sz="13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D · APÊNDICE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PERGUNTAREM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“Piaget foi superado?”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VERDADE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replica: conservação, erros clássicos e a ordem das aquisições aparecem em qualquer cultura testada.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EXAGERO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calendário e os estágios como blocos: competências surgem antes com tarefas simplificadas, e a mesma lógica chega em tempos diferentes por conteúdo (décalage: conserva número anos antes de conservar volume).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2104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Piaget como mapa, não como mecanismo. O motor é experiência + processamento (Siegler: a criança adquire regras cada vez melhores conforme pratica, sem saltos de estágio).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 cap. 9, p. 240-242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D · APÊNDICE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PERGUNTAREM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“Qual a prevalência real de TDAH?”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VERDADE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critérios padronizados e método fixo, a prevalência fica perto de 5% em idade escolar e é estável entre décadas e países (meta-análise de Polanczyk et al.).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EXAGERO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“até 10%” citado pelo livro é prevalência de DIAGNÓSTICO relatado por pais nos EUA: mede prática diagnóstica, não o transtorno. A diferença entre os dois números É a resposta.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2104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“Diagnostica-se mais do que existe em alguns lugares, e menos em outros. O transtorno em si: ~5% das crianças em idade escolar, qualquer país.”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 cap. 9, p. 255 (Gahagan 2011) + Polanczyk et al.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D · APÊNDICE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PERGUNTAREM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“Palmada funciona?”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VERDADE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associação com desfechos piores (mais agressão, pior relação, clima de rejeição) é consistente na meta-análise específica de palmada (Gershoff &amp; Grogan-Kaylor, 2016), sem nenhum benefício demonstrado.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EXAGERO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“Palmada causa transtorno”: a evidência é majoritariamente correlacional, com efeitos pequenos a moderados. A recomendação de não usar vem da convergência + ausência de benefício, não de causa provada.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2104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ensinar no lugar: consequência calma e consistente (o elo C do satélite A). E no Brasil, castigo físico é vedado por lei (Lei Menino Bernardo, 13.010/2014).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 cap. 8, p. 217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D · APÊNDICE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PERGUNTAREM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“Telas causam TDAH?”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VERDADE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associação entre uso de telas e sintomas de desatenção é FRACA e provavelmente bidirecional: crianças com TDAH também buscam mais telas.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EXAGERO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resposta causal firme, para qualquer lado. A fonte desta aula não cobre o tema, e a literatura não fecha a conta.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2104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funcional que substitui o número: o que a tela está substituindo? (1h de tablet no jantar = 1h a menos de conversa). Diretrizes por idade existem (SBP); use-as como teto, não como álibi.</a:t>
            </a:r>
            <a:endParaRPr lang="en-US" sz="12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D · APÊNDICE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PERGUNTAREM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“Bilinguismo atrasa a fala?”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VERDADE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vocabulário POR língua pode ser menor, e misturar códigos na mesma frase é normal. O vocabulário conceitual SOMADO é comparável ao do monolíngue.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EXAGERO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“Bilinguismo não muda nada”: nega o que o pai observa (menos palavras em cada língua) e queima credibilidade. Valide a observação antes de corrigir a conclusão.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2104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Alarmes que não dependem de língua: nenhuma palavra aos 18 meses, nenhuma combinação de 2 palavras aos 2 anos, perda de habilidades em qualquer idade. Isso avalia igual, em qualquer casa.</a:t>
            </a:r>
            <a:endParaRPr lang="en-US" sz="12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25603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D · APÊNDICE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PERGUNTAREM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“Birra até que idade é normal?”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VERDADE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por volta de 18 meses a 3 anos (birras diárias e curtas são esperadas), declínio de frequência e intensidade até os 4-5. Aos 5-6: raras, curtas e proporcionais, não zero.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EDE2F0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EXAGERO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corte por idade absoluta (“birra depois dos 5 = doença”). A trajetória vale mais que o número.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331720"/>
            <a:ext cx="3383280" cy="3246120"/>
          </a:xfrm>
          <a:prstGeom prst="roundRect">
            <a:avLst>
              <a:gd name="adj" fmla="val 1972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21040" y="29718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de QUALIDADE, além da trajetória: autoagressão, agressão dirigida ao cuidador, episódios muito longos (20-25+ min), não se acalma nem com ajuda, birras iguais com adultos de fora da família.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 cap. 8, p. 226 + literatura de birra clínica (Wakschlag, Belden)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8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2026-07-05T21:17:45Z</dcterms:created>
  <dcterms:modified xsi:type="dcterms:W3CDTF">2026-07-05T21:17:45Z</dcterms:modified>
</cp:coreProperties>
</file>