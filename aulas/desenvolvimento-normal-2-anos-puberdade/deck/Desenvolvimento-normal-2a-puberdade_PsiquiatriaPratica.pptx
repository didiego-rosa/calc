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Apresentar-se em 30s e ir direto para a tese do S2. Não ler o subtítulo: deixar que ele trabalhe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metáfora do volante e o teste que a prova: a MESMA birra no chão do mercado é fisiologia aos 2 e sintoma aos 9. O comportamento não mudou; o dono do volante mudou. Prometer que essa régua sustenta a aula inteira.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explicar os cartões ainda: 'no fim da aula, este mapa vai parecer óbvio'. Este slide volta idêntico no fim (S58): é uma promessa que a aula prova.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'Eu quero apresentar uma pessoa. Alice tem 2 anos hoje e vai fazer uns 11 até o fim da aula...'. Anunciar a fronteira puberal: a aula termina quando o corpo dela decidir, não o calendário.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Régua escondida: a mãe responde POR Alice (não anunciar). Fechar: a sopa não existe, Alice sabe que não existe, e mesmo assim a sopa funciona. É a coisa mais importante que ela fez este 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Representar é a PRIMEIRA peça da autorregulação: só se regula o que se representa. A escada do brincar é a régua clínica gratuita de qualquer consulta.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Superregularização ('fazi', 'sabo') é sinal de saúde: a criança extraiu a regra e aplicou demais. Erro que denuncia inteligência do sistema. Ressalva de fala: 600 e 15.000 são MÉDIAS com variação individual enorme; não usar como marco de alarme isolado.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Instrução de olhar: reparar na mão indo à própria testa (e não ao espelho). Honestidade: o rouge test vem do capítulo de lactância do mesmo livro; trago porque a aula precisa dele.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Ponte do ato: sem um eu representado, não há o que autorregular.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birra é o custo operacional da regulação externa, não um sintoma. Regulação aos 2 prediz agressão aos 4 (Rubin 2003, p. 206).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Anunciar a técnica: vou exibir, congelar, perguntar e reexibir. É treino de análise funcional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pergunta 'o que ela obteve?' prepara a contracena do Ato 2. Plantar sem colher ainda. Ressalva de fala: UM episódio gera hipótese; análise funcional de verdade exige padrão em várias ocorrências (apêndice 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Checklist do que apareceu no clipe. Rápido: 60-90 segundos de fala.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Vigilância, não diagnóstico. Janela do segundo ano, nunca idade rígida. Encaminhar sem esperar 'amadurecer': a janela de intervenção vale mais que a certeza. Ponte com o livro: linguagem e teoria da mente andam juntas (p. 185).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 de 3 segundos antes de avançar. O Ato 2 responde. Painel: quase tudo com os pais; a linguagem acabou de pegar na ponta do volante.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Régua escondida: a mãe agora CONSULTA (ainda dirige, mas pergunta o caminho). Resposta: do ponto de vista do neurodesenvolvimento, é quase motivo de brinde: para mentir, Alice calculou o que a mãe sabe e o que pode ser levada a acreditar.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Reenquadrar: a mentira dos 4 anos é marco de desenvolvimento, não de caráter. Escada fina no doc de apoio (18m intenções → 3a desejo → 4-5 crença falsa → 5-7 reciprocidade → 6a inferência).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Colher palpites em voz alta antes do play; quem apostou assiste diferente.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Preditores: faz de conta compartilhado, memória de trabalho e LINGUAGEM (limiar linguístico para passar em crença falsa). Velocidade de aquisição prediz habilidade social futura. Nuance no apêndice C: a transição é gradual (Wellman), sem idade-muro; criança de 4 que erra não está atrasada por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mais importante do ato para a TESE: é a mecânica literal da transferência. Fala privada aumenta quando a tarefa dificulta e ajuda a resolver problemas.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do freio executivo (Ato 3), existe um freio afetivo. Empatia de Hoffman se perguntarem: global → egocêntrica → pelos sentimentos → pela condição de vida.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 curta. Não repetir o S25: apontar e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Gênese funcional: oposição é comportamento operante, sem intenção consciente e sem vilão. Quando resistir desliga a ordem (reforço negativo) ou captura o adulto (reforço positivo), a oposição é selecionada. Ressalva obrigatória: fator de risco e de manutenção, NÃO causa suficiente (temperamento e carga familiar entram na equação; apêndice A). Pergunta clínica: 'o que a oposição PRODUZ nesta casa?'. Contraste: o desafio aberto normalmente DECLINA dos 2 aos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Sinais honestos: intensidade INVARIANTE a contexto; birras que não declinam com a idade; regulação sempre terceirizada; expulsões de escolinha. Dado: regulação aos 2 prediz agressão aos 4 (Rubin 2003, p. 206). Guardar o porquê da entrada escolar para o Ato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Painel: a linguagem já dirige em voz alta; o freio interno em instalação. O Ato 3 é a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Régua escondida: a mãe virou GARAGEM (o dia inteiro fora do volante, e ainda a peça mais importante do carro: onde o freio esfria). Resposta: a escola tem plateia e regra; o carro tem a mãe. O freio novo funciona a tarde inteira, mas esquenta. É o preço de um freio recém-instalado.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Honestidade: o livro descreve a convergência sem usar o nome 'shift 5-7'. Automaticidade: recuperar sem gastar memória de curto prazo; é o que a alfabetização e a tabuada exploram.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plateia costuma subestimar a CONVICÇÃO do erro pré-operatório; deixar virar surpresa.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perguntarem 'Piaget não foi superado?': os fenômenos replicam; a explicação mudou (Siegler: regras adquiridas por experiência + processamento). Mapa sim, mecanismo não. Nota de fonte: massa 7 / peso 8 / volume 11 é a sequência do Bee &amp; Boyd p. 241 (Tomlinson-Keasey); parte da literatura situa peso perto dos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o primeiro estresse-teste padronizado do freio interno. Preparação direta do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[APOSTA] ANTES de mostrar: 'por que a fila do TDAH no ambulatório começa aos 6, e não aos 4?'. Colher palpites, revelar. Frase para levar: a demanda subiu antes de o freio ficar pronto. O freio já era imaturo aos 4; aos 4 ninguém precisava dele. Duas ressalvas de fala (detalhadas no apêndice B): o vão explica QUANDO chega à consulta, não O QUE o TDAH é; e o mesmo vão produz falsos positivos (efeito de idade relativa).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a plateia romantizar antes da ressalva do S42.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continua valendo: a melhor IMAGEM do freio imaturo em ação (as estratégias de distração SÃO autorregulação nascente). O que morreu: o oráculo. Precisão para a fala: com controles completos de família e cognição precoce, a maior parte do efeito desaparece (não significativo em vários modelos de Watts 2018); evitar fração fixa.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do arco da fala privada. Curto.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Painel: freio interno instalado e quente; os pais já dirigem bem menos. O Ato 4 responde.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Régua escondida: a mãe virou PLATEIA. Notar o que chegou: traço psicológico, ranking por domínio, contrato de confiança rompido com cláusula rebaixada. Nenhum adulto ensinou isso. E notem quem NÃO precisou falar nada na consulta.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 ruim no futebol só derruba quem valoriza futebol. Estabilidade: r≈0,60 em meses, ≈0,40 em anos. Comparação social não é vaidade: é o instrumento de calibração do eu nessa 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Pré-requisito veio do Ato 2: reciprocidade 'você sabe que eu sei' (5-7a). Rose &amp; Asher: quem põe a relação acima do próprio status tem mais amigos.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Amarrar à tese: a regra deixou de morar no adulto (heteronomia = regulação externa) e passou a morar no ACORDO entre pares. Mais um pedaço do volante mudando de mão.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sociométrico: comportamento social pesa mais que aparência (Rodkin 2013). Ressalva de fala sobre Eisenberger: achado clássico e útil como ILUSTRAÇÃO, mas a leitura 'mesma área = mesmo mecanismo' foi questionada por análises multivariadas posteriores; não usar como prova de identidade neural.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Jogo de regras: o mesmo brincar que no Ato 1 anunciava o operatório concreto agora é instituição social autônoma.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Ensinar a perguntar sobre RECREIO e AMIZADES como quem ausculta o coração: é o exame físico do eu comparado. Internalização com cara escolar: queda de rendimento, dor de barriga de domingo, sumiço do recreio, 'ninguém gosta de mim' persistente.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só se anuncia o tremor. Não entrar em estadiamento.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Cena 5 narrada: a porta fecha, Alice conta que o corpo começou a mudar e ainda não contou a ninguém da turma. Passagem de bastão nominal ao professor de adolescência.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MESMO mapa do início: o slide que abriu como promessa fecha como prova. REVELAÇÃO da régua escondida: 'repararam no que a mãe da Alice fez ao longo da aula? Respondeu por ela, depois perguntou, depois virou garagem, depois plateia, e hoje ficou na sala de espera. Vocês assistiram à transferência do volante em cinco consultas.'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as 4 linhas em 90 segundos. É o handout mental que eles levam.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Fim. Agradecer e apontar o documento de apoio. Perguntas da plateia: saltar para o apêndice D (respostas prontas) quando houver slide correspondente.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235440" y="822960"/>
            <a:ext cx="2103120" cy="2103120"/>
          </a:xfrm>
          <a:prstGeom prst="ellipse">
            <a:avLst/>
          </a:prstGeom>
          <a:solidFill>
            <a:srgbClr val="56365F"/>
          </a:solidFill>
          <a:ln w="127000">
            <a:solidFill>
              <a:srgbClr val="ECB8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04120" y="1691640"/>
            <a:ext cx="365760" cy="365760"/>
          </a:xfrm>
          <a:prstGeom prst="ellipse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0" y="1051560"/>
            <a:ext cx="0" cy="685800"/>
          </a:xfrm>
          <a:prstGeom prst="line">
            <a:avLst/>
          </a:prstGeom>
          <a:noFill/>
          <a:ln w="50800">
            <a:solidFill>
              <a:srgbClr val="ECB8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9464040" y="2240280"/>
            <a:ext cx="685800" cy="320040"/>
          </a:xfrm>
          <a:prstGeom prst="line">
            <a:avLst/>
          </a:prstGeom>
          <a:noFill/>
          <a:ln w="50800">
            <a:solidFill>
              <a:srgbClr val="ECB8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0" y="2240280"/>
            <a:ext cx="685800" cy="320040"/>
          </a:xfrm>
          <a:prstGeom prst="line">
            <a:avLst/>
          </a:prstGeom>
          <a:noFill/>
          <a:ln w="50800">
            <a:solidFill>
              <a:srgbClr val="ECB8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11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E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Desenvolvimento normal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DC9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2 anos ao início da puberdade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58368" y="3703320"/>
            <a:ext cx="1554480" cy="45720"/>
          </a:xfrm>
          <a:prstGeom prst="rect">
            <a:avLst/>
          </a:prstGeom>
          <a:solidFill>
            <a:srgbClr val="ECB84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862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CB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história da transferência do volante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5394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Diego Alves Rosa · psiquiatria da infância e adolescência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Psiquiatria Prática · curso de residentes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Aos 2 anos, quem regula a criança é o mundo em volta; no fim desta história, o volante está quase todo por dentro, e em parte com os amigos.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3520440"/>
            <a:ext cx="9601200" cy="0"/>
          </a:xfrm>
          <a:prstGeom prst="line">
            <a:avLst/>
          </a:prstGeom>
          <a:noFill/>
          <a:ln w="31750">
            <a:solidFill>
              <a:srgbClr val="8A65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75104" y="339242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7216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0233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corpo que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ganha símbolo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43984" y="339242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37216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40233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mente que descobre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mentes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12864" y="339242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37216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89320" y="40233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grande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virada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81744" y="339242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37216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→ puberdade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58200" y="40233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56052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VOLANTE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28800" y="589788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014216" y="6108192"/>
            <a:ext cx="219456" cy="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270248" y="589788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DDC9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55664" y="6108192"/>
            <a:ext cx="219456" cy="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711696" y="589788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DDC9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FREIO INTERNO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897112" y="6108192"/>
            <a:ext cx="219456" cy="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9153144" y="589788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DDC9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Quase todo diagnóstico da psiquiatria infantil é falha, atraso ou desvio nessa transferência.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4343400"/>
            <a:ext cx="9601200" cy="0"/>
          </a:xfrm>
          <a:prstGeom prst="line">
            <a:avLst/>
          </a:prstGeom>
          <a:noFill/>
          <a:ln w="31750">
            <a:solidFill>
              <a:srgbClr val="8A65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75104" y="421538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4544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8463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corpo que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ganha símbolo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43984" y="421538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4544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48463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mente que descobre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mentes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12864" y="421538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4544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89320" y="48463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grande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virada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81744" y="421538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4544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→ puberdade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58200" y="48463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80160" y="52578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no mapa = etapa da transferência que costuma falhar, NÃO idade de início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0120" y="2560320"/>
            <a:ext cx="22860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2560320"/>
            <a:ext cx="2286000" cy="6400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2697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05840" y="312724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janela do apontar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103120" y="3794760"/>
            <a:ext cx="0" cy="384048"/>
          </a:xfrm>
          <a:prstGeom prst="line">
            <a:avLst/>
          </a:prstGeom>
          <a:noFill/>
          <a:ln w="12700">
            <a:solidFill>
              <a:srgbClr val="8A6594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3429000" y="2560320"/>
            <a:ext cx="22860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2560320"/>
            <a:ext cx="2286000" cy="6400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2697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 · sinais TDAH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474720" y="312724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resistir funciona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0" y="3794760"/>
            <a:ext cx="0" cy="384048"/>
          </a:xfrm>
          <a:prstGeom prst="line">
            <a:avLst/>
          </a:prstGeom>
          <a:noFill/>
          <a:ln w="12700">
            <a:solidFill>
              <a:srgbClr val="8A6594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897880" y="2560320"/>
            <a:ext cx="22860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560320"/>
            <a:ext cx="2286000" cy="6400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0" y="2697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TDAH visível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943600" y="312724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cruza o freio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040880" y="3794760"/>
            <a:ext cx="0" cy="384048"/>
          </a:xfrm>
          <a:prstGeom prst="line">
            <a:avLst/>
          </a:prstGeom>
          <a:noFill/>
          <a:ln w="12700">
            <a:solidFill>
              <a:srgbClr val="8A6594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8366760" y="2560320"/>
            <a:ext cx="22860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66760" y="2560320"/>
            <a:ext cx="2286000" cy="6400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0" y="2697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· Depressão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412480" y="312724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grupo devolve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509760" y="3794760"/>
            <a:ext cx="0" cy="384048"/>
          </a:xfrm>
          <a:prstGeom prst="line">
            <a:avLst/>
          </a:prstGeom>
          <a:noFill/>
          <a:ln w="12700">
            <a:solidFill>
              <a:srgbClr val="8A6594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 aula termina num evento, não numa idade: quando o corpo de Alice começar a mudar, outro professor assume.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2651760"/>
            <a:ext cx="1051560" cy="1051560"/>
          </a:xfrm>
          <a:prstGeom prst="ellipse">
            <a:avLst/>
          </a:prstGeom>
          <a:solidFill>
            <a:srgbClr val="DDC9E3"/>
          </a:solidFill>
          <a:ln w="12700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862072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2651760"/>
            <a:ext cx="1051560" cy="1051560"/>
          </a:xfrm>
          <a:prstGeom prst="ellipse">
            <a:avLst/>
          </a:prstGeom>
          <a:solidFill>
            <a:srgbClr val="DDC9E3"/>
          </a:solidFill>
          <a:ln w="12700">
            <a:solidFill>
              <a:srgbClr val="8A65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2862072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971800" y="37947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0" y="2651760"/>
            <a:ext cx="1051560" cy="1051560"/>
          </a:xfrm>
          <a:prstGeom prst="ellipse">
            <a:avLst/>
          </a:prstGeom>
          <a:solidFill>
            <a:srgbClr val="DDC9E3"/>
          </a:solidFill>
          <a:ln w="12700">
            <a:solidFill>
              <a:srgbClr val="8A65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2862072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29200" y="37947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anos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60920" y="2651760"/>
            <a:ext cx="1051560" cy="1051560"/>
          </a:xfrm>
          <a:prstGeom prst="ellipse">
            <a:avLst/>
          </a:prstGeom>
          <a:solidFill>
            <a:srgbClr val="DDC9E3"/>
          </a:solidFill>
          <a:ln w="12700">
            <a:solidFill>
              <a:srgbClr val="8A65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2862072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086600" y="37947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anos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18320" y="2651760"/>
            <a:ext cx="1051560" cy="1051560"/>
          </a:xfrm>
          <a:prstGeom prst="ellipse">
            <a:avLst/>
          </a:prstGeom>
          <a:solidFill>
            <a:srgbClr val="E96030"/>
          </a:solidFill>
          <a:ln w="12700">
            <a:solidFill>
              <a:srgbClr val="8A65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0" y="2862072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144000" y="37947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11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4572000"/>
            <a:ext cx="103327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475488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pPr indent="0" marL="0"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atravessa a aula inteira em cenas de consultório. Ela é rigorosamente normal do primeiro ao último slide: é a régua, não o caso. Ninguém diagnostica a Alice.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· 2-3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1965960"/>
            <a:ext cx="12188952" cy="3977640"/>
          </a:xfrm>
          <a:prstGeom prst="rect">
            <a:avLst/>
          </a:prstGeom>
          <a:solidFill>
            <a:srgbClr val="EDE2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965960"/>
            <a:ext cx="128016" cy="3977640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2608"/>
            <a:ext cx="2834640" cy="365760"/>
          </a:xfrm>
          <a:prstGeom prst="roundRect">
            <a:avLst>
              <a:gd name="adj" fmla="val 20000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· ALICE, 2 ANOS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Alice, 2 anos e 2 meses, dá sopa à boneca com um bloco de madeira, e a sopa existe.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10607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Pergunto a idade e quem responde é a mãe; pergunto se dormiu bem e quem responde é a mãe. Alice, quando quer água, puxa a mãe pelo dedo até a garrafa. Em dois minutos está no tapete: bloco no copinho, colher na boca da boneca. “sopa”.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5532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narrada ao vivo · Alice é normal do início ao fim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· 2-3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 18 e 24 meses nasce a função semiótica: uma coisa passa a poder representar outra.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4709160"/>
            <a:ext cx="25603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8188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Brincar construtivo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5166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anos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66160" y="4050792"/>
            <a:ext cx="25603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4160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de conta substitutivo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703320" y="45079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anos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cenoura vira violino)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3392424"/>
            <a:ext cx="25603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35021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Brincar sociodramático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46520" y="384962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 4, quase todas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(papéis: médico, mamãe)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52560" y="2734056"/>
            <a:ext cx="2560320" cy="960120"/>
          </a:xfrm>
          <a:prstGeom prst="roundRect">
            <a:avLst>
              <a:gd name="adj" fmla="val 6667"/>
            </a:avLst>
          </a:prstGeom>
          <a:solidFill>
            <a:srgbClr val="DDC9E3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89720" y="284378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 de regras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189720" y="319125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5-6 anos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(anuncia o próximo estágio)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7, p. 180-181 · uso de objetos substitutos aos 2-3 anos é achado universal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· 2-3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linguagem explode: de ~600 palavras aos 2 anos e meio para ~15.000 na entrada da escola.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56032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8A65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097280" y="37947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 2 anos e meio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3291840"/>
            <a:ext cx="2103120" cy="0"/>
          </a:xfrm>
          <a:prstGeom prst="line">
            <a:avLst/>
          </a:prstGeom>
          <a:noFill/>
          <a:ln w="31750">
            <a:solidFill>
              <a:srgbClr val="8A6594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977640" y="35204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palavras novas POR DIA (fast mapping)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0" y="233172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E96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15.000</a:t>
            </a:r>
            <a:endParaRPr lang="en-US" sz="8400" dirty="0"/>
          </a:p>
        </p:txBody>
      </p:sp>
      <p:sp>
        <p:nvSpPr>
          <p:cNvPr id="11" name="Text 9"/>
          <p:cNvSpPr/>
          <p:nvPr/>
        </p:nvSpPr>
        <p:spPr>
          <a:xfrm>
            <a:off x="7132320" y="38404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 aos 5-6 anos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4709160"/>
            <a:ext cx="10332720" cy="868680"/>
          </a:xfrm>
          <a:prstGeom prst="roundRect">
            <a:avLst>
              <a:gd name="adj" fmla="val 7368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9377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ela chega EXTERNA: serve para pedir e nomear para o outro. Ainda não serve para se instruir. (Guardem isso.)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7, p. 188-189 (Bates 1994; Anglin 1995; Pinker 1994)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· 2-3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DDC9E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essa criança vê no espelho, e o que isso muda?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5636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V1 · TESTE DO ESPELHO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· 2-3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138928" y="1965960"/>
            <a:ext cx="1920240" cy="1920240"/>
          </a:xfrm>
          <a:prstGeom prst="ellipse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5806440" y="2487168"/>
            <a:ext cx="777240" cy="868680"/>
          </a:xfrm>
          <a:prstGeom prst="triangle">
            <a:avLst/>
          </a:prstGeom>
          <a:solidFill>
            <a:srgbClr val="F6EFF2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11680" y="4663440"/>
            <a:ext cx="8165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 test: mancha na testa, criança diante do espelho. Antes dos ~18 meses, toca o espelho; depois, toca a própria testa.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acervo público · nunca paciente próprio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· 2-3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volta dos 18-24 meses a criança se reconhece: nasce um eu que pode ser representado, e portanto, um dia, regulado.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743200"/>
            <a:ext cx="1033272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320040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símbolo + eu representado</a:t>
            </a:r>
            <a:pPr indent="0" marL="0">
              <a:buNone/>
            </a:pPr>
            <a:r>
              <a:rPr lang="en-US" sz="17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as duas peças que a transferência do volante vai usar pelo resto da aula.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· 2-3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birra dos 2 anos é fisiologia da regulação externa: o alarme emocional está pronto, o freio ainda mora no adulto.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514600"/>
            <a:ext cx="3017520" cy="1737360"/>
          </a:xfrm>
          <a:prstGeom prst="roundRect">
            <a:avLst>
              <a:gd name="adj" fmla="val 3684"/>
            </a:avLst>
          </a:prstGeom>
          <a:solidFill>
            <a:srgbClr val="ECB841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6974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31546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límbico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funcionante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2514600"/>
            <a:ext cx="3017520" cy="1737360"/>
          </a:xfrm>
          <a:prstGeom prst="roundRect">
            <a:avLst>
              <a:gd name="adj" fmla="val 3684"/>
            </a:avLst>
          </a:prstGeom>
          <a:solidFill>
            <a:srgbClr val="DDC9E3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6974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09160" y="31546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pré-frontal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obra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2514600"/>
            <a:ext cx="301752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25400">
            <a:solidFill>
              <a:srgbClr val="E96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6974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FREIO EXTERNO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0" y="31546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adulto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(co-regulação)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5840" y="4572000"/>
            <a:ext cx="10104120" cy="960120"/>
          </a:xfrm>
          <a:prstGeom prst="roundRect">
            <a:avLst>
              <a:gd name="adj" fmla="val 6667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4773168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Contrapeso: aos 2 anos, OBEDECER é a regra, não a exceção (Gralinski &amp; Kopp). E a agressão do pico 2-4 é instrumental: quer o objeto, não ferir.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8, p. 214 e p. 226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· 2-3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DDC9E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Nesta cena, repare no que acontece imediatamente ANTES e imediatamente DEPOIS do grito.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5636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V2 · CENA NATURAL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· 2-3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138928" y="1965960"/>
            <a:ext cx="1920240" cy="1920240"/>
          </a:xfrm>
          <a:prstGeom prst="ellipse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5806440" y="2487168"/>
            <a:ext cx="777240" cy="868680"/>
          </a:xfrm>
          <a:prstGeom prst="triangle">
            <a:avLst/>
          </a:prstGeom>
          <a:solidFill>
            <a:srgbClr val="F6EFF2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V2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11680" y="4663440"/>
            <a:ext cx="8165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Birra real em local público, com antecedente visível.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011680" y="5486400"/>
            <a:ext cx="8165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exibir → congelar 3x (gatilho · pico · resolução) → perguntar → reexibir inteiro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acervo público · nunca paciente próprio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· 2-3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 birra tem gramática (gatilho, escalada, função), e ler essa gramática é o primeiro passo da análise funcional.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651760"/>
            <a:ext cx="301752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651760"/>
            <a:ext cx="3017520" cy="73152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ANTECEDENTE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33756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imediatamente antes?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26280" y="2651760"/>
            <a:ext cx="301752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651760"/>
            <a:ext cx="3017520" cy="73152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COMPORTAMENTO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09160" y="333756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corpo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 fez?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2651760"/>
            <a:ext cx="301752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2651760"/>
            <a:ext cx="3017520" cy="73152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CONSEQUÊNCIA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0" y="333756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ela obteve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 evitou)?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· 2-3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DDC9E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Agora, 20 segundos de uma criança de 2 anos absolutamente comum: o que já está lá?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5636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V3 · DNPM NORMAL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· 2-3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138928" y="1965960"/>
            <a:ext cx="1920240" cy="1920240"/>
          </a:xfrm>
          <a:prstGeom prst="ellipse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5806440" y="2487168"/>
            <a:ext cx="777240" cy="868680"/>
          </a:xfrm>
          <a:prstGeom prst="triangle">
            <a:avLst/>
          </a:prstGeom>
          <a:solidFill>
            <a:srgbClr val="F6EFF2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11680" y="4663440"/>
            <a:ext cx="8165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de 2-3 anos: faz de conta substitutivo + fala telegráfica. 15-30 segundos.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acervo público · nunca paciente próprio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· 2-3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 de conta, palavras novas todo dia e birra à tarde: esse pacote inteiro é o normal dos 2 aos 3.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2651760"/>
            <a:ext cx="292608" cy="29260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7" name="Text 5"/>
          <p:cNvSpPr/>
          <p:nvPr/>
        </p:nvSpPr>
        <p:spPr>
          <a:xfrm>
            <a:off x="1691640" y="2615184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semiótica em uso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88720" y="3520440"/>
            <a:ext cx="292608" cy="29260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3483864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explosão lexical em curso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88720" y="4389120"/>
            <a:ext cx="292608" cy="292608"/>
          </a:xfrm>
          <a:prstGeom prst="ellipse">
            <a:avLst/>
          </a:prstGeom>
          <a:solidFill>
            <a:srgbClr val="ECB841"/>
          </a:solidFill>
          <a:ln/>
        </p:spPr>
      </p:sp>
      <p:sp>
        <p:nvSpPr>
          <p:cNvPr id="11" name="Text 9"/>
          <p:cNvSpPr/>
          <p:nvPr/>
        </p:nvSpPr>
        <p:spPr>
          <a:xfrm>
            <a:off x="1691640" y="4352544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regulação ainda externa (e barulhenta)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· 2-3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3931920" cy="365760"/>
          </a:xfrm>
          <a:prstGeom prst="roundRect">
            <a:avLst>
              <a:gd name="adj" fmla="val 20000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DEVERIA TE TIRAR O SONO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deveria te tirar o sono aos 2 anos não é a birra: é o apontar que só pede e nunca mostra.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822960" y="2468880"/>
            <a:ext cx="502920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26974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APONTAR PARA PEDIR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97280" y="3200400"/>
            <a:ext cx="4480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“quero aquilo”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outro como ferramenta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PRESERVADO no TEA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09360" y="2468880"/>
            <a:ext cx="502920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25400">
            <a:solidFill>
              <a:srgbClr val="E960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0" y="26974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APONTAR PARA MOSTRAR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83680" y="3200400"/>
            <a:ext cx="4480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“olha aquilo!”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outro como MENTE com quem se divide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DEFICIENTE no TEA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54406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não responder ao nome (audição normal) · não seguir o apontar do outro · sem faz de conta · linguagem SEM gesto compensatório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compartilhada · M-CHAT-R (Modified Checklist for Autism in Toddlers, rastreio 16-30 meses)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· 2-3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1554480" cy="45720"/>
          </a:xfrm>
          <a:prstGeom prst="rect">
            <a:avLst/>
          </a:prstGeom>
          <a:solidFill>
            <a:srgbClr val="ECB841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54480"/>
            <a:ext cx="10972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6E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Alice agora representa o mundo. Mas ela sabe que existe um mundo dentro da SUA cabeça?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28800" y="51023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VOLANTE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539496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14216" y="5605272"/>
            <a:ext cx="219456" cy="0"/>
          </a:xfrm>
          <a:prstGeom prst="line">
            <a:avLst/>
          </a:prstGeom>
          <a:noFill/>
          <a:ln w="19050">
            <a:solidFill>
              <a:srgbClr val="DDC9E3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270248" y="539496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55664" y="5605272"/>
            <a:ext cx="219456" cy="0"/>
          </a:xfrm>
          <a:prstGeom prst="line">
            <a:avLst/>
          </a:prstGeom>
          <a:noFill/>
          <a:ln w="19050">
            <a:solidFill>
              <a:srgbClr val="DDC9E3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711696" y="539496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8A659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FREIO INTERNO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897112" y="5605272"/>
            <a:ext cx="219456" cy="0"/>
          </a:xfrm>
          <a:prstGeom prst="line">
            <a:avLst/>
          </a:prstGeom>
          <a:noFill/>
          <a:ln w="19050">
            <a:solidFill>
              <a:srgbClr val="DDC9E3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153144" y="539496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8A659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2 · 3-5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1965960"/>
            <a:ext cx="12188952" cy="3977640"/>
          </a:xfrm>
          <a:prstGeom prst="rect">
            <a:avLst/>
          </a:prstGeom>
          <a:solidFill>
            <a:srgbClr val="EDE2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965960"/>
            <a:ext cx="128016" cy="3977640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2608"/>
            <a:ext cx="2834640" cy="365760"/>
          </a:xfrm>
          <a:prstGeom prst="roundRect">
            <a:avLst>
              <a:gd name="adj" fmla="val 20000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· ALICE, 4 ANOS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Alice, 4 anos, esconde o desenho rasgado e culpa o gato: a primeira mentira é uma conquista.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10607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Alice rasgou sem querer o desenho da irmã. Quando a mãe pergunta, ela olha para o gato: “foi ele”. No consultório, a mãe me pergunta se deve se preocupar com o caráter da filha.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5532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narrada ao vivo · Alice é normal do início ao fim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2 · 3-5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mentir, Alice precisou descobrir que as pessoas agem pelo que ACREDITAM, não pelo que é verdade.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560320"/>
            <a:ext cx="10332720" cy="2103120"/>
          </a:xfrm>
          <a:prstGeom prst="roundRect">
            <a:avLst>
              <a:gd name="adj" fmla="val 3478"/>
            </a:avLst>
          </a:prstGeom>
          <a:solidFill>
            <a:srgbClr val="DDC9E3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7889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DA MENTE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3200400"/>
            <a:ext cx="9692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conjunto de ideias com que explicamos as crenças, desejos e comportamentos dos outros. O marco duro é a CRENÇA FALSA: entender que o outro pode agir por uma representação errada do mundo.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7, p. 184-185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2 · 3-5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DDC9E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Sally vai procurar a bolinha quando voltar?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5636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V4 · FALSA CRENÇA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703320" y="4572000"/>
            <a:ext cx="2286000" cy="402336"/>
          </a:xfrm>
          <a:prstGeom prst="roundRect">
            <a:avLst>
              <a:gd name="adj" fmla="val 18182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APOSTA DA PLATEIA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172200" y="46177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Votem: com que idade a MAIORIA das crianças passa a acertar? 2, 3, 4 ou 6?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2 · 3-5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138928" y="1965960"/>
            <a:ext cx="1920240" cy="1920240"/>
          </a:xfrm>
          <a:prstGeom prst="ellipse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5806440" y="2487168"/>
            <a:ext cx="777240" cy="868680"/>
          </a:xfrm>
          <a:prstGeom prst="triangle">
            <a:avLst/>
          </a:prstGeom>
          <a:solidFill>
            <a:srgbClr val="F6EFF2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V4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11680" y="4663440"/>
            <a:ext cx="8165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Sally-Anne (ou caixa de doces): criança de 3 erra, criança de 4-5 acerta.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011680" y="5486400"/>
            <a:ext cx="8165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pausar antes da resposta da criança de 3: “o que ela vai dizer?”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acervo público · nunca paciente próprio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2 · 3-5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Aos 3 a maioria erra, aos 5 a maioria acerta, e o padrão se repete em toda cultura testada.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2377440" y="3931920"/>
            <a:ext cx="1554480" cy="1005840"/>
          </a:xfrm>
          <a:prstGeom prst="rect">
            <a:avLst/>
          </a:prstGeom>
          <a:solidFill>
            <a:srgbClr val="DDC9E3"/>
          </a:solidFill>
          <a:ln/>
        </p:spPr>
      </p:sp>
      <p:sp>
        <p:nvSpPr>
          <p:cNvPr id="7" name="Text 5"/>
          <p:cNvSpPr/>
          <p:nvPr/>
        </p:nvSpPr>
        <p:spPr>
          <a:xfrm>
            <a:off x="2240280" y="5029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anos: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erra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23360" y="3703320"/>
            <a:ext cx="1554480" cy="1234440"/>
          </a:xfrm>
          <a:prstGeom prst="rect">
            <a:avLst/>
          </a:prstGeom>
          <a:solidFill>
            <a:srgbClr val="ECB841"/>
          </a:solidFill>
          <a:ln/>
        </p:spPr>
      </p:sp>
      <p:sp>
        <p:nvSpPr>
          <p:cNvPr id="9" name="Text 7"/>
          <p:cNvSpPr/>
          <p:nvPr/>
        </p:nvSpPr>
        <p:spPr>
          <a:xfrm>
            <a:off x="3886200" y="5029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anos: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 a meio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0" y="2468880"/>
            <a:ext cx="1554480" cy="2468880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11" name="Shape 9"/>
          <p:cNvSpPr/>
          <p:nvPr/>
        </p:nvSpPr>
        <p:spPr>
          <a:xfrm>
            <a:off x="1920240" y="4937760"/>
            <a:ext cx="5760720" cy="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5029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anos: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acerta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2926080"/>
            <a:ext cx="320040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31546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entre os Baka, caçadores-coletores de Camarões: isso não é escolarização, é maturação.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7, p. 185 (Flavell) e p. 186 (Avis &amp; Harris, 1991)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2 · 3-5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fala privada é o volante em trânsito: a instrução do adulto vira voz alta da criança, e depois vira pensamento.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651760"/>
            <a:ext cx="320040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8346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DO ADULTO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05840" y="329184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“cuidado no degrau”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069080" y="3520440"/>
            <a:ext cx="457200" cy="0"/>
          </a:xfrm>
          <a:prstGeom prst="line">
            <a:avLst/>
          </a:prstGeom>
          <a:noFill/>
          <a:ln w="38100">
            <a:solidFill>
              <a:srgbClr val="E9603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0" y="2651760"/>
            <a:ext cx="3200400" cy="1737360"/>
          </a:xfrm>
          <a:prstGeom prst="roundRect">
            <a:avLst>
              <a:gd name="adj" fmla="val 3684"/>
            </a:avLst>
          </a:prstGeom>
          <a:solidFill>
            <a:srgbClr val="DDC9E3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8346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PRIVADA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754880" y="329184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anos: ela diz “cuidado”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si mesma, em voz alta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818120" y="3520440"/>
            <a:ext cx="457200" cy="0"/>
          </a:xfrm>
          <a:prstGeom prst="line">
            <a:avLst/>
          </a:prstGeom>
          <a:noFill/>
          <a:ln w="38100">
            <a:solidFill>
              <a:srgbClr val="E9603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321040" y="2651760"/>
            <a:ext cx="320040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28346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VERBAL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503920" y="329184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6-7 anos: a voz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completamente internalizada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4663440"/>
            <a:ext cx="10607040" cy="822960"/>
          </a:xfrm>
          <a:prstGeom prst="roundRect">
            <a:avLst>
              <a:gd name="adj" fmla="val 7778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8646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Vygotsky contra Piaget: a fala privada não desaparece, ela vai para DENTRO. E a pesquisa moderna deu razão a Vygotsky.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7, p. 187-188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2 · 3-5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trabalho dos 3 aos 5 é ter iniciativa; a culpa que nasce junto é o primeiro freio interno.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468880"/>
            <a:ext cx="5120640" cy="292608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97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1546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planejar, propor, testar, transgredir: o motor da idade (Erikson). A tarefa dos pais é equilibrar autonomia e proteção.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2468880"/>
            <a:ext cx="5120640" cy="2926080"/>
          </a:xfrm>
          <a:prstGeom prst="roundRect">
            <a:avLst>
              <a:gd name="adj" fmla="val 2188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697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CULPA · VERGONHA · ORGULHO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31546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emoções morais chegam como primeiro freio interno, de natureza afetiva. Nascem DENTRO de relações calorosas; sem confiança, saem fracas demais para regular.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8, p. 202 e p. 207-208 (Koenig 2004)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2 · 3-5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DDC9E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Repare no que essa criança de 4 anos faz com a boca enquanto monta o quebra-cabeça.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5636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V5 · DNPM NORMAL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2 · 3-5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138928" y="1965960"/>
            <a:ext cx="1920240" cy="1920240"/>
          </a:xfrm>
          <a:prstGeom prst="ellipse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5806440" y="2487168"/>
            <a:ext cx="777240" cy="868680"/>
          </a:xfrm>
          <a:prstGeom prst="triangle">
            <a:avLst/>
          </a:prstGeom>
          <a:solidFill>
            <a:srgbClr val="F6EFF2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V5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11680" y="4663440"/>
            <a:ext cx="8165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de ~4 anos sozinha em tarefa, instruindo-se em voz alta. 15-30 segundos.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acervo público · nunca paciente próprio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2 · 3-5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Ela está se dirigindo com a própria voz; em dois anos, essa voz vai para dentro.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743200"/>
            <a:ext cx="103327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315468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vocês acabaram de ver tem endereço na tese: </a:t>
            </a:r>
            <a:pPr indent="0" marL="0">
              <a:buNone/>
            </a:pPr>
            <a:r>
              <a:rPr lang="en-US" sz="17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volante em trânsito, audível.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2 · 3-5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3931920" cy="365760"/>
          </a:xfrm>
          <a:prstGeom prst="roundRect">
            <a:avLst>
              <a:gd name="adj" fmla="val 20000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DEVERIA TE TIRAR O SONO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resistir FUNCIONA, a oposição vira comportamento aprendido: é assim que se arma o risco de transtorno opositivo-desafiador (TOD).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1828800" y="2560320"/>
            <a:ext cx="338328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65960" y="2834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949440" y="2560320"/>
            <a:ext cx="338328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86600" y="2834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OPOSIÇÃO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949440" y="4206240"/>
            <a:ext cx="338328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86600" y="44805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ADULTO RECUA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828800" y="4206240"/>
            <a:ext cx="3383280" cy="1005840"/>
          </a:xfrm>
          <a:prstGeom prst="roundRect">
            <a:avLst>
              <a:gd name="adj" fmla="val 6364"/>
            </a:avLst>
          </a:prstGeom>
          <a:solidFill>
            <a:srgbClr val="DDC9E3"/>
          </a:solidFill>
          <a:ln w="25400">
            <a:solidFill>
              <a:srgbClr val="E960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65960" y="44805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OPOSIÇÃO REFORÇADA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257800" y="3063240"/>
            <a:ext cx="1645920" cy="0"/>
          </a:xfrm>
          <a:prstGeom prst="line">
            <a:avLst/>
          </a:prstGeom>
          <a:noFill/>
          <a:ln w="25400">
            <a:solidFill>
              <a:srgbClr val="8A6594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8641080" y="3611880"/>
            <a:ext cx="0" cy="548640"/>
          </a:xfrm>
          <a:prstGeom prst="line">
            <a:avLst/>
          </a:prstGeom>
          <a:noFill/>
          <a:ln w="25400">
            <a:solidFill>
              <a:srgbClr val="8A6594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257800" y="4709160"/>
            <a:ext cx="1645920" cy="0"/>
          </a:xfrm>
          <a:prstGeom prst="line">
            <a:avLst/>
          </a:prstGeom>
          <a:noFill/>
          <a:ln w="25400">
            <a:solidFill>
              <a:srgbClr val="8A6594"/>
            </a:solidFill>
            <a:prstDash val="solid"/>
            <a:headEnd type="triangle"/>
          </a:ln>
        </p:spPr>
      </p:sp>
      <p:sp>
        <p:nvSpPr>
          <p:cNvPr id="18" name="Shape 15"/>
          <p:cNvSpPr/>
          <p:nvPr/>
        </p:nvSpPr>
        <p:spPr>
          <a:xfrm>
            <a:off x="3520440" y="3611880"/>
            <a:ext cx="0" cy="548640"/>
          </a:xfrm>
          <a:prstGeom prst="line">
            <a:avLst/>
          </a:prstGeom>
          <a:noFill/>
          <a:ln w="25400">
            <a:solidFill>
              <a:srgbClr val="8A6594"/>
            </a:solidFill>
            <a:prstDash val="solid"/>
            <a:headEnd type="triangle"/>
          </a:ln>
        </p:spPr>
      </p:sp>
      <p:sp>
        <p:nvSpPr>
          <p:cNvPr id="19" name="Text 16"/>
          <p:cNvSpPr/>
          <p:nvPr/>
        </p:nvSpPr>
        <p:spPr>
          <a:xfrm>
            <a:off x="3931920" y="5486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roda em loop, e cada volta o fortalece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8, p. 214 (Patterson 1980) e p. 226 (ceder à birra reforça o padrão)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2 · 3-5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3931920" cy="365760"/>
          </a:xfrm>
          <a:prstGeom prst="roundRect">
            <a:avLst>
              <a:gd name="adj" fmla="val 20000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DEVERIA TE TIRAR O SONO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pré-escolar que deveria te tirar o sono não é o levado: é o que mantém a mesma intensidade em qualquer contexto.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822960" y="2468880"/>
            <a:ext cx="5029200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26974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AGITADO E NORMAL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97280" y="3154680"/>
            <a:ext cx="4480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intensidade que RESPONDE a contexto: pior no fim do dia, melhor no interesse, regulável pelo adulto. Birras em declínio ano a ano.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309360" y="2468880"/>
            <a:ext cx="5029200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25400">
            <a:solidFill>
              <a:srgbClr val="E960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0" y="26974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DE ALERTA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583680" y="3154680"/>
            <a:ext cx="4480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intensidade em casa, escola, consultório e festa. Birras que não declinam. Co-regulação que nunca é dispensada.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8, p. 206-207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2 · 3-5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1554480" cy="45720"/>
          </a:xfrm>
          <a:prstGeom prst="rect">
            <a:avLst/>
          </a:prstGeom>
          <a:solidFill>
            <a:srgbClr val="ECB841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54480"/>
            <a:ext cx="10972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6E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Essa mente que descobriu outras mentes vai ser trancada numa sala com 25 iguais e um adulto só. O que acontece?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28800" y="51023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VOLANTE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539496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14216" y="5605272"/>
            <a:ext cx="219456" cy="0"/>
          </a:xfrm>
          <a:prstGeom prst="line">
            <a:avLst/>
          </a:prstGeom>
          <a:noFill/>
          <a:ln w="19050">
            <a:solidFill>
              <a:srgbClr val="DDC9E3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270248" y="539496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55664" y="5605272"/>
            <a:ext cx="219456" cy="0"/>
          </a:xfrm>
          <a:prstGeom prst="line">
            <a:avLst/>
          </a:prstGeom>
          <a:noFill/>
          <a:ln w="19050">
            <a:solidFill>
              <a:srgbClr val="DDC9E3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711696" y="539496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FREIO INTERNO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897112" y="5605272"/>
            <a:ext cx="219456" cy="0"/>
          </a:xfrm>
          <a:prstGeom prst="line">
            <a:avLst/>
          </a:prstGeom>
          <a:noFill/>
          <a:ln w="19050">
            <a:solidFill>
              <a:srgbClr val="DDC9E3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153144" y="539496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8A659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3 · 5-7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1965960"/>
            <a:ext cx="12188952" cy="3977640"/>
          </a:xfrm>
          <a:prstGeom prst="rect">
            <a:avLst/>
          </a:prstGeom>
          <a:solidFill>
            <a:srgbClr val="EDE2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965960"/>
            <a:ext cx="128016" cy="3977640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2608"/>
            <a:ext cx="2834640" cy="365760"/>
          </a:xfrm>
          <a:prstGeom prst="roundRect">
            <a:avLst>
              <a:gd name="adj" fmla="val 20000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· ALICE, 6 ANOS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Alice, 6 anos, segura o choro na escola inteira e desaba no banco de trás do carro da mãe.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10607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professora diz que Alice é um doce: espera a vez, guarda o material, não chora. A mãe estranha: no carro, na saída, Alice desmonta. Chora do nada, briga com a irmã, “vira outra”. “O que a escola tem que eu não tenho?”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5532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narrada ao vivo · Alice é normal do início ao fim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3 · 5-7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 os 5 e os 7 o cérebro troca de marcha: surto frontal, atenção que obedece e processamento mais rápido.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468880"/>
            <a:ext cx="320040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51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SURTO CEREBRAL 6-8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97280" y="31089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sinapses,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mais espesso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43000" y="4480560"/>
            <a:ext cx="2743200" cy="292608"/>
          </a:xfrm>
          <a:prstGeom prst="rect">
            <a:avLst/>
          </a:prstGeom>
          <a:solidFill>
            <a:srgbClr val="EDE2F0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4480560"/>
            <a:ext cx="1508760" cy="292608"/>
          </a:xfrm>
          <a:prstGeom prst="rect">
            <a:avLst/>
          </a:prstGeom>
          <a:solidFill>
            <a:srgbClr val="ECB841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2468880"/>
            <a:ext cx="320040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651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SELETIVA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54880" y="31089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mielinização formação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reticular ↔ lobo frontal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4480560"/>
            <a:ext cx="2743200" cy="292608"/>
          </a:xfrm>
          <a:prstGeom prst="rect">
            <a:avLst/>
          </a:prstGeom>
          <a:solidFill>
            <a:srgbClr val="EDE2F0"/>
          </a:solidFill>
          <a:ln/>
        </p:spPr>
      </p:sp>
      <p:sp>
        <p:nvSpPr>
          <p:cNvPr id="15" name="Shape 13"/>
          <p:cNvSpPr/>
          <p:nvPr/>
        </p:nvSpPr>
        <p:spPr>
          <a:xfrm>
            <a:off x="4800600" y="4480560"/>
            <a:ext cx="1920240" cy="292608"/>
          </a:xfrm>
          <a:prstGeom prst="rect">
            <a:avLst/>
          </a:prstGeom>
          <a:solidFill>
            <a:srgbClr val="ECB841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2468880"/>
            <a:ext cx="320040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2651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12480" y="31089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reação cai com 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(Kail), em qualquer cultura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58200" y="4480560"/>
            <a:ext cx="2743200" cy="292608"/>
          </a:xfrm>
          <a:prstGeom prst="rect">
            <a:avLst/>
          </a:prstGeom>
          <a:solidFill>
            <a:srgbClr val="EDE2F0"/>
          </a:solidFill>
          <a:ln/>
        </p:spPr>
      </p:sp>
      <p:sp>
        <p:nvSpPr>
          <p:cNvPr id="20" name="Shape 18"/>
          <p:cNvSpPr/>
          <p:nvPr/>
        </p:nvSpPr>
        <p:spPr>
          <a:xfrm>
            <a:off x="8458200" y="4480560"/>
            <a:ext cx="2331720" cy="29260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9, p. 234-235 e p. 242 · o rótulo “shift 5-7” é da literatura clássica (White)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3 · 5-7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DDC9E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mesma água, a mesma pergunta, duas crianças: o que muda entre os 5 e os 7?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5636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V6 · CONSERVAÇÃO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703320" y="4572000"/>
            <a:ext cx="2286000" cy="402336"/>
          </a:xfrm>
          <a:prstGeom prst="roundRect">
            <a:avLst>
              <a:gd name="adj" fmla="val 18182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APOSTA DA PLATEIA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172200" y="46177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Votem: o que a de 5 vai responder, e com que grau de convicção?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3 · 5-7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138928" y="1965960"/>
            <a:ext cx="1920240" cy="1920240"/>
          </a:xfrm>
          <a:prstGeom prst="ellipse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5806440" y="2487168"/>
            <a:ext cx="777240" cy="868680"/>
          </a:xfrm>
          <a:prstGeom prst="triangle">
            <a:avLst/>
          </a:prstGeom>
          <a:solidFill>
            <a:srgbClr val="F6EFF2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V6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11680" y="4663440"/>
            <a:ext cx="8165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Conservação de líquido: criança de ~5 erra com convicção; criança de ~7 acerta e justifica.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011680" y="5486400"/>
            <a:ext cx="8165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pausar entre as duas: “o que mudou entre elas não foi treino”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acervo público · nunca paciente próprio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3 · 5-7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foi a resposta que mudou, foi a lógica: reversibilidade e descentração inauguram o operatório concreto.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68880"/>
            <a:ext cx="2834640" cy="1005840"/>
          </a:xfrm>
          <a:prstGeom prst="roundRect">
            <a:avLst>
              <a:gd name="adj" fmla="val 6364"/>
            </a:avLst>
          </a:prstGeom>
          <a:solidFill>
            <a:srgbClr val="DDC9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entrou, nada saiu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931920" y="2468880"/>
            <a:ext cx="2834640" cy="1005840"/>
          </a:xfrm>
          <a:prstGeom prst="roundRect">
            <a:avLst>
              <a:gd name="adj" fmla="val 6364"/>
            </a:avLst>
          </a:prstGeom>
          <a:solidFill>
            <a:srgbClr val="DDC9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COMPENSAÇÃO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alto, porém mais fino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040880" y="2468880"/>
            <a:ext cx="2834640" cy="1005840"/>
          </a:xfrm>
          <a:prstGeom prst="roundRect">
            <a:avLst>
              <a:gd name="adj" fmla="val 6364"/>
            </a:avLst>
          </a:prstGeom>
          <a:solidFill>
            <a:srgbClr val="DDC9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REVERSIBILIDADE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para despejar de volta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5844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descentração = considerar mais de uma dimensão ao mesmo tempo; a compensação é ela em ação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977640"/>
            <a:ext cx="105156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29768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chega em ondas (décalage): massa ~7 · peso ~8 · volume só ~11. No longitudinal de Tomlinson-Keasey, o salto acontece perto dos 7, onde Piaget o colocou.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7, p. 182-183; cap. 9, p. 240-241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3 · 5-7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escola é o primeiro ambiente que exige autorregulação sem oferecer co-regulação.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2468880"/>
            <a:ext cx="4206240" cy="2743200"/>
          </a:xfrm>
          <a:prstGeom prst="roundRect">
            <a:avLst>
              <a:gd name="adj" fmla="val 2333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27432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A65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1:1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554480" y="39319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regulação sob demanda,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individualizada, disponível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0" y="2468880"/>
            <a:ext cx="420624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25400">
            <a:solidFill>
              <a:srgbClr val="E96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27432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96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1:25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858000" y="39319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DE AULA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a vez, ficar sentado,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sustentada em tarefa chata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10, p. 271: autorregular = conformar-se ao padrão SEM supervisão direta, esperado aos 6-12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3 · 5-7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TDAH não aparece aos 6 anos: ele fica visível quando a curva da demanda cruza a curva do freio.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5394960"/>
            <a:ext cx="8961120" cy="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377440"/>
            <a:ext cx="0" cy="301752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5257800"/>
            <a:ext cx="3108960" cy="-914400"/>
          </a:xfrm>
          <a:prstGeom prst="line">
            <a:avLst/>
          </a:prstGeom>
          <a:noFill/>
          <a:ln w="50800">
            <a:solidFill>
              <a:srgbClr val="ECB8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4343400"/>
            <a:ext cx="2926080" cy="-822960"/>
          </a:xfrm>
          <a:prstGeom prst="line">
            <a:avLst/>
          </a:prstGeom>
          <a:noFill/>
          <a:ln w="50800">
            <a:solidFill>
              <a:srgbClr val="ECB8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3520440"/>
            <a:ext cx="2834640" cy="-594360"/>
          </a:xfrm>
          <a:prstGeom prst="line">
            <a:avLst/>
          </a:prstGeom>
          <a:noFill/>
          <a:ln w="50800">
            <a:solidFill>
              <a:srgbClr val="ECB8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3566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freio típico (maturação contínua)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63040" y="5349240"/>
            <a:ext cx="4023360" cy="-685800"/>
          </a:xfrm>
          <a:prstGeom prst="line">
            <a:avLst/>
          </a:prstGeom>
          <a:noFill/>
          <a:ln w="44450">
            <a:solidFill>
              <a:srgbClr val="8A6594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486400" y="4663440"/>
            <a:ext cx="4846320" cy="-640080"/>
          </a:xfrm>
          <a:prstGeom prst="line">
            <a:avLst/>
          </a:prstGeom>
          <a:noFill/>
          <a:ln w="44450">
            <a:solidFill>
              <a:srgbClr val="8A6594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8001000" y="4892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freio TDAH: já era mais baixo antes;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escola só revelou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463040" y="4846320"/>
            <a:ext cx="1554480" cy="0"/>
          </a:xfrm>
          <a:prstGeom prst="line">
            <a:avLst/>
          </a:prstGeom>
          <a:noFill/>
          <a:ln w="50800">
            <a:solidFill>
              <a:srgbClr val="E960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0" y="4572000"/>
            <a:ext cx="0" cy="274320"/>
          </a:xfrm>
          <a:prstGeom prst="line">
            <a:avLst/>
          </a:prstGeom>
          <a:noFill/>
          <a:ln w="50800">
            <a:solidFill>
              <a:srgbClr val="E960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0" y="4572000"/>
            <a:ext cx="2011680" cy="0"/>
          </a:xfrm>
          <a:prstGeom prst="line">
            <a:avLst/>
          </a:prstGeom>
          <a:noFill/>
          <a:ln w="50800">
            <a:solidFill>
              <a:srgbClr val="E960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3017520"/>
            <a:ext cx="0" cy="1554480"/>
          </a:xfrm>
          <a:prstGeom prst="line">
            <a:avLst/>
          </a:prstGeom>
          <a:noFill/>
          <a:ln w="50800">
            <a:solidFill>
              <a:srgbClr val="E960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3017520"/>
            <a:ext cx="5303520" cy="-274320"/>
          </a:xfrm>
          <a:prstGeom prst="line">
            <a:avLst/>
          </a:prstGeom>
          <a:noFill/>
          <a:ln w="50800">
            <a:solidFill>
              <a:srgbClr val="E96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23957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por autorregulação (escada)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063240" y="46451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pré-escola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60520" y="5486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NA ESCOLA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0" y="2880360"/>
            <a:ext cx="2743200" cy="1234440"/>
          </a:xfrm>
          <a:prstGeom prst="rect">
            <a:avLst/>
          </a:prstGeom>
          <a:solidFill>
            <a:srgbClr val="E96030">
              <a:alpha val="1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0" y="30632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área entre as curvas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onde vira queixa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9, p. 255-257 · em muitas tarefas de atenção, não diferem dos pares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3 · 5-7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DDC9E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uma criança de 4 anos sozinha com um doce diz sobre o resto da vida dela?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5636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V7 · DELAY OF GRATIFICATION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3 · 5-7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138928" y="1965960"/>
            <a:ext cx="1920240" cy="1920240"/>
          </a:xfrm>
          <a:prstGeom prst="ellipse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5806440" y="2487168"/>
            <a:ext cx="777240" cy="868680"/>
          </a:xfrm>
          <a:prstGeom prst="triangle">
            <a:avLst/>
          </a:prstGeom>
          <a:solidFill>
            <a:srgbClr val="F6EFF2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V7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11680" y="4663440"/>
            <a:ext cx="8165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de Mischel: as estratégias de espera visíveis (tampar os olhos, cantar, cheirar o doce).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acervo público · nunca paciente próprio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3 · 5-7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Menos do que se sonhou: com controles adequados o efeito encolhe; esperar é termômetro do freio, não oráculo do destino.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2468880" y="2468880"/>
            <a:ext cx="1920240" cy="2560320"/>
          </a:xfrm>
          <a:prstGeom prst="rect">
            <a:avLst/>
          </a:prstGeom>
          <a:solidFill>
            <a:srgbClr val="DDC9E3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5120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675120" y="4114800"/>
            <a:ext cx="1920240" cy="914400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5120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controles de família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cognição (Watts 2018)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Watts, Duncan &amp; Quan (2018), Psychological Science · replicação com amostra maior e diversa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3 · 5-7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DDC9E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criança de 7 anos fazendo lição: conte quantas vezes ela se corrige sozinha, sem som.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5636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V8 · DNPM NORMAL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3 · 5-7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138928" y="1965960"/>
            <a:ext cx="1920240" cy="1920240"/>
          </a:xfrm>
          <a:prstGeom prst="ellipse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5806440" y="2487168"/>
            <a:ext cx="777240" cy="868680"/>
          </a:xfrm>
          <a:prstGeom prst="triangle">
            <a:avLst/>
          </a:prstGeom>
          <a:solidFill>
            <a:srgbClr val="F6EFF2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V8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11680" y="4663440"/>
            <a:ext cx="8165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de 6-7 anos escrevendo, apagando e corrigindo sozinha, em silêncio. 15-30 segundos.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acervo público · nunca paciente próprio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3 · 5-7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autocorreção silenciosa é a fala privada já internalizada: o volante passou para dentro.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17520"/>
            <a:ext cx="3200400" cy="777240"/>
          </a:xfrm>
          <a:prstGeom prst="roundRect">
            <a:avLst>
              <a:gd name="adj" fmla="val 8235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DO ADULTO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69080" y="3401568"/>
            <a:ext cx="457200" cy="0"/>
          </a:xfrm>
          <a:prstGeom prst="line">
            <a:avLst/>
          </a:prstGeom>
          <a:noFill/>
          <a:ln w="38100">
            <a:solidFill>
              <a:srgbClr val="8A6594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572000" y="3017520"/>
            <a:ext cx="3200400" cy="777240"/>
          </a:xfrm>
          <a:prstGeom prst="roundRect">
            <a:avLst>
              <a:gd name="adj" fmla="val 8235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PRIVADA (3a)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18120" y="3401568"/>
            <a:ext cx="457200" cy="0"/>
          </a:xfrm>
          <a:prstGeom prst="line">
            <a:avLst/>
          </a:prstGeom>
          <a:noFill/>
          <a:ln w="38100">
            <a:solidFill>
              <a:srgbClr val="8A6594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321040" y="3017520"/>
            <a:ext cx="3200400" cy="777240"/>
          </a:xfrm>
          <a:prstGeom prst="roundRect">
            <a:avLst>
              <a:gd name="adj" fmla="val 8235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VERBAL (6-7a)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seta do Ato 2, agora completa (estágio de crescimento interno, Vygotsky)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7, p. 188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3 · 5-7 ANOS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1554480" cy="45720"/>
          </a:xfrm>
          <a:prstGeom prst="rect">
            <a:avLst/>
          </a:prstGeom>
          <a:solidFill>
            <a:srgbClr val="ECB841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54480"/>
            <a:ext cx="10972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6E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Autorregulada na sala, Alice levanta os olhos do caderno e olha para os lados. O que ela vê?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28800" y="51023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VOLANTE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539496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14216" y="5605272"/>
            <a:ext cx="219456" cy="0"/>
          </a:xfrm>
          <a:prstGeom prst="line">
            <a:avLst/>
          </a:prstGeom>
          <a:noFill/>
          <a:ln w="19050">
            <a:solidFill>
              <a:srgbClr val="DDC9E3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270248" y="539496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55664" y="5605272"/>
            <a:ext cx="219456" cy="0"/>
          </a:xfrm>
          <a:prstGeom prst="line">
            <a:avLst/>
          </a:prstGeom>
          <a:noFill/>
          <a:ln w="19050">
            <a:solidFill>
              <a:srgbClr val="DDC9E3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711696" y="539496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FREIO INTERNO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897112" y="5605272"/>
            <a:ext cx="219456" cy="0"/>
          </a:xfrm>
          <a:prstGeom prst="line">
            <a:avLst/>
          </a:prstGeom>
          <a:noFill/>
          <a:ln w="19050">
            <a:solidFill>
              <a:srgbClr val="DDC9E3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153144" y="539496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11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4 · 7 ANOS → PUBERDADE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1965960"/>
            <a:ext cx="12188952" cy="3977640"/>
          </a:xfrm>
          <a:prstGeom prst="rect">
            <a:avLst/>
          </a:prstGeom>
          <a:solidFill>
            <a:srgbClr val="EDE2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965960"/>
            <a:ext cx="128016" cy="3977640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2608"/>
            <a:ext cx="2834640" cy="365760"/>
          </a:xfrm>
          <a:prstGeom prst="roundRect">
            <a:avLst>
              <a:gd name="adj" fmla="val 20000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· ALICE, 9 ANOS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Alice, 9 anos, avisa: “eu sou a tímida da sala, e a Júlia é melhor que eu em matemática”.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10607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Consulta de rotina. A mãe agora senta mais atrás e quase não fala. Pergunto da escola e é Alice quem responde, com um relatório: “sou a tímida da sala. A Júlia é melhor em matemática, mas eu desenho melhor. A Bia contou meu segredo, então agora é só amiga”.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5532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narrada ao vivo · Alice é normal do início ao fim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4 · 7 ANOS → PUBERDADE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autoconceito virou psicológico e comparativo: a criança se descreve por dentro, e sempre em ranking.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77440"/>
            <a:ext cx="5120640" cy="2377440"/>
          </a:xfrm>
          <a:prstGeom prst="roundRect">
            <a:avLst>
              <a:gd name="adj" fmla="val 2692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ANOS (superfície)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0175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“tenho cabelo castanho, moro na rua tal, jogo futebol”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2377440"/>
            <a:ext cx="512064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25400">
            <a:solidFill>
              <a:srgbClr val="E96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ANOS (psicológico e comparativo)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30175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“sou verdadeira, perco a paciência, não sou muito querida por algumas meninas”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983480"/>
            <a:ext cx="10561320" cy="777240"/>
          </a:xfrm>
          <a:prstGeom prst="roundRect">
            <a:avLst>
              <a:gd name="adj" fmla="val 8235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5166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Autoestima global só emerge ~7-8 anos, de 2 fontes: discrepância ideal-real NO QUE ELA VALORIZA + suporte percebido (Harter).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10, p. 265-267 (Montemayor &amp; Eisen 1977, “Who am I?”)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4 · 7 ANOS → PUBERDADE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amizade vira contrato de confiança recíproca: amigo é quem guarda segredo, não quem mora perto.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5176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96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50-75%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escolares têm melhor amigo estável,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isso protege inclusive a criança tímida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0" y="2560320"/>
            <a:ext cx="566928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2788920"/>
            <a:ext cx="5120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~9a: amigo = quem brinca perto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~10a: amigo = confiança recíproca, lealdade, apoio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amigos há MAIS conflito, e mais empenho em resolver: a amizade é a academia do manejo de conflito.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10, p. 272-273 (Selman; Chen 1997; Hartup 1996)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4 · 7 ANOS → PUBERDADE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moral sai da heteronomia: entre os 7 e os 10, a regra deixa de ser sagrada e a intenção passa a contar.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468880"/>
            <a:ext cx="5120640" cy="2651760"/>
          </a:xfrm>
          <a:prstGeom prst="roundRect">
            <a:avLst>
              <a:gd name="adj" fmla="val 2414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97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REALISMO MORAL (até ~8)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97280" y="315468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imutáveis, ditadas por autoridade; justiça imanente (o riacho pune); vale o TAMANHO do estrago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2468880"/>
            <a:ext cx="512064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25400">
            <a:solidFill>
              <a:srgbClr val="E96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697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RELATIVISMO MORAL (após ~8)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37960" y="315468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são combináveis se todos concordarem; a INTENÇÃO pesa mais que a consequência (sair sem pagar por engano ≠ roubar)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10, p. 269-270 (Piaget, 1932)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4 · 7 ANOS → PUBERDADE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grupo de pares assume parte do volante: aceitação e rejeição regulam com força de lei.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14600"/>
            <a:ext cx="2560320" cy="685800"/>
          </a:xfrm>
          <a:prstGeom prst="roundRect">
            <a:avLst>
              <a:gd name="adj" fmla="val 9333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0" y="2514600"/>
            <a:ext cx="2560320" cy="685800"/>
          </a:xfrm>
          <a:prstGeom prst="roundRect">
            <a:avLst>
              <a:gd name="adj" fmla="val 9333"/>
            </a:avLst>
          </a:prstGeom>
          <a:solidFill>
            <a:srgbClr val="DDC9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REJEITADA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2514600"/>
            <a:ext cx="2560320" cy="685800"/>
          </a:xfrm>
          <a:prstGeom prst="roundRect">
            <a:avLst>
              <a:gd name="adj" fmla="val 9333"/>
            </a:avLst>
          </a:prstGeom>
          <a:solidFill>
            <a:srgbClr val="DDC9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NEGLIGENCIADA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negligenciada = ignorada PELOS PARES, sem rejeição ativa (não confundir com negligência parental). A moeda da aceitação é o que os atos anteriores construíram: regular a expressão emocional + ler mentes.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4114800"/>
            <a:ext cx="105156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25400">
            <a:solidFill>
              <a:srgbClr val="E96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434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Neuroimagem: a exclusão social ativa a mesma área cerebral da dor física (Eisenberger, 2003). </a:t>
            </a:r>
            <a:pPr indent="0" marL="0">
              <a:buNone/>
            </a:pPr>
            <a:r>
              <a:rPr lang="en-US" sz="15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grupo pune com dor de verdade.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10, p. 274-278 · segregação por gênero como marca universal do período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4 · 7 ANOS → PUBERDADE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DDC9E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Nesta cena de recreio, responda: quem está com o volante?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5636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V9 · DNPM NORMAL</a:t>
            </a:r>
            <a:endParaRPr lang="en-US" sz="11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4 · 7 ANOS → PUBERDADE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138928" y="1965960"/>
            <a:ext cx="1920240" cy="1920240"/>
          </a:xfrm>
          <a:prstGeom prst="ellipse">
            <a:avLst/>
          </a:prstGeom>
          <a:solidFill>
            <a:srgbClr val="E96030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5806440" y="2487168"/>
            <a:ext cx="777240" cy="868680"/>
          </a:xfrm>
          <a:prstGeom prst="triangle">
            <a:avLst/>
          </a:prstGeom>
          <a:solidFill>
            <a:srgbClr val="F6EFF2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V9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11680" y="4663440"/>
            <a:ext cx="8165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crianças de 9-10 anos negociando regras de um jogo, sem adulto. 15-30 segundos.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011680" y="5486400"/>
            <a:ext cx="8165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congelar 1x: “quem está com o volante?”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acervo público · nunca paciente próprio</a:t>
            </a:r>
            <a:endParaRPr lang="en-US" sz="10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4 · 7 ANOS → PUBERDADE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Ninguém ali obedece a um adulto: regras negociadas, papéis distribuídos, sanções aplicadas. O grupo dirige.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834640"/>
            <a:ext cx="3017520" cy="1097280"/>
          </a:xfrm>
          <a:prstGeom prst="roundRect">
            <a:avLst>
              <a:gd name="adj" fmla="val 5833"/>
            </a:avLst>
          </a:prstGeom>
          <a:solidFill>
            <a:srgbClr val="DDC9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NEGOCIAÇÃO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regra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0" y="2834640"/>
            <a:ext cx="3017520" cy="1097280"/>
          </a:xfrm>
          <a:prstGeom prst="roundRect">
            <a:avLst>
              <a:gd name="adj" fmla="val 5833"/>
            </a:avLst>
          </a:prstGeom>
          <a:solidFill>
            <a:srgbClr val="DDC9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papéis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0" y="2834640"/>
            <a:ext cx="3017520" cy="1097280"/>
          </a:xfrm>
          <a:prstGeom prst="roundRect">
            <a:avLst>
              <a:gd name="adj" fmla="val 5833"/>
            </a:avLst>
          </a:prstGeom>
          <a:solidFill>
            <a:srgbClr val="DDC9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SANÇÃO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aplicada pelo grupo</a:t>
            </a:r>
            <a:endParaRPr lang="en-US" sz="14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4 · 7 ANOS → PUBERDADE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10896"/>
            <a:ext cx="3931920" cy="365760"/>
          </a:xfrm>
          <a:prstGeom prst="roundRect">
            <a:avLst>
              <a:gd name="adj" fmla="val 20000"/>
            </a:avLst>
          </a:prstGeom>
          <a:solidFill>
            <a:srgbClr val="E960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DEVERIA TE TIRAR O SONO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deveria te tirar o sono agora: a criança que o grupo devolve, e a que some sem fazer barulho.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822960" y="2514600"/>
            <a:ext cx="329184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27432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AGRESSIVA + REJEITADA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34747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pior trajetória: maior chance de agressão estável até a vida adulta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480560" y="2514600"/>
            <a:ext cx="329184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7432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RETRAÍDA / REJEITADA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663440" y="34747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 que é malquista, desiste, se isola; solidão e depressão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138160" y="2514600"/>
            <a:ext cx="329184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19050">
            <a:solidFill>
              <a:srgbClr val="E960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0" y="27432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VÍTIMA HABITUAL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321040" y="34747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ansiosa, passiva, baixa autoestima, poucos amigos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10, p. 276-278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4 · 7 ANOS → PUBERDADE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de a estrada mudar, o carro treme: o pré-púbere sente o corpo começar a mudar, e compara isso também.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25603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E96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94%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1463040" y="37947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altura adulta: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meninas aos 12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223760" y="25603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8A65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84%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7223760" y="37947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altura adulta: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meninos aos 12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14400" y="4709160"/>
            <a:ext cx="10332720" cy="868680"/>
          </a:xfrm>
          <a:prstGeom prst="roundRect">
            <a:avLst>
              <a:gd name="adj" fmla="val 7368"/>
            </a:avLst>
          </a:prstGeom>
          <a:solidFill>
            <a:srgbClr val="EDE2F0"/>
          </a:solidFill>
          <a:ln w="12700">
            <a:solidFill>
              <a:srgbClr val="ED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491947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 ANTES ou DEPOIS da turma entra na mesma máquina de comparação do eu. O detalhe do timing puberal fica para a próxima aula.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6437376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&amp; Boyd, cap. 9, p. 234 (Tanner, 1990)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5636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4 · 7 ANOS → PUBERDADE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· ALICE, QUASE 11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6E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Alice, quase 11, pede que a mãe espere lá fora. E a puberdade, que sacode o carro inteiro, é onde a próxima aula começa.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i="1" dirty="0">
                <a:solidFill>
                  <a:srgbClr val="DDC9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consulta que começou nove anos atrás com a mãe respondendo até a idade dela termina sem a mãe na sala. O volante está com Alice. E é exatamente agora que a puberdade liga o terremoto.”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1280160" y="5257800"/>
            <a:ext cx="8778240" cy="0"/>
          </a:xfrm>
          <a:prstGeom prst="line">
            <a:avLst/>
          </a:prstGeom>
          <a:noFill/>
          <a:ln w="31750">
            <a:solidFill>
              <a:srgbClr val="8A659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149840" y="5074920"/>
            <a:ext cx="128016" cy="274320"/>
          </a:xfrm>
          <a:prstGeom prst="line">
            <a:avLst/>
          </a:prstGeom>
          <a:noFill/>
          <a:ln w="38100">
            <a:solidFill>
              <a:srgbClr val="E96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77856" y="5074920"/>
            <a:ext cx="128016" cy="365760"/>
          </a:xfrm>
          <a:prstGeom prst="line">
            <a:avLst/>
          </a:prstGeom>
          <a:noFill/>
          <a:ln w="38100">
            <a:solidFill>
              <a:srgbClr val="E96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0405872" y="5166360"/>
            <a:ext cx="128016" cy="274320"/>
          </a:xfrm>
          <a:prstGeom prst="line">
            <a:avLst/>
          </a:prstGeom>
          <a:noFill/>
          <a:ln w="38100">
            <a:solidFill>
              <a:srgbClr val="E96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0" y="5641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PUBERDADE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75104" y="512978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5458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57607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corpo que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ganha símbolo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43984" y="512978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5458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57607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mente que descobre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mentes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12864" y="512978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5458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89320" y="57607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grande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virada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381744" y="512978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0" y="5458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→ puberdade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58200" y="57607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história em uma tela: ambiente → linguagem → outras mentes → freio interno → grupo. O volante nunca parou de mudar de mão.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4251960"/>
            <a:ext cx="9601200" cy="0"/>
          </a:xfrm>
          <a:prstGeom prst="line">
            <a:avLst/>
          </a:prstGeom>
          <a:noFill/>
          <a:ln w="31750">
            <a:solidFill>
              <a:srgbClr val="8A65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75104" y="412394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4453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7548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corpo que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ganha símbolo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43984" y="412394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4453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47548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mente que descobre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mentes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12864" y="412394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4453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89320" y="47548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grande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virada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81744" y="4123944"/>
            <a:ext cx="256032" cy="256032"/>
          </a:xfrm>
          <a:prstGeom prst="ellipse">
            <a:avLst/>
          </a:prstGeom>
          <a:solidFill>
            <a:srgbClr val="ECB841"/>
          </a:solidFill>
          <a:ln w="12700">
            <a:solidFill>
              <a:srgbClr val="5636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4453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→ puberdade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58200" y="47548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80160" y="51663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no mapa = etapa da transferência que costuma falhar, NÃO idade de início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0120" y="2468880"/>
            <a:ext cx="22860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2468880"/>
            <a:ext cx="2286000" cy="6400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26060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05840" y="30358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janela do apontar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103120" y="3703320"/>
            <a:ext cx="0" cy="384048"/>
          </a:xfrm>
          <a:prstGeom prst="line">
            <a:avLst/>
          </a:prstGeom>
          <a:noFill/>
          <a:ln w="12700">
            <a:solidFill>
              <a:srgbClr val="8A6594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3429000" y="2468880"/>
            <a:ext cx="22860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2468880"/>
            <a:ext cx="2286000" cy="6400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26060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 · sinais TDAH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474720" y="30358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resistir funciona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0" y="3703320"/>
            <a:ext cx="0" cy="384048"/>
          </a:xfrm>
          <a:prstGeom prst="line">
            <a:avLst/>
          </a:prstGeom>
          <a:noFill/>
          <a:ln w="12700">
            <a:solidFill>
              <a:srgbClr val="8A6594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897880" y="2468880"/>
            <a:ext cx="22860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468880"/>
            <a:ext cx="2286000" cy="6400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0" y="26060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TDAH visível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943600" y="30358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cruza o freio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040880" y="3703320"/>
            <a:ext cx="0" cy="384048"/>
          </a:xfrm>
          <a:prstGeom prst="line">
            <a:avLst/>
          </a:prstGeom>
          <a:noFill/>
          <a:ln w="12700">
            <a:solidFill>
              <a:srgbClr val="8A6594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8366760" y="2468880"/>
            <a:ext cx="22860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8A659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66760" y="2468880"/>
            <a:ext cx="2286000" cy="6400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0" y="26060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8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· Depressão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412480" y="30358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grupo devolve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509760" y="3703320"/>
            <a:ext cx="0" cy="384048"/>
          </a:xfrm>
          <a:prstGeom prst="line">
            <a:avLst/>
          </a:prstGeom>
          <a:noFill/>
          <a:ln w="12700">
            <a:solidFill>
              <a:srgbClr val="8A6594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1828800" y="56967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VOLANTE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828800" y="598932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014216" y="6199632"/>
            <a:ext cx="219456" cy="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4270248" y="598932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55664" y="6199632"/>
            <a:ext cx="219456" cy="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6711696" y="598932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FREIO INTERNO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897112" y="6199632"/>
            <a:ext cx="219456" cy="0"/>
          </a:xfrm>
          <a:prstGeom prst="line">
            <a:avLst/>
          </a:prstGeom>
          <a:noFill/>
          <a:ln w="19050">
            <a:solidFill>
              <a:srgbClr val="8A6594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9153144" y="5989320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11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Diante de qualquer criança, a primeira pergunta é: de quem é o volante nessa idade, e como vai a transferência?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4892040"/>
                <a:gridCol w="49377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6EF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36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6EF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NORMAL QUE TRANQUILIZA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36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6EF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DEVERIA TIRAR O SONO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6365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birra, “não”, faz de conta, explosão de palavras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apontar que só pede e nunca mostra; sem faz de conta; não responde ao nome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mentira instrumental, fala sozinho, iniciativa com culpa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oposição que cresce porque funciona; intensidade igual em todo contexto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cansaço regulatório (desabar em casa); erro de conservação aos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freio abaixo da demanda em TODA tarefa chata, em casa E na escola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→ pub.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comparação, panelinhas, melhor amigo, moral de combinado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636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criança que o grupo devolve; a que some em silêncio; a vítima habitual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A65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2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6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0032" y="256032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CB8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548872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732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636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Fontes e material de apoio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371600" cy="41148"/>
          </a:xfrm>
          <a:prstGeom prst="rect">
            <a:avLst/>
          </a:prstGeom>
          <a:solidFill>
            <a:srgbClr val="E9603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PRIMÁRIA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Bee, H. &amp; Boyd, D. Lifespan Development.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Caps. 7-10 (pp. 173-286): primeira infância e infância intermediária, desenvolvimento físico, cognitivo, social e de personalidade.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6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COMPLEMENTOS PONTUAIS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Watts, Duncan &amp; Quan (2018), Psychological Science · replicação do delay of gratification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Baron-Cohen, Leslie &amp; Frith (1985) · falsa crença (Sally-Anne)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Amsterdam (1972) · autorreconhecimento no espelho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(1965) · o “5-to-7 shift”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M-CHAT-R/F · atenção compartilhada no rastreio do segundo ano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5623560"/>
            <a:ext cx="10881360" cy="868680"/>
          </a:xfrm>
          <a:prstGeom prst="roundRect">
            <a:avLst>
              <a:gd name="adj" fmla="val 7368"/>
            </a:avLst>
          </a:prstGeom>
          <a:solidFill>
            <a:srgbClr val="DDC9E3"/>
          </a:solidFill>
          <a:ln w="12700">
            <a:solidFill>
              <a:srgbClr val="DDC9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57607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3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apoio completo (páginas, scripts e ressalvas) na plataforma. Aprofundamento no apêndice: A anatomia da birra · B as duas curvas do TDAH · C falsa crença · D perguntas frequentes.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2026-07-05T21:24:59Z</dcterms:created>
  <dcterms:modified xsi:type="dcterms:W3CDTF">2026-07-05T21:24:59Z</dcterms:modified>
</cp:coreProperties>
</file>